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C6DDB54-F897-0765-2F18-E3CDB80723CE}">
          <p14:sldIdLst>
            <p14:sldId id="256"/>
            <p14:sldId id="257"/>
            <p14:sldId id="258"/>
          </p14:sldIdLst>
        </p14:section>
        <p14:section name="Tab 1: Evaluate a store" id="{60C74F46-08B9-6D69-5A00-25AAC8BAB84B}">
          <p14:sldIdLst>
            <p14:sldId id="259"/>
            <p14:sldId id="260"/>
          </p14:sldIdLst>
        </p14:section>
        <p14:section name="Tab 1: Results" id="{5CBD5434-C751-9676-5058-1E67CA46B9FF}">
          <p14:sldIdLst>
            <p14:sldId id="262"/>
          </p14:sldIdLst>
        </p14:section>
        <p14:section name="The AI brain" id="{2FF9F59C-BF52-2B1B-1A91-F4224F625EF3}">
          <p14:sldIdLst>
            <p14:sldId id="263"/>
            <p14:sldId id="264"/>
            <p14:sldId id="265"/>
            <p14:sldId id="266"/>
            <p14:sldId id="267"/>
            <p14:sldId id="268"/>
          </p14:sldIdLst>
        </p14:section>
        <p14:section name="Risk &amp; decision" id="{D4D8266E-E8F1-EA35-391D-CF3E6C979B43}">
          <p14:sldIdLst>
            <p14:sldId id="269"/>
            <p14:sldId id="270"/>
          </p14:sldIdLst>
        </p14:section>
        <p14:section name="Tabs 2 &amp; 3: Candidate lists" id="{60AAE8AE-E6E4-908A-A18E-44A5AE31AEB6}">
          <p14:sldIdLst>
            <p14:sldId id="271"/>
          </p14:sldIdLst>
        </p14:section>
        <p14:section name="Tab 4: Fleet health" id="{08D17E2F-75EF-2CE3-2157-A751A72F7C57}">
          <p14:sldIdLst>
            <p14:sldId id="272"/>
          </p14:sldIdLst>
        </p14:section>
        <p14:section name="Closing" id="{21B0FC93-1796-99B6-F33D-D892F507FB47}">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24"/>
                </a:solidFill>
                <a:latin typeface="+mn-lt"/>
              </a:defRPr>
            </a:pPr>
            <a:r>
              <a:rPr lang="it-IT" sz="1300" b="0" i="0" u="none" strike="noStrike">
                <a:solidFill>
                  <a:srgbClr val="1B2A24"/>
                </a:solidFill>
                <a:latin typeface="+mn-lt"/>
              </a:rPr>
              <a:t>Bottles vs normal case (%)</a:t>
            </a:r>
          </a:p>
        </c:rich>
      </c:tx>
      <c:overlay val="0"/>
    </c:title>
    <c:autoTitleDeleted val="0"/>
    <c:plotArea>
      <c:layout/>
      <c:barChart>
        <c:barDir val="col"/>
        <c:grouping val="clustered"/>
        <c:varyColors val="0"/>
        <c:ser>
          <c:idx val="0"/>
          <c:order val="0"/>
          <c:tx>
            <c:strRef>
              <c:f>Sheet1!$B$1</c:f>
              <c:strCache>
                <c:ptCount val="1"/>
                <c:pt idx="0">
                  <c:v>Share of normal case</c:v>
                </c:pt>
              </c:strCache>
            </c:strRef>
          </c:tx>
          <c:spPr>
            <a:solidFill>
              <a:srgbClr val="E89A0C"/>
            </a:solidFill>
            <a:effectLst/>
          </c:spPr>
          <c:invertIfNegative val="0"/>
          <c:dPt>
            <c:idx val="0"/>
            <c:invertIfNegative val="0"/>
            <c:bubble3D val="0"/>
            <c:extLst>
              <c:ext xmlns:c16="http://schemas.microsoft.com/office/drawing/2014/chart" uri="{C3380CC4-5D6E-409C-BE32-E72D297353CC}">
                <c16:uniqueId val="{00000001-0964-4AB0-82B4-988706693B42}"/>
              </c:ext>
            </c:extLst>
          </c:dPt>
          <c:dPt>
            <c:idx val="1"/>
            <c:invertIfNegative val="0"/>
            <c:bubble3D val="0"/>
            <c:spPr>
              <a:solidFill>
                <a:srgbClr val="1E9E62"/>
              </a:solidFill>
              <a:effectLst/>
            </c:spPr>
            <c:extLst>
              <c:ext xmlns:c16="http://schemas.microsoft.com/office/drawing/2014/chart" uri="{C3380CC4-5D6E-409C-BE32-E72D297353CC}">
                <c16:uniqueId val="{00000003-0964-4AB0-82B4-988706693B42}"/>
              </c:ext>
            </c:extLst>
          </c:dPt>
          <c:dPt>
            <c:idx val="2"/>
            <c:invertIfNegative val="0"/>
            <c:bubble3D val="0"/>
            <c:spPr>
              <a:solidFill>
                <a:srgbClr val="0B3D2E"/>
              </a:solidFill>
              <a:effectLst/>
            </c:spPr>
            <c:extLst>
              <c:ext xmlns:c16="http://schemas.microsoft.com/office/drawing/2014/chart" uri="{C3380CC4-5D6E-409C-BE32-E72D297353CC}">
                <c16:uniqueId val="{00000005-0964-4AB0-82B4-988706693B42}"/>
              </c:ext>
            </c:extLst>
          </c:dPt>
          <c:dLbls>
            <c:numFmt formatCode="0&quot;%&quot;" sourceLinked="0"/>
            <c:spPr>
              <a:noFill/>
              <a:ln>
                <a:noFill/>
              </a:ln>
              <a:effectLst/>
            </c:spPr>
            <c:txPr>
              <a:bodyPr/>
              <a:lstStyle/>
              <a:p>
                <a:pPr>
                  <a:defRPr sz="1200" b="0" i="0" u="none" strike="noStrike">
                    <a:solidFill>
                      <a:srgbClr val="1B2A24"/>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Floor (P25)</c:v>
                </c:pt>
                <c:pt idx="1">
                  <c:v>Steady base (P50)</c:v>
                </c:pt>
                <c:pt idx="2">
                  <c:v>Peak ceiling (P75)</c:v>
                </c:pt>
              </c:strCache>
            </c:strRef>
          </c:cat>
          <c:val>
            <c:numRef>
              <c:f>Sheet1!$B$2:$B$4</c:f>
              <c:numCache>
                <c:formatCode>General</c:formatCode>
                <c:ptCount val="3"/>
                <c:pt idx="0">
                  <c:v>82</c:v>
                </c:pt>
                <c:pt idx="1">
                  <c:v>100</c:v>
                </c:pt>
                <c:pt idx="2">
                  <c:v>125</c:v>
                </c:pt>
              </c:numCache>
            </c:numRef>
          </c:val>
          <c:extLst>
            <c:ext xmlns:c16="http://schemas.microsoft.com/office/drawing/2014/chart" uri="{C3380CC4-5D6E-409C-BE32-E72D297353CC}">
              <c16:uniqueId val="{00000006-0964-4AB0-82B4-988706693B4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74"/>
                </a:solidFill>
                <a:latin typeface="+mn-lt"/>
              </a:defRPr>
            </a:pPr>
            <a:endParaRPr lang="en-US"/>
          </a:p>
        </c:txPr>
        <c:crossAx val="2094734552"/>
        <c:crosses val="autoZero"/>
        <c:auto val="1"/>
        <c:lblAlgn val="ctr"/>
        <c:lblOffset val="100"/>
        <c:noMultiLvlLbl val="1"/>
      </c:catAx>
      <c:valAx>
        <c:axId val="2094734552"/>
        <c:scaling>
          <c:orientation val="minMax"/>
          <c:max val="140"/>
          <c:min val="0"/>
        </c:scaling>
        <c:delete val="0"/>
        <c:axPos val="l"/>
        <c:majorGridlines>
          <c:spPr>
            <a:ln w="6350" cap="flat">
              <a:solidFill>
                <a:srgbClr val="E3E9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74"/>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24"/>
                </a:solidFill>
                <a:latin typeface="+mn-lt"/>
              </a:defRPr>
            </a:pPr>
            <a:r>
              <a:rPr lang="en-US" sz="1300" b="0" i="0" u="none" strike="noStrike">
                <a:solidFill>
                  <a:srgbClr val="1B2A24"/>
                </a:solidFill>
                <a:latin typeface="+mn-lt"/>
              </a:rPr>
              <a:t>Share of the final answer</a:t>
            </a:r>
          </a:p>
        </c:rich>
      </c:tx>
      <c:overlay val="0"/>
    </c:title>
    <c:autoTitleDeleted val="0"/>
    <c:plotArea>
      <c:layout/>
      <c:barChart>
        <c:barDir val="bar"/>
        <c:grouping val="percentStacked"/>
        <c:varyColors val="0"/>
        <c:ser>
          <c:idx val="0"/>
          <c:order val="0"/>
          <c:tx>
            <c:strRef>
              <c:f>Sheet1!$B$1</c:f>
              <c:strCache>
                <c:ptCount val="1"/>
                <c:pt idx="0">
                  <c:v>LightGBM</c:v>
                </c:pt>
              </c:strCache>
            </c:strRef>
          </c:tx>
          <c:spPr>
            <a:solidFill>
              <a:srgbClr val="1E9E62"/>
            </a:solidFill>
            <a:effectLst/>
          </c:spPr>
          <c:invertIfNegative val="0"/>
          <c:dLbls>
            <c:numFmt formatCode="0&quot;%&quot;" sourceLinked="0"/>
            <c:spPr>
              <a:noFill/>
              <a:ln>
                <a:noFill/>
              </a:ln>
              <a:effectLst/>
            </c:spPr>
            <c:txPr>
              <a:bodyPr/>
              <a:lstStyle/>
              <a:p>
                <a:pPr>
                  <a:defRPr sz="1300" b="1" i="0" u="none" strike="noStrike">
                    <a:solidFill>
                      <a:srgbClr val="FFFFFF"/>
                    </a:solidFill>
                    <a:latin typeface="+mn-lt"/>
                  </a:defRPr>
                </a:pPr>
                <a:endParaRPr lang="it-IT"/>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Bottles</c:v>
                </c:pt>
                <c:pt idx="1">
                  <c:v>Visitors</c:v>
                </c:pt>
              </c:strCache>
            </c:strRef>
          </c:cat>
          <c:val>
            <c:numRef>
              <c:f>Sheet1!$B$2:$B$3</c:f>
              <c:numCache>
                <c:formatCode>General</c:formatCode>
                <c:ptCount val="2"/>
                <c:pt idx="0">
                  <c:v>90</c:v>
                </c:pt>
                <c:pt idx="1">
                  <c:v>65</c:v>
                </c:pt>
              </c:numCache>
            </c:numRef>
          </c:val>
          <c:extLst>
            <c:ext xmlns:c16="http://schemas.microsoft.com/office/drawing/2014/chart" uri="{C3380CC4-5D6E-409C-BE32-E72D297353CC}">
              <c16:uniqueId val="{00000000-87B2-4F2E-B7FF-1A39360D1818}"/>
            </c:ext>
          </c:extLst>
        </c:ser>
        <c:ser>
          <c:idx val="1"/>
          <c:order val="1"/>
          <c:tx>
            <c:strRef>
              <c:f>Sheet1!$C$1</c:f>
              <c:strCache>
                <c:ptCount val="1"/>
                <c:pt idx="0">
                  <c:v>Neural network</c:v>
                </c:pt>
              </c:strCache>
            </c:strRef>
          </c:tx>
          <c:spPr>
            <a:solidFill>
              <a:srgbClr val="7B5EA7"/>
            </a:solidFill>
            <a:effectLst/>
          </c:spPr>
          <c:invertIfNegative val="0"/>
          <c:dLbls>
            <c:numFmt formatCode="0&quot;%&quot;" sourceLinked="0"/>
            <c:spPr>
              <a:noFill/>
              <a:ln>
                <a:noFill/>
              </a:ln>
              <a:effectLst/>
            </c:spPr>
            <c:txPr>
              <a:bodyPr/>
              <a:lstStyle/>
              <a:p>
                <a:pPr>
                  <a:defRPr sz="1300" b="1" i="0" u="none" strike="noStrike">
                    <a:solidFill>
                      <a:srgbClr val="FFFFFF"/>
                    </a:solidFill>
                    <a:latin typeface="+mn-lt"/>
                  </a:defRPr>
                </a:pPr>
                <a:endParaRPr lang="it-IT"/>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Bottles</c:v>
                </c:pt>
                <c:pt idx="1">
                  <c:v>Visitors</c:v>
                </c:pt>
              </c:strCache>
            </c:strRef>
          </c:cat>
          <c:val>
            <c:numRef>
              <c:f>Sheet1!$C$2:$C$3</c:f>
              <c:numCache>
                <c:formatCode>General</c:formatCode>
                <c:ptCount val="2"/>
                <c:pt idx="0">
                  <c:v>10</c:v>
                </c:pt>
                <c:pt idx="1">
                  <c:v>35</c:v>
                </c:pt>
              </c:numCache>
            </c:numRef>
          </c:val>
          <c:extLst>
            <c:ext xmlns:c16="http://schemas.microsoft.com/office/drawing/2014/chart" uri="{C3380CC4-5D6E-409C-BE32-E72D297353CC}">
              <c16:uniqueId val="{00000001-87B2-4F2E-B7FF-1A39360D1818}"/>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C74"/>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6350" cap="flat">
              <a:solidFill>
                <a:srgbClr val="E3E9E5"/>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solidFill>
                <a:srgbClr val="1B2A2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A24"/>
                </a:solidFill>
                <a:latin typeface="+mn-lt"/>
              </a:defRPr>
            </a:pPr>
            <a:r>
              <a:rPr lang="en-US" sz="1200" b="0" i="0" u="none" strike="noStrike">
                <a:solidFill>
                  <a:srgbClr val="1B2A24"/>
                </a:solidFill>
                <a:latin typeface="+mn-lt"/>
              </a:rPr>
              <a:t>How much one day can change the AI</a:t>
            </a:r>
          </a:p>
        </c:rich>
      </c:tx>
      <c:overlay val="0"/>
    </c:title>
    <c:autoTitleDeleted val="0"/>
    <c:plotArea>
      <c:layout/>
      <c:barChart>
        <c:barDir val="col"/>
        <c:grouping val="clustered"/>
        <c:varyColors val="0"/>
        <c:ser>
          <c:idx val="0"/>
          <c:order val="0"/>
          <c:tx>
            <c:strRef>
              <c:f>Sheet1!$B$1</c:f>
              <c:strCache>
                <c:ptCount val="1"/>
                <c:pt idx="0">
                  <c:v>Effect on the AI</c:v>
                </c:pt>
              </c:strCache>
            </c:strRef>
          </c:tx>
          <c:spPr>
            <a:solidFill>
              <a:srgbClr val="2C7DA0"/>
            </a:solidFill>
            <a:effectLst/>
          </c:spPr>
          <c:invertIfNegative val="0"/>
          <c:dPt>
            <c:idx val="0"/>
            <c:invertIfNegative val="0"/>
            <c:bubble3D val="0"/>
            <c:extLst>
              <c:ext xmlns:c16="http://schemas.microsoft.com/office/drawing/2014/chart" uri="{C3380CC4-5D6E-409C-BE32-E72D297353CC}">
                <c16:uniqueId val="{00000001-B703-4FE9-B39F-CB6B5C6F22E5}"/>
              </c:ext>
            </c:extLst>
          </c:dPt>
          <c:dPt>
            <c:idx val="1"/>
            <c:invertIfNegative val="0"/>
            <c:bubble3D val="0"/>
            <c:spPr>
              <a:solidFill>
                <a:srgbClr val="D64545"/>
              </a:solidFill>
              <a:effectLst/>
            </c:spPr>
            <c:extLst>
              <c:ext xmlns:c16="http://schemas.microsoft.com/office/drawing/2014/chart" uri="{C3380CC4-5D6E-409C-BE32-E72D297353CC}">
                <c16:uniqueId val="{00000003-B703-4FE9-B39F-CB6B5C6F22E5}"/>
              </c:ext>
            </c:extLst>
          </c:dPt>
          <c:dPt>
            <c:idx val="2"/>
            <c:invertIfNegative val="0"/>
            <c:bubble3D val="0"/>
            <c:spPr>
              <a:solidFill>
                <a:srgbClr val="1E9E62"/>
              </a:solidFill>
              <a:effectLst/>
            </c:spPr>
            <c:extLst>
              <c:ext xmlns:c16="http://schemas.microsoft.com/office/drawing/2014/chart" uri="{C3380CC4-5D6E-409C-BE32-E72D297353CC}">
                <c16:uniqueId val="{00000005-B703-4FE9-B39F-CB6B5C6F22E5}"/>
              </c:ext>
            </c:extLst>
          </c:dPt>
          <c:cat>
            <c:strRef>
              <c:f>Sheet1!$A$2:$A$4</c:f>
              <c:strCache>
                <c:ptCount val="3"/>
                <c:pt idx="0">
                  <c:v>Normal day</c:v>
                </c:pt>
                <c:pt idx="1">
                  <c:v>Strange day, no limit</c:v>
                </c:pt>
                <c:pt idx="2">
                  <c:v>Strange day, with limit</c:v>
                </c:pt>
              </c:strCache>
            </c:strRef>
          </c:cat>
          <c:val>
            <c:numRef>
              <c:f>Sheet1!$B$2:$B$4</c:f>
              <c:numCache>
                <c:formatCode>General</c:formatCode>
                <c:ptCount val="3"/>
                <c:pt idx="0">
                  <c:v>7.0000000000000007E-2</c:v>
                </c:pt>
                <c:pt idx="1">
                  <c:v>2.2999999999999998</c:v>
                </c:pt>
                <c:pt idx="2">
                  <c:v>1</c:v>
                </c:pt>
              </c:numCache>
            </c:numRef>
          </c:val>
          <c:extLst>
            <c:ext xmlns:c16="http://schemas.microsoft.com/office/drawing/2014/chart" uri="{C3380CC4-5D6E-409C-BE32-E72D297353CC}">
              <c16:uniqueId val="{00000006-B703-4FE9-B39F-CB6B5C6F22E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C74"/>
                </a:solidFill>
                <a:latin typeface="+mn-lt"/>
              </a:defRPr>
            </a:pPr>
            <a:endParaRPr lang="en-US"/>
          </a:p>
        </c:txPr>
        <c:crossAx val="2094734552"/>
        <c:crosses val="autoZero"/>
        <c:auto val="1"/>
        <c:lblAlgn val="ctr"/>
        <c:lblOffset val="100"/>
        <c:noMultiLvlLbl val="1"/>
      </c:catAx>
      <c:valAx>
        <c:axId val="2094734552"/>
        <c:scaling>
          <c:orientation val="minMax"/>
          <c:max val="2.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356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explains the Coripet RVM Prospective Predictor: a web app that uses artificial intelligence to estimate how many plastic bottles a recycling machine would collect at a supermarket, before the machine is installed. No technical background is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an AI tool that estimates how many visitors and bottles a new Coripet machine would collect at a supermarket, before it is installed. It does three things. It predicts: for any new store, it forecasts daily visitors and bottles and checks whether the site is worth it. It ranks: it compares candidate stores, the inspected ones (SPL) and the potential ones (POT), so the best are handled first. It monitors: it watches the 1,849 machines already running and flags problems early. The AI learns from the real history of 1,681 Coripet stores.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machine learning means teaching a computer to make predictions by showing it many real examples, instead of writing every rule by hand. It works in three steps. First, it learns from the past: here, about 1.48 million real days of data from 1,681 Coripet stores, each day combining the store's facts (size, town, brand, reward, date) with the bottles actually collected. Second, it finds patterns: which facts usually go with more or fewer bottles, for example bigger stores and busier towns collect more. Third, it predicts: given the facts of a new store with no machine yet, it applies those patterns to estimate daily visitors and bottles.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1 works in four steps. Step 1, location: the store name, street address, postal code (CAP) and town. The postal code is checked and always written with 5 digits, for example 00185. The app then finds the exact place in four levels, from most to least precise: first, an exact match of postal code and town in the official Italian municipal census; second, the centre point of the town on the map; third, a lookup in the town registry; and fourth, as a last resort, national average values. Once the town is known, the app adds census and economic facts automatically: total population, surface area in square kilometres, population density (people per square kilometre), the town's GDP (PIL) and GDP per person. Step 2, store size: the floor area and number of checkouts are filled in from the Nielsen list of 25,104 Italian grocery stores; if the store is not listed, the user picks a standard type (small, supermarket, superstore, hypermarket or discount) or enters a custom size. Step 3: the shopper reward and the planned start month. Step 4: the app produces the full results and tests all four machine models automatically.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reward deal between Coripet and the supermarket chain is detected automatically, but can be changed. Different rewards bring different results. Loyalty points on the store card build the strongest habit: about 35 to 45 percent more visitors than with no extra boost. A discount voucher, for example 3 euro off a 25 euro shop for 200 bottles, gives about 15 to 25 percent more bottles. A free gift with no minimum spend gives about 10 to 18 percent more. A simple way to picture it: a store that would collect 100 bottles a day could reach about 140 with loyalty points, about 120 with a voucher, or about 114 with a free gift. (In the app and the manual these boosts are written as multipliers, for example x1.35 to x1.45, which means the same as 35 to 45 percent more.) A custom policy lets you set the discount, the minimum spend and the bottles needed. The user also picks the go-live month and year (2026 to 2028) and can include a 3-month warm-up while people discover the machine. The results later include a table comparing every reward option side by side.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is uncertain, so the app gives a range. A semi-circle gauge shows the Suitability Score from 0 to 100 percent. Three scenario cards show a cautious Floor (P25, 82 percent of the normal case), a Steady Base (P50, the normal case) and a Peak Ceiling (P75, 125 percent). Next to it, a text console lists every key number so it can be copied straight into a report.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LightGBM stands for Light Gradient Boosting Machine. It is a free, open-source machine learning tool made by Microsoft, and it is one of the most popular methods for data organised in tables with rows and columns, like our store data. It is built from decision trees. A decision tree is a flowchart of yes/no questions that ends in a number. For example: is the store bigger than 1,000 square metres? If yes, is it in a busy town? If yes, expect about 900 bottles a day. These numbers are only an example. One tree on its own is quite rough. Boosting means building many trees one after another, where each new tree focuses on correcting the mistakes the earlier trees still make. Think of a team where each person checks the previous person's work and fixes what is still wrong. Gradient refers to the maths that tells each new tree in which direction, and by how much, to correct. Light means it is designed to be fast and use little memory. In this project LightGBM provides 90 percent of the bottle forecast and 65 percent of the visitor forecast.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neural network is a chain of layers made of tiny calculators called neurons, loosely inspired by how brain cells pass signals. Ours is built with PyTorch, a free toolkit for building neural networks. Key terms. Neuron: takes some numbers in, multiplies each by a weight, adds them up and passes the result on. Layer: a row of neurons working side by side; our network has layers of 256, 128 and 64 neurons, and each layer builds on the one before, from simple facts to higher-level ideas. Weights: the adjustable knobs inside every neuron; training means turning these knobs, little by little, so the mistakes get smaller. Activation (GELU): a smooth switch in each neuron that decides how much signal passes on; without it the network could only learn straight-line relationships. Dropout: during training, 10 to 20 percent of neurons are switched off at random, so the network cannot rely on memorising and must learn general patterns. LayerNorm: keeps the numbers inside each layer on a similar scale, so learning stays stable. Compared with LightGBM, a neural network is better at subtle combinations of factors, which is why it gives 35 percent of the visitor forecast.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also called training, works like a student doing practice tests. Step 1: the AI guesses the bottles and visitors for a real machine on a real day from the history. Step 2: it compares the guess with what really happened. Step 3: it measures how wrong it was; this score is called the loss. Step 4: it slightly adjusts its internal numbers so the next guess is a bit better. This loop is repeated over the about 1.48 million certified daily records, many times. To be sure it really learned and did not just memorise, it is tested on data it never saw during practice (cross-validation), like a final exam with new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prediction combines two different AI models; this is called a stacking ensemble. LightGBM is a collection of hundreds of small decision trees. Each tree asks simple yes/no questions, like a game of twenty questions: is the store bigger than 1,000 m²? Is the town densely populated? Each tree gives a small correction and together they reach a precise answer. The neural network (MultiTaskRVMNet, built in PyTorch) works differently: it is good at spotting subtle combinations, for example that a certain brand in a big city in summer attracts extra visitors. Why mix them? Each model makes different kinds of mistakes, so blending them cancels out part of the errors. For bottles, the final answer is 90 percent LightGBM plus 10 percent neural network, which keeps it very stable. For visitors it is 65 percent plus 35 percent, so subtle demographic effects come through. These weights were chosen by testing on data the models had not seen during learning (out-of-fold cross-validation).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sales data has strange days. A restaurant may drop off 8,000 bottles at once, or a broken machine may collect nothing for days. If the AI took these days at face value, its forecasts for normal days would be wrong. So it follows three simple rules while learning. First, big surprises count less: one extreme day can only nudge the AI a little, never drag it off course. Technically this is called Huber loss: small mistakes are punished normally, but very big mistakes are not punished more and more. Second, it looks at changes in percent: going from 100 to 200 bottles counts the same as going from 1,000 to 2,000, so very busy stores do not dominate. Technically this is a log scale. Third, broken machines count less: machines known to be jammed or to have faulty sensors count only about a quarter as much as a normal machine while the AI learns. Think of a good teacher who does not judge a student on one strange exam 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follow one strange day. A store normally collects about 800 bottles a day. One day a restaurant drops off 8,000 bottles at once. If the AI took this day at face value, it would think the store is much busier than it really is. Three protections stop this. First, it shrinks the jump: the AI looks at changes in percent, so a ten-times jump feels much smaller (technically, a log scale). Second, it limits the push: no single day can change the AI by more than a set limit, however extreme it is (technically, Huber loss). In this example, without the limit the strange day would push the AI more than twice as hard. Third, if the day comes from a machine known to be faulty, it counts only about a quarter. The chart compares how much one day can change the AI: a normal day barely moves it, a strange day with no limit moves it a lot, and with the limit the effect is less than half. Result: the AI still notices the strange day, but its forecast only moves a little.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statistical profile answers: how likely is the store to beat the 250 bottles per day breakeven? That is Capital Safety, rated Very Low, Low, Moderate or Elevated risk. The Downside Floor (P10) is a level the machine should beat 9 days out of 10. The Upside Ceiling (P90) is what can happen in the best 10 percent of days, such as summer or a marketing campaign. For installed machines the app also compares 24 months of real history with 12 months of forecast; for candidate stores (SPL and POT) this is hidden, since there is no machine yet. Finally, a capacity check: if the overflow risk is above 20 percent, a Capacity Bottleneck warning advises upgrading to a 4,500-bottle machine.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candidate goes through six checks, each giving PASS, WARN or FAIL. 1. Cannibalisation: is another Coripet machine too close? Under 750 metres warns, under 250 metres fails. 2. Economic breakeven: at least 250 bottles a day. 3. Store format: at least 300 square metres and 3 checkouts. 4. Demographics: at least 5,000 residents and 150 people per square kilometre. 5. Hardware sizing: the machine is neither too small nor oversized. 6. Logistics: within about 25 km of a collection depot. The final banner says Unconditional Clearance (all pass), Conditional Clearance (some warnings), or Conditional / Rejected (a critical gate failed). The results also show the local network: nearest machine, machines within 3 km and competing grocery stores.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2, SPL, lists 61 stores where technicians already completed an on-site inspection (Sopralluogo Completato). Tab 3, POT, lists 331 potential stores still being screened on paper before anyone is sent. The data comes live from Coripet's own system (macchine.coripet.it) through two feeds: the site registry and the inspection dates. Only real shops (PUNTOVENDITA) are kept, removing test and office locations. If the system is down, a saved backup copy is used. A recency filter shows sites surveyed in the last 5 months (top priority), 12 months, 24 months, or all sites.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4 checks all 1,849 active installed machines for problems using seven rules, plus a healthy label. Offline: 7 or more zero days in a row, or 20 percent zero days in the last 60; send a technician. Bin full: normal visitors but under 60 percent of usual bottles and under 15 per visit; empty bags twice a day. Up and down: volume jumps 1.5 times then crashes below 400 a day; often an expired promotion. Huge spike: over 7,500 bottles in a day or a z-score above 4.5; often a bar or restaurant dumping bottles, or a school contest. Underperformer: under 250 a day while the AI expected 400 more; move the machine to the entrance. Super hub: over 3,000 a day; consider a second machine. Sensor drift: 1 to 5 bottles with zero users for 14 days or more; clean and recalibrate the sensor. The filter also offers All outliers and Full fleet views.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happy to take any questions about how the predictor works or how it can support decisions on new machine locations.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D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1887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743200"/>
            <a:ext cx="7315200" cy="822960"/>
          </a:xfrm>
          <a:prstGeom prst="rect">
            <a:avLst/>
          </a:prstGeom>
          <a:noFill/>
          <a:ln/>
        </p:spPr>
        <p:txBody>
          <a:bodyPr wrap="square" rtlCol="0"/>
          <a:lstStyle>
            <a:lvl1pPr marL="0" indent="0">
              <a:buNone/>
              <a:defRPr lang="en-US" sz="1800" dirty="0">
                <a:solidFill>
                  <a:srgbClr val="BFE3CF"/>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rtlCol="0"/>
          <a:lstStyle>
            <a:lvl1pPr marL="0" indent="0">
              <a:buNone/>
              <a:defRPr lang="en-US" sz="1100" b="1" kern="0" spc="200" dirty="0">
                <a:solidFill>
                  <a:schemeClr val="accent1"/>
                </a:solidFill>
              </a:defRPr>
            </a:lvl1pPr>
          </a:lstStyle>
          <a:p>
            <a:pPr marL="0" indent="0">
              <a:buNone/>
            </a:pP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8.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0.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4.png"/><Relationship Id="rId4" Type="http://schemas.openxmlformats.org/officeDocument/2006/relationships/image" Target="../media/image18.png"/><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3.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20.png"/><Relationship Id="rId4" Type="http://schemas.openxmlformats.org/officeDocument/2006/relationships/image" Target="../media/image22.pn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chart" Target="../charts/char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9.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25.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9.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10.png"/><Relationship Id="rId4" Type="http://schemas.openxmlformats.org/officeDocument/2006/relationships/image" Target="../media/image27.png"/><Relationship Id="rId9"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1.png"/><Relationship Id="rId7"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5.png"/><Relationship Id="rId5" Type="http://schemas.openxmlformats.org/officeDocument/2006/relationships/image" Target="../media/image8.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188720"/>
          </a:xfrm>
          <a:prstGeom prst="rect">
            <a:avLst/>
          </a:prstGeom>
          <a:noFill/>
          <a:ln/>
        </p:spPr>
        <p:txBody>
          <a:bodyPr wrap="square" lIns="0" tIns="0" rIns="0" bIns="0" rtlCol="0" anchor="b"/>
          <a:lstStyle/>
          <a:p>
            <a:pPr marL="0" indent="0" algn="l">
              <a:buNone/>
            </a:pPr>
            <a:r>
              <a:rPr lang="en-US" sz="4000" b="1" dirty="0">
                <a:solidFill>
                  <a:schemeClr val="bg1"/>
                </a:solidFill>
              </a:rPr>
              <a:t>Coripet RVM Prospective Predictor</a:t>
            </a:r>
            <a:endParaRPr lang="en-US" sz="4000" dirty="0"/>
          </a:p>
        </p:txBody>
      </p:sp>
      <p:sp>
        <p:nvSpPr>
          <p:cNvPr id="3" name="Text 0"/>
          <p:cNvSpPr>
            <a:spLocks noGrp="1"/>
          </p:cNvSpPr>
          <p:nvPr>
            <p:ph type="body" idx="101" hasCustomPrompt="1"/>
          </p:nvPr>
        </p:nvSpPr>
        <p:spPr>
          <a:xfrm>
            <a:off x="548640" y="2743200"/>
            <a:ext cx="7315200" cy="822960"/>
          </a:xfrm>
          <a:prstGeom prst="rect">
            <a:avLst/>
          </a:prstGeom>
          <a:noFill/>
          <a:ln/>
        </p:spPr>
        <p:txBody>
          <a:bodyPr wrap="square" lIns="0" tIns="0" rIns="0" bIns="0" rtlCol="0" anchor="t"/>
          <a:lstStyle/>
          <a:p>
            <a:pPr marL="0" indent="0">
              <a:buNone/>
            </a:pPr>
            <a:r>
              <a:rPr lang="en-US" sz="1800" dirty="0">
                <a:solidFill>
                  <a:srgbClr val="BFE3CF"/>
                </a:solidFill>
              </a:rPr>
              <a:t>How AI helps decide where to place bottle-recycling machines, explained for everyone</a:t>
            </a:r>
            <a:endParaRPr lang="en-US" sz="1800" dirty="0"/>
          </a:p>
        </p:txBody>
      </p:sp>
      <p:sp>
        <p:nvSpPr>
          <p:cNvPr id="4" name="icon circle FaRecycle"/>
          <p:cNvSpPr/>
          <p:nvPr/>
        </p:nvSpPr>
        <p:spPr>
          <a:xfrm>
            <a:off x="548640" y="548640"/>
            <a:ext cx="731520" cy="731520"/>
          </a:xfrm>
          <a:prstGeom prst="ellipse">
            <a:avLst/>
          </a:prstGeom>
          <a:solidFill>
            <a:srgbClr val="1E9E62"/>
          </a:solidFill>
          <a:ln w="12700">
            <a:solidFill>
              <a:srgbClr val="1E9E62"/>
            </a:solidFill>
            <a:prstDash val="solid"/>
          </a:ln>
        </p:spPr>
        <p:txBody>
          <a:bodyPr/>
          <a:lstStyle/>
          <a:p>
            <a:endParaRPr lang="it-IT"/>
          </a:p>
        </p:txBody>
      </p:sp>
      <p:pic>
        <p:nvPicPr>
          <p:cNvPr id="5" name="Image 0" descr="Recycle icon"/>
          <p:cNvPicPr>
            <a:picLocks noChangeAspect="1"/>
          </p:cNvPicPr>
          <p:nvPr/>
        </p:nvPicPr>
        <p:blipFill>
          <a:blip r:embed="rId3"/>
          <a:stretch>
            <a:fillRect/>
          </a:stretch>
        </p:blipFill>
        <p:spPr>
          <a:xfrm>
            <a:off x="746150" y="746150"/>
            <a:ext cx="336499" cy="336499"/>
          </a:xfrm>
          <a:prstGeom prst="rect">
            <a:avLst/>
          </a:prstGeom>
        </p:spPr>
      </p:pic>
      <p:sp>
        <p:nvSpPr>
          <p:cNvPr id="6" name="Text 3"/>
          <p:cNvSpPr txBox="1"/>
          <p:nvPr/>
        </p:nvSpPr>
        <p:spPr>
          <a:xfrm>
            <a:off x="548640" y="4434840"/>
            <a:ext cx="7315200" cy="274320"/>
          </a:xfrm>
          <a:prstGeom prst="rect">
            <a:avLst/>
          </a:prstGeom>
          <a:noFill/>
          <a:ln/>
        </p:spPr>
        <p:txBody>
          <a:bodyPr wrap="square" lIns="0" tIns="0" rIns="0" bIns="0" rtlCol="0" anchor="t"/>
          <a:lstStyle/>
          <a:p>
            <a:pPr marL="0" indent="0">
              <a:buNone/>
            </a:pPr>
            <a:r>
              <a:rPr lang="en-US" sz="1200" dirty="0">
                <a:solidFill>
                  <a:srgbClr val="8FC4A8"/>
                </a:solidFill>
              </a:rPr>
              <a:t>Production Decision Support Dashboard  |  System Manual Overview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INTRODUCTION</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Where should the next machine go?</a:t>
            </a:r>
            <a:endParaRPr lang="en-US" sz="2800" dirty="0"/>
          </a:p>
        </p:txBody>
      </p:sp>
      <p:sp>
        <p:nvSpPr>
          <p:cNvPr id="5" name="Text 2"/>
          <p:cNvSpPr txBox="1"/>
          <p:nvPr/>
        </p:nvSpPr>
        <p:spPr>
          <a:xfrm>
            <a:off x="457200" y="1280160"/>
            <a:ext cx="7863840" cy="685800"/>
          </a:xfrm>
          <a:prstGeom prst="rect">
            <a:avLst/>
          </a:prstGeom>
          <a:noFill/>
          <a:ln/>
        </p:spPr>
        <p:txBody>
          <a:bodyPr wrap="square" lIns="0" tIns="0" rIns="0" bIns="0" rtlCol="0" anchor="ctr"/>
          <a:lstStyle/>
          <a:p>
            <a:pPr marL="0" indent="0">
              <a:buNone/>
            </a:pPr>
            <a:r>
              <a:rPr lang="en-US" sz="1800" dirty="0">
                <a:solidFill>
                  <a:schemeClr val="tx1"/>
                </a:solidFill>
              </a:rPr>
              <a:t>An AI tool that estimates how many bottles a new machine will collect, before it is installed.</a:t>
            </a:r>
            <a:endParaRPr lang="en-US" sz="1800" dirty="0"/>
          </a:p>
        </p:txBody>
      </p:sp>
      <p:sp>
        <p:nvSpPr>
          <p:cNvPr id="6" name="card"/>
          <p:cNvSpPr/>
          <p:nvPr/>
        </p:nvSpPr>
        <p:spPr>
          <a:xfrm>
            <a:off x="457200" y="2194560"/>
            <a:ext cx="2514600" cy="1965960"/>
          </a:xfrm>
          <a:prstGeom prst="roundRect">
            <a:avLst>
              <a:gd name="adj" fmla="val 37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7" name="icon circle FaSearch"/>
          <p:cNvSpPr/>
          <p:nvPr/>
        </p:nvSpPr>
        <p:spPr>
          <a:xfrm>
            <a:off x="640080" y="2377440"/>
            <a:ext cx="594360" cy="594360"/>
          </a:xfrm>
          <a:prstGeom prst="ellipse">
            <a:avLst/>
          </a:prstGeom>
          <a:solidFill>
            <a:srgbClr val="1E9E62"/>
          </a:solidFill>
          <a:ln w="12700">
            <a:solidFill>
              <a:srgbClr val="1E9E62"/>
            </a:solidFill>
            <a:prstDash val="solid"/>
          </a:ln>
        </p:spPr>
        <p:txBody>
          <a:bodyPr/>
          <a:lstStyle/>
          <a:p>
            <a:endParaRPr lang="it-IT"/>
          </a:p>
        </p:txBody>
      </p:sp>
      <p:pic>
        <p:nvPicPr>
          <p:cNvPr id="8" name="Image 0" descr="Search icon"/>
          <p:cNvPicPr>
            <a:picLocks noChangeAspect="1"/>
          </p:cNvPicPr>
          <p:nvPr/>
        </p:nvPicPr>
        <p:blipFill>
          <a:blip r:embed="rId3"/>
          <a:stretch>
            <a:fillRect/>
          </a:stretch>
        </p:blipFill>
        <p:spPr>
          <a:xfrm>
            <a:off x="800557" y="2537917"/>
            <a:ext cx="273406" cy="273406"/>
          </a:xfrm>
          <a:prstGeom prst="rect">
            <a:avLst/>
          </a:prstGeom>
        </p:spPr>
      </p:pic>
      <p:sp>
        <p:nvSpPr>
          <p:cNvPr id="9" name="Text 5"/>
          <p:cNvSpPr txBox="1"/>
          <p:nvPr/>
        </p:nvSpPr>
        <p:spPr>
          <a:xfrm>
            <a:off x="640080" y="3108960"/>
            <a:ext cx="2148840" cy="365760"/>
          </a:xfrm>
          <a:prstGeom prst="rect">
            <a:avLst/>
          </a:prstGeom>
          <a:noFill/>
          <a:ln/>
        </p:spPr>
        <p:txBody>
          <a:bodyPr wrap="square" lIns="0" tIns="0" rIns="0" bIns="0" rtlCol="0" anchor="t"/>
          <a:lstStyle/>
          <a:p>
            <a:pPr marL="0" indent="0">
              <a:buNone/>
            </a:pPr>
            <a:r>
              <a:rPr lang="en-US" sz="2000" b="1" dirty="0">
                <a:solidFill>
                  <a:schemeClr val="tx2"/>
                </a:solidFill>
              </a:rPr>
              <a:t>Predict</a:t>
            </a:r>
            <a:endParaRPr lang="en-US" sz="2000" dirty="0"/>
          </a:p>
        </p:txBody>
      </p:sp>
      <p:sp>
        <p:nvSpPr>
          <p:cNvPr id="10" name="Text 6"/>
          <p:cNvSpPr txBox="1"/>
          <p:nvPr/>
        </p:nvSpPr>
        <p:spPr>
          <a:xfrm>
            <a:off x="640080" y="3493008"/>
            <a:ext cx="2148840" cy="594360"/>
          </a:xfrm>
          <a:prstGeom prst="rect">
            <a:avLst/>
          </a:prstGeom>
          <a:noFill/>
          <a:ln/>
        </p:spPr>
        <p:txBody>
          <a:bodyPr wrap="square" lIns="0" tIns="0" rIns="0" bIns="0" rtlCol="0" anchor="t"/>
          <a:lstStyle/>
          <a:p>
            <a:pPr marL="0" indent="0">
              <a:buNone/>
            </a:pPr>
            <a:r>
              <a:rPr lang="en-US" sz="1300" dirty="0">
                <a:solidFill>
                  <a:schemeClr val="tx1"/>
                </a:solidFill>
              </a:rPr>
              <a:t>Forecast visitors and bottles for any new store</a:t>
            </a:r>
            <a:endParaRPr lang="en-US" sz="1300" dirty="0"/>
          </a:p>
        </p:txBody>
      </p:sp>
      <p:sp>
        <p:nvSpPr>
          <p:cNvPr id="11" name="card"/>
          <p:cNvSpPr/>
          <p:nvPr/>
        </p:nvSpPr>
        <p:spPr>
          <a:xfrm>
            <a:off x="3154680" y="2194560"/>
            <a:ext cx="2514600" cy="1965960"/>
          </a:xfrm>
          <a:prstGeom prst="roundRect">
            <a:avLst>
              <a:gd name="adj" fmla="val 37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2" name="icon circle FaListUl"/>
          <p:cNvSpPr/>
          <p:nvPr/>
        </p:nvSpPr>
        <p:spPr>
          <a:xfrm>
            <a:off x="3337560" y="2377440"/>
            <a:ext cx="594360" cy="594360"/>
          </a:xfrm>
          <a:prstGeom prst="ellipse">
            <a:avLst/>
          </a:prstGeom>
          <a:solidFill>
            <a:srgbClr val="2C7DA0"/>
          </a:solidFill>
          <a:ln w="12700">
            <a:solidFill>
              <a:srgbClr val="2C7DA0"/>
            </a:solidFill>
            <a:prstDash val="solid"/>
          </a:ln>
        </p:spPr>
        <p:txBody>
          <a:bodyPr/>
          <a:lstStyle/>
          <a:p>
            <a:endParaRPr lang="it-IT"/>
          </a:p>
        </p:txBody>
      </p:sp>
      <p:pic>
        <p:nvPicPr>
          <p:cNvPr id="13" name="Image 1" descr="ListUl icon"/>
          <p:cNvPicPr>
            <a:picLocks noChangeAspect="1"/>
          </p:cNvPicPr>
          <p:nvPr/>
        </p:nvPicPr>
        <p:blipFill>
          <a:blip r:embed="rId4"/>
          <a:stretch>
            <a:fillRect/>
          </a:stretch>
        </p:blipFill>
        <p:spPr>
          <a:xfrm>
            <a:off x="3498037" y="2537917"/>
            <a:ext cx="273406" cy="273406"/>
          </a:xfrm>
          <a:prstGeom prst="rect">
            <a:avLst/>
          </a:prstGeom>
        </p:spPr>
      </p:pic>
      <p:sp>
        <p:nvSpPr>
          <p:cNvPr id="14" name="Text 9"/>
          <p:cNvSpPr txBox="1"/>
          <p:nvPr/>
        </p:nvSpPr>
        <p:spPr>
          <a:xfrm>
            <a:off x="3337560" y="3108960"/>
            <a:ext cx="2148840" cy="365760"/>
          </a:xfrm>
          <a:prstGeom prst="rect">
            <a:avLst/>
          </a:prstGeom>
          <a:noFill/>
          <a:ln/>
        </p:spPr>
        <p:txBody>
          <a:bodyPr wrap="square" lIns="0" tIns="0" rIns="0" bIns="0" rtlCol="0" anchor="t"/>
          <a:lstStyle/>
          <a:p>
            <a:pPr marL="0" indent="0">
              <a:buNone/>
            </a:pPr>
            <a:r>
              <a:rPr lang="en-US" sz="2000" b="1" dirty="0">
                <a:solidFill>
                  <a:schemeClr val="tx2"/>
                </a:solidFill>
              </a:rPr>
              <a:t>Rank</a:t>
            </a:r>
            <a:endParaRPr lang="en-US" sz="2000" dirty="0"/>
          </a:p>
        </p:txBody>
      </p:sp>
      <p:sp>
        <p:nvSpPr>
          <p:cNvPr id="15" name="Text 10"/>
          <p:cNvSpPr txBox="1"/>
          <p:nvPr/>
        </p:nvSpPr>
        <p:spPr>
          <a:xfrm>
            <a:off x="3337560" y="3493008"/>
            <a:ext cx="2148840" cy="594360"/>
          </a:xfrm>
          <a:prstGeom prst="rect">
            <a:avLst/>
          </a:prstGeom>
          <a:noFill/>
          <a:ln/>
        </p:spPr>
        <p:txBody>
          <a:bodyPr wrap="square" lIns="0" tIns="0" rIns="0" bIns="0" rtlCol="0" anchor="t"/>
          <a:lstStyle/>
          <a:p>
            <a:pPr marL="0" indent="0">
              <a:buNone/>
            </a:pPr>
            <a:r>
              <a:rPr lang="en-US" sz="1300" dirty="0">
                <a:solidFill>
                  <a:schemeClr val="tx1"/>
                </a:solidFill>
              </a:rPr>
              <a:t>Compare candidate stores and pick the best first</a:t>
            </a:r>
            <a:endParaRPr lang="en-US" sz="1300" dirty="0"/>
          </a:p>
        </p:txBody>
      </p:sp>
      <p:sp>
        <p:nvSpPr>
          <p:cNvPr id="16" name="card"/>
          <p:cNvSpPr/>
          <p:nvPr/>
        </p:nvSpPr>
        <p:spPr>
          <a:xfrm>
            <a:off x="5852160" y="2194560"/>
            <a:ext cx="2514600" cy="1965960"/>
          </a:xfrm>
          <a:prstGeom prst="roundRect">
            <a:avLst>
              <a:gd name="adj" fmla="val 37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7" name="icon circle FaTools"/>
          <p:cNvSpPr/>
          <p:nvPr/>
        </p:nvSpPr>
        <p:spPr>
          <a:xfrm>
            <a:off x="6035040" y="2377440"/>
            <a:ext cx="594360" cy="594360"/>
          </a:xfrm>
          <a:prstGeom prst="ellipse">
            <a:avLst/>
          </a:prstGeom>
          <a:solidFill>
            <a:srgbClr val="D64545"/>
          </a:solidFill>
          <a:ln w="12700">
            <a:solidFill>
              <a:srgbClr val="D64545"/>
            </a:solidFill>
            <a:prstDash val="solid"/>
          </a:ln>
        </p:spPr>
        <p:txBody>
          <a:bodyPr/>
          <a:lstStyle/>
          <a:p>
            <a:endParaRPr lang="it-IT"/>
          </a:p>
        </p:txBody>
      </p:sp>
      <p:pic>
        <p:nvPicPr>
          <p:cNvPr id="18" name="Image 2" descr="Tools icon"/>
          <p:cNvPicPr>
            <a:picLocks noChangeAspect="1"/>
          </p:cNvPicPr>
          <p:nvPr/>
        </p:nvPicPr>
        <p:blipFill>
          <a:blip r:embed="rId5"/>
          <a:stretch>
            <a:fillRect/>
          </a:stretch>
        </p:blipFill>
        <p:spPr>
          <a:xfrm>
            <a:off x="6195517" y="2537917"/>
            <a:ext cx="273406" cy="273406"/>
          </a:xfrm>
          <a:prstGeom prst="rect">
            <a:avLst/>
          </a:prstGeom>
        </p:spPr>
      </p:pic>
      <p:sp>
        <p:nvSpPr>
          <p:cNvPr id="19" name="Text 13"/>
          <p:cNvSpPr txBox="1"/>
          <p:nvPr/>
        </p:nvSpPr>
        <p:spPr>
          <a:xfrm>
            <a:off x="6035040" y="3108960"/>
            <a:ext cx="2148840" cy="365760"/>
          </a:xfrm>
          <a:prstGeom prst="rect">
            <a:avLst/>
          </a:prstGeom>
          <a:noFill/>
          <a:ln/>
        </p:spPr>
        <p:txBody>
          <a:bodyPr wrap="square" lIns="0" tIns="0" rIns="0" bIns="0" rtlCol="0" anchor="t"/>
          <a:lstStyle/>
          <a:p>
            <a:pPr marL="0" indent="0">
              <a:buNone/>
            </a:pPr>
            <a:r>
              <a:rPr lang="en-US" sz="2000" b="1" dirty="0">
                <a:solidFill>
                  <a:schemeClr val="tx2"/>
                </a:solidFill>
              </a:rPr>
              <a:t>Monitor</a:t>
            </a:r>
            <a:endParaRPr lang="en-US" sz="2000" dirty="0"/>
          </a:p>
        </p:txBody>
      </p:sp>
      <p:sp>
        <p:nvSpPr>
          <p:cNvPr id="20" name="Text 14"/>
          <p:cNvSpPr txBox="1"/>
          <p:nvPr/>
        </p:nvSpPr>
        <p:spPr>
          <a:xfrm>
            <a:off x="6035040" y="3493008"/>
            <a:ext cx="2148840" cy="594360"/>
          </a:xfrm>
          <a:prstGeom prst="rect">
            <a:avLst/>
          </a:prstGeom>
          <a:noFill/>
          <a:ln/>
        </p:spPr>
        <p:txBody>
          <a:bodyPr wrap="square" lIns="0" tIns="0" rIns="0" bIns="0" rtlCol="0" anchor="t"/>
          <a:lstStyle/>
          <a:p>
            <a:pPr marL="0" indent="0">
              <a:buNone/>
            </a:pPr>
            <a:r>
              <a:rPr lang="en-US" sz="1300" dirty="0">
                <a:solidFill>
                  <a:schemeClr val="tx1"/>
                </a:solidFill>
              </a:rPr>
              <a:t>Spot problems in the 1,849 running machines</a:t>
            </a:r>
            <a:endParaRPr lang="en-US" sz="1300" dirty="0"/>
          </a:p>
        </p:txBody>
      </p:sp>
      <p:sp>
        <p:nvSpPr>
          <p:cNvPr id="21"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22" name="Image 3" descr="idea icon"/>
          <p:cNvPicPr>
            <a:picLocks noChangeAspect="1"/>
          </p:cNvPicPr>
          <p:nvPr/>
        </p:nvPicPr>
        <p:blipFill>
          <a:blip r:embed="rId6"/>
          <a:stretch>
            <a:fillRect/>
          </a:stretch>
        </p:blipFill>
        <p:spPr>
          <a:xfrm>
            <a:off x="594360" y="4462272"/>
            <a:ext cx="274320" cy="274320"/>
          </a:xfrm>
          <a:prstGeom prst="rect">
            <a:avLst/>
          </a:prstGeom>
        </p:spPr>
      </p:pic>
      <p:sp>
        <p:nvSpPr>
          <p:cNvPr id="23" name="Text 16"/>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the right machine, in the right store, before any money is spent.</a:t>
            </a:r>
            <a:endParaRPr lang="en-US" sz="13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KEY IDEA</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What is machine learning?</a:t>
            </a:r>
            <a:endParaRPr lang="en-US" sz="2800" dirty="0"/>
          </a:p>
        </p:txBody>
      </p:sp>
      <p:sp>
        <p:nvSpPr>
          <p:cNvPr id="5" name="definition box"/>
          <p:cNvSpPr/>
          <p:nvPr/>
        </p:nvSpPr>
        <p:spPr>
          <a:xfrm>
            <a:off x="457200" y="1234440"/>
            <a:ext cx="7863840" cy="777240"/>
          </a:xfrm>
          <a:prstGeom prst="roundRect">
            <a:avLst>
              <a:gd name="adj" fmla="val 9412"/>
            </a:avLst>
          </a:prstGeom>
          <a:solidFill>
            <a:srgbClr val="0B3D2E"/>
          </a:solidFill>
          <a:ln w="12700">
            <a:solidFill>
              <a:srgbClr val="0B3D2E"/>
            </a:solidFill>
            <a:prstDash val="solid"/>
          </a:ln>
        </p:spPr>
        <p:txBody>
          <a:bodyPr/>
          <a:lstStyle/>
          <a:p>
            <a:endParaRPr lang="it-IT"/>
          </a:p>
        </p:txBody>
      </p:sp>
      <p:sp>
        <p:nvSpPr>
          <p:cNvPr id="6" name="Text 3"/>
          <p:cNvSpPr txBox="1"/>
          <p:nvPr/>
        </p:nvSpPr>
        <p:spPr>
          <a:xfrm>
            <a:off x="685800" y="1234440"/>
            <a:ext cx="7498080" cy="777240"/>
          </a:xfrm>
          <a:prstGeom prst="rect">
            <a:avLst/>
          </a:prstGeom>
          <a:noFill/>
          <a:ln/>
        </p:spPr>
        <p:txBody>
          <a:bodyPr wrap="square" lIns="0" tIns="0" rIns="0" bIns="0" rtlCol="0" anchor="ctr"/>
          <a:lstStyle/>
          <a:p>
            <a:pPr marL="0" indent="0">
              <a:buNone/>
            </a:pPr>
            <a:r>
              <a:rPr lang="en-US" sz="1500" b="1" dirty="0">
                <a:solidFill>
                  <a:srgbClr val="8FDDB1"/>
                </a:solidFill>
              </a:rPr>
              <a:t>Definition: </a:t>
            </a:r>
            <a:r>
              <a:rPr lang="en-US" sz="1500" dirty="0">
                <a:solidFill>
                  <a:schemeClr val="bg1"/>
                </a:solidFill>
              </a:rPr>
              <a:t>teaching a computer to make predictions by showing it many real examples, instead of writing the rules by hand.</a:t>
            </a:r>
            <a:endParaRPr lang="en-US" sz="1500" dirty="0"/>
          </a:p>
        </p:txBody>
      </p:sp>
      <p:sp>
        <p:nvSpPr>
          <p:cNvPr id="7" name="card"/>
          <p:cNvSpPr/>
          <p:nvPr/>
        </p:nvSpPr>
        <p:spPr>
          <a:xfrm>
            <a:off x="457200" y="2194560"/>
            <a:ext cx="2377440" cy="1965960"/>
          </a:xfrm>
          <a:prstGeom prst="roundRect">
            <a:avLst>
              <a:gd name="adj" fmla="val 37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8" name="icon circle FaHistory"/>
          <p:cNvSpPr/>
          <p:nvPr/>
        </p:nvSpPr>
        <p:spPr>
          <a:xfrm>
            <a:off x="1325880" y="2331720"/>
            <a:ext cx="640080" cy="640080"/>
          </a:xfrm>
          <a:prstGeom prst="ellipse">
            <a:avLst/>
          </a:prstGeom>
          <a:solidFill>
            <a:srgbClr val="2C7DA0"/>
          </a:solidFill>
          <a:ln w="12700">
            <a:solidFill>
              <a:srgbClr val="2C7DA0"/>
            </a:solidFill>
            <a:prstDash val="solid"/>
          </a:ln>
        </p:spPr>
        <p:txBody>
          <a:bodyPr/>
          <a:lstStyle/>
          <a:p>
            <a:endParaRPr lang="it-IT"/>
          </a:p>
        </p:txBody>
      </p:sp>
      <p:pic>
        <p:nvPicPr>
          <p:cNvPr id="9" name="Image 0" descr="History icon"/>
          <p:cNvPicPr>
            <a:picLocks noChangeAspect="1"/>
          </p:cNvPicPr>
          <p:nvPr/>
        </p:nvPicPr>
        <p:blipFill>
          <a:blip r:embed="rId3"/>
          <a:stretch>
            <a:fillRect/>
          </a:stretch>
        </p:blipFill>
        <p:spPr>
          <a:xfrm>
            <a:off x="1498702" y="2504542"/>
            <a:ext cx="294437" cy="294437"/>
          </a:xfrm>
          <a:prstGeom prst="rect">
            <a:avLst/>
          </a:prstGeom>
        </p:spPr>
      </p:pic>
      <p:sp>
        <p:nvSpPr>
          <p:cNvPr id="10" name="Text 6"/>
          <p:cNvSpPr txBox="1"/>
          <p:nvPr/>
        </p:nvSpPr>
        <p:spPr>
          <a:xfrm>
            <a:off x="594360" y="3090672"/>
            <a:ext cx="2103120" cy="347472"/>
          </a:xfrm>
          <a:prstGeom prst="rect">
            <a:avLst/>
          </a:prstGeom>
          <a:noFill/>
          <a:ln/>
        </p:spPr>
        <p:txBody>
          <a:bodyPr wrap="square" lIns="0" tIns="0" rIns="0" bIns="0" rtlCol="0" anchor="t"/>
          <a:lstStyle/>
          <a:p>
            <a:pPr marL="0" indent="0" algn="ctr">
              <a:buNone/>
            </a:pPr>
            <a:r>
              <a:rPr lang="en-US" sz="1600" b="1" dirty="0">
                <a:solidFill>
                  <a:schemeClr val="tx2"/>
                </a:solidFill>
              </a:rPr>
              <a:t>1. Learn from the past</a:t>
            </a:r>
            <a:endParaRPr lang="en-US" sz="1600" dirty="0"/>
          </a:p>
        </p:txBody>
      </p:sp>
      <p:sp>
        <p:nvSpPr>
          <p:cNvPr id="11" name="Text 7"/>
          <p:cNvSpPr txBox="1"/>
          <p:nvPr/>
        </p:nvSpPr>
        <p:spPr>
          <a:xfrm>
            <a:off x="640080" y="3474720"/>
            <a:ext cx="2011680" cy="548640"/>
          </a:xfrm>
          <a:prstGeom prst="rect">
            <a:avLst/>
          </a:prstGeom>
          <a:noFill/>
          <a:ln/>
        </p:spPr>
        <p:txBody>
          <a:bodyPr wrap="square" lIns="0" tIns="0" rIns="0" bIns="0" rtlCol="0" anchor="t"/>
          <a:lstStyle/>
          <a:p>
            <a:pPr marL="0" indent="0" algn="ctr">
              <a:buNone/>
            </a:pPr>
            <a:r>
              <a:rPr lang="en-US" sz="1300" dirty="0">
                <a:solidFill>
                  <a:schemeClr val="tx1"/>
                </a:solidFill>
              </a:rPr>
              <a:t>1.48 million real days from 1,681 stores</a:t>
            </a:r>
            <a:endParaRPr lang="en-US" sz="1300" dirty="0"/>
          </a:p>
        </p:txBody>
      </p:sp>
      <p:sp>
        <p:nvSpPr>
          <p:cNvPr id="12" name="arrow"/>
          <p:cNvSpPr/>
          <p:nvPr/>
        </p:nvSpPr>
        <p:spPr>
          <a:xfrm>
            <a:off x="2880360" y="3017520"/>
            <a:ext cx="274320" cy="320040"/>
          </a:xfrm>
          <a:prstGeom prst="rightArrow">
            <a:avLst/>
          </a:prstGeom>
          <a:solidFill>
            <a:schemeClr val="accent1"/>
          </a:solidFill>
          <a:ln w="12700">
            <a:solidFill>
              <a:schemeClr val="accent1"/>
            </a:solidFill>
            <a:prstDash val="solid"/>
          </a:ln>
        </p:spPr>
        <p:txBody>
          <a:bodyPr/>
          <a:lstStyle/>
          <a:p>
            <a:endParaRPr lang="it-IT"/>
          </a:p>
        </p:txBody>
      </p:sp>
      <p:sp>
        <p:nvSpPr>
          <p:cNvPr id="13" name="card"/>
          <p:cNvSpPr/>
          <p:nvPr/>
        </p:nvSpPr>
        <p:spPr>
          <a:xfrm>
            <a:off x="3200400" y="2194560"/>
            <a:ext cx="2377440" cy="1965960"/>
          </a:xfrm>
          <a:prstGeom prst="roundRect">
            <a:avLst>
              <a:gd name="adj" fmla="val 37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4" name="icon circle FaBrain"/>
          <p:cNvSpPr/>
          <p:nvPr/>
        </p:nvSpPr>
        <p:spPr>
          <a:xfrm>
            <a:off x="4069080" y="2331720"/>
            <a:ext cx="640080" cy="640080"/>
          </a:xfrm>
          <a:prstGeom prst="ellipse">
            <a:avLst/>
          </a:prstGeom>
          <a:solidFill>
            <a:srgbClr val="7B5EA7"/>
          </a:solidFill>
          <a:ln w="12700">
            <a:solidFill>
              <a:srgbClr val="7B5EA7"/>
            </a:solidFill>
            <a:prstDash val="solid"/>
          </a:ln>
        </p:spPr>
        <p:txBody>
          <a:bodyPr/>
          <a:lstStyle/>
          <a:p>
            <a:endParaRPr lang="it-IT"/>
          </a:p>
        </p:txBody>
      </p:sp>
      <p:pic>
        <p:nvPicPr>
          <p:cNvPr id="15" name="Image 1" descr="Brain icon"/>
          <p:cNvPicPr>
            <a:picLocks noChangeAspect="1"/>
          </p:cNvPicPr>
          <p:nvPr/>
        </p:nvPicPr>
        <p:blipFill>
          <a:blip r:embed="rId4"/>
          <a:stretch>
            <a:fillRect/>
          </a:stretch>
        </p:blipFill>
        <p:spPr>
          <a:xfrm>
            <a:off x="4241902" y="2504542"/>
            <a:ext cx="294437" cy="294437"/>
          </a:xfrm>
          <a:prstGeom prst="rect">
            <a:avLst/>
          </a:prstGeom>
        </p:spPr>
      </p:pic>
      <p:sp>
        <p:nvSpPr>
          <p:cNvPr id="16" name="Text 11"/>
          <p:cNvSpPr txBox="1"/>
          <p:nvPr/>
        </p:nvSpPr>
        <p:spPr>
          <a:xfrm>
            <a:off x="3337560" y="3090672"/>
            <a:ext cx="2103120" cy="347472"/>
          </a:xfrm>
          <a:prstGeom prst="rect">
            <a:avLst/>
          </a:prstGeom>
          <a:noFill/>
          <a:ln/>
        </p:spPr>
        <p:txBody>
          <a:bodyPr wrap="square" lIns="0" tIns="0" rIns="0" bIns="0" rtlCol="0" anchor="t"/>
          <a:lstStyle/>
          <a:p>
            <a:pPr marL="0" indent="0" algn="ctr">
              <a:buNone/>
            </a:pPr>
            <a:r>
              <a:rPr lang="en-US" sz="1600" b="1" dirty="0">
                <a:solidFill>
                  <a:schemeClr val="tx2"/>
                </a:solidFill>
              </a:rPr>
              <a:t>2. Find patterns</a:t>
            </a:r>
            <a:endParaRPr lang="en-US" sz="1600" dirty="0"/>
          </a:p>
        </p:txBody>
      </p:sp>
      <p:sp>
        <p:nvSpPr>
          <p:cNvPr id="17" name="Text 12"/>
          <p:cNvSpPr txBox="1"/>
          <p:nvPr/>
        </p:nvSpPr>
        <p:spPr>
          <a:xfrm>
            <a:off x="3383280" y="3474720"/>
            <a:ext cx="2011680" cy="548640"/>
          </a:xfrm>
          <a:prstGeom prst="rect">
            <a:avLst/>
          </a:prstGeom>
          <a:noFill/>
          <a:ln/>
        </p:spPr>
        <p:txBody>
          <a:bodyPr wrap="square" lIns="0" tIns="0" rIns="0" bIns="0" rtlCol="0" anchor="t"/>
          <a:lstStyle/>
          <a:p>
            <a:pPr marL="0" indent="0" algn="ctr">
              <a:buNone/>
            </a:pPr>
            <a:r>
              <a:rPr lang="en-US" sz="1300" dirty="0">
                <a:solidFill>
                  <a:schemeClr val="tx1"/>
                </a:solidFill>
              </a:rPr>
              <a:t>e.g. bigger stores and busy towns → more bottles</a:t>
            </a:r>
            <a:endParaRPr lang="en-US" sz="1300" dirty="0"/>
          </a:p>
        </p:txBody>
      </p:sp>
      <p:sp>
        <p:nvSpPr>
          <p:cNvPr id="18" name="arrow"/>
          <p:cNvSpPr/>
          <p:nvPr/>
        </p:nvSpPr>
        <p:spPr>
          <a:xfrm>
            <a:off x="5623560" y="3017520"/>
            <a:ext cx="274320" cy="320040"/>
          </a:xfrm>
          <a:prstGeom prst="rightArrow">
            <a:avLst/>
          </a:prstGeom>
          <a:solidFill>
            <a:schemeClr val="accent1"/>
          </a:solidFill>
          <a:ln w="12700">
            <a:solidFill>
              <a:schemeClr val="accent1"/>
            </a:solidFill>
            <a:prstDash val="solid"/>
          </a:ln>
        </p:spPr>
        <p:txBody>
          <a:bodyPr/>
          <a:lstStyle/>
          <a:p>
            <a:endParaRPr lang="it-IT"/>
          </a:p>
        </p:txBody>
      </p:sp>
      <p:sp>
        <p:nvSpPr>
          <p:cNvPr id="19" name="card"/>
          <p:cNvSpPr/>
          <p:nvPr/>
        </p:nvSpPr>
        <p:spPr>
          <a:xfrm>
            <a:off x="5943600" y="2194560"/>
            <a:ext cx="2377440" cy="1965960"/>
          </a:xfrm>
          <a:prstGeom prst="roundRect">
            <a:avLst>
              <a:gd name="adj" fmla="val 37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0" name="icon circle FaChartLine"/>
          <p:cNvSpPr/>
          <p:nvPr/>
        </p:nvSpPr>
        <p:spPr>
          <a:xfrm>
            <a:off x="6812280" y="2331720"/>
            <a:ext cx="640080" cy="640080"/>
          </a:xfrm>
          <a:prstGeom prst="ellipse">
            <a:avLst/>
          </a:prstGeom>
          <a:solidFill>
            <a:srgbClr val="1E9E62"/>
          </a:solidFill>
          <a:ln w="12700">
            <a:solidFill>
              <a:srgbClr val="1E9E62"/>
            </a:solidFill>
            <a:prstDash val="solid"/>
          </a:ln>
        </p:spPr>
        <p:txBody>
          <a:bodyPr/>
          <a:lstStyle/>
          <a:p>
            <a:endParaRPr lang="it-IT"/>
          </a:p>
        </p:txBody>
      </p:sp>
      <p:pic>
        <p:nvPicPr>
          <p:cNvPr id="21" name="Image 2" descr="ChartLine icon"/>
          <p:cNvPicPr>
            <a:picLocks noChangeAspect="1"/>
          </p:cNvPicPr>
          <p:nvPr/>
        </p:nvPicPr>
        <p:blipFill>
          <a:blip r:embed="rId5"/>
          <a:stretch>
            <a:fillRect/>
          </a:stretch>
        </p:blipFill>
        <p:spPr>
          <a:xfrm>
            <a:off x="6985102" y="2504542"/>
            <a:ext cx="294437" cy="294437"/>
          </a:xfrm>
          <a:prstGeom prst="rect">
            <a:avLst/>
          </a:prstGeom>
        </p:spPr>
      </p:pic>
      <p:sp>
        <p:nvSpPr>
          <p:cNvPr id="22" name="Text 16"/>
          <p:cNvSpPr txBox="1"/>
          <p:nvPr/>
        </p:nvSpPr>
        <p:spPr>
          <a:xfrm>
            <a:off x="6080760" y="3090672"/>
            <a:ext cx="2103120" cy="347472"/>
          </a:xfrm>
          <a:prstGeom prst="rect">
            <a:avLst/>
          </a:prstGeom>
          <a:noFill/>
          <a:ln/>
        </p:spPr>
        <p:txBody>
          <a:bodyPr wrap="square" lIns="0" tIns="0" rIns="0" bIns="0" rtlCol="0" anchor="t"/>
          <a:lstStyle/>
          <a:p>
            <a:pPr marL="0" indent="0" algn="ctr">
              <a:buNone/>
            </a:pPr>
            <a:r>
              <a:rPr lang="en-US" sz="1600" b="1" dirty="0">
                <a:solidFill>
                  <a:schemeClr val="tx2"/>
                </a:solidFill>
              </a:rPr>
              <a:t>3. Predict</a:t>
            </a:r>
            <a:endParaRPr lang="en-US" sz="1600" dirty="0"/>
          </a:p>
        </p:txBody>
      </p:sp>
      <p:sp>
        <p:nvSpPr>
          <p:cNvPr id="23" name="Text 17"/>
          <p:cNvSpPr txBox="1"/>
          <p:nvPr/>
        </p:nvSpPr>
        <p:spPr>
          <a:xfrm>
            <a:off x="6126480" y="3474720"/>
            <a:ext cx="2011680" cy="548640"/>
          </a:xfrm>
          <a:prstGeom prst="rect">
            <a:avLst/>
          </a:prstGeom>
          <a:noFill/>
          <a:ln/>
        </p:spPr>
        <p:txBody>
          <a:bodyPr wrap="square" lIns="0" tIns="0" rIns="0" bIns="0" rtlCol="0" anchor="t"/>
          <a:lstStyle/>
          <a:p>
            <a:pPr marL="0" indent="0" algn="ctr">
              <a:buNone/>
            </a:pPr>
            <a:r>
              <a:rPr lang="en-US" sz="1300" dirty="0">
                <a:solidFill>
                  <a:schemeClr val="tx1"/>
                </a:solidFill>
              </a:rPr>
              <a:t>Estimate bottles for a new store</a:t>
            </a:r>
            <a:endParaRPr lang="en-US" sz="1300" dirty="0"/>
          </a:p>
        </p:txBody>
      </p:sp>
      <p:sp>
        <p:nvSpPr>
          <p:cNvPr id="24"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25" name="Image 3" descr="idea icon"/>
          <p:cNvPicPr>
            <a:picLocks noChangeAspect="1"/>
          </p:cNvPicPr>
          <p:nvPr/>
        </p:nvPicPr>
        <p:blipFill>
          <a:blip r:embed="rId6"/>
          <a:stretch>
            <a:fillRect/>
          </a:stretch>
        </p:blipFill>
        <p:spPr>
          <a:xfrm>
            <a:off x="594360" y="4462272"/>
            <a:ext cx="274320" cy="274320"/>
          </a:xfrm>
          <a:prstGeom prst="rect">
            <a:avLst/>
          </a:prstGeom>
        </p:spPr>
      </p:pic>
      <p:sp>
        <p:nvSpPr>
          <p:cNvPr id="26" name="Text 19"/>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like an experienced manager who has seen thousands of stores and can guess well how a new one will do.</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TAB 1 · EVALUATE A STORE</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Evaluate a store in four simple steps</a:t>
            </a:r>
            <a:endParaRPr lang="en-US" sz="2800" dirty="0"/>
          </a:p>
        </p:txBody>
      </p:sp>
      <p:sp>
        <p:nvSpPr>
          <p:cNvPr id="5" name="card"/>
          <p:cNvSpPr/>
          <p:nvPr/>
        </p:nvSpPr>
        <p:spPr>
          <a:xfrm>
            <a:off x="457200" y="1234440"/>
            <a:ext cx="1828800" cy="1572768"/>
          </a:xfrm>
          <a:prstGeom prst="roundRect">
            <a:avLst>
              <a:gd name="adj" fmla="val 465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6" name="icon circle FaMapMarkerAlt"/>
          <p:cNvSpPr/>
          <p:nvPr/>
        </p:nvSpPr>
        <p:spPr>
          <a:xfrm>
            <a:off x="621792" y="1362456"/>
            <a:ext cx="411480" cy="411480"/>
          </a:xfrm>
          <a:prstGeom prst="ellipse">
            <a:avLst/>
          </a:prstGeom>
          <a:solidFill>
            <a:srgbClr val="0B3D2E"/>
          </a:solidFill>
          <a:ln w="12700">
            <a:solidFill>
              <a:srgbClr val="0B3D2E"/>
            </a:solidFill>
            <a:prstDash val="solid"/>
          </a:ln>
        </p:spPr>
        <p:txBody>
          <a:bodyPr/>
          <a:lstStyle/>
          <a:p>
            <a:endParaRPr lang="it-IT"/>
          </a:p>
        </p:txBody>
      </p:sp>
      <p:pic>
        <p:nvPicPr>
          <p:cNvPr id="7" name="Image 0" descr="MapMarkerAlt icon"/>
          <p:cNvPicPr>
            <a:picLocks noChangeAspect="1"/>
          </p:cNvPicPr>
          <p:nvPr/>
        </p:nvPicPr>
        <p:blipFill>
          <a:blip r:embed="rId3"/>
          <a:stretch>
            <a:fillRect/>
          </a:stretch>
        </p:blipFill>
        <p:spPr>
          <a:xfrm>
            <a:off x="732892" y="1473556"/>
            <a:ext cx="189281" cy="189281"/>
          </a:xfrm>
          <a:prstGeom prst="rect">
            <a:avLst/>
          </a:prstGeom>
        </p:spPr>
      </p:pic>
      <p:sp>
        <p:nvSpPr>
          <p:cNvPr id="8" name="Text 4"/>
          <p:cNvSpPr txBox="1"/>
          <p:nvPr/>
        </p:nvSpPr>
        <p:spPr>
          <a:xfrm>
            <a:off x="621792" y="1856232"/>
            <a:ext cx="1554480" cy="201168"/>
          </a:xfrm>
          <a:prstGeom prst="rect">
            <a:avLst/>
          </a:prstGeom>
          <a:noFill/>
          <a:ln/>
        </p:spPr>
        <p:txBody>
          <a:bodyPr wrap="square" lIns="0" tIns="0" rIns="0" bIns="0" rtlCol="0" anchor="t"/>
          <a:lstStyle/>
          <a:p>
            <a:pPr marL="0" indent="0">
              <a:buNone/>
            </a:pPr>
            <a:r>
              <a:rPr lang="en-US" sz="1000" b="1" kern="0" spc="100" dirty="0">
                <a:solidFill>
                  <a:srgbClr val="1E9E62"/>
                </a:solidFill>
              </a:rPr>
              <a:t>STEP 1</a:t>
            </a:r>
            <a:endParaRPr lang="en-US" sz="1000" dirty="0"/>
          </a:p>
        </p:txBody>
      </p:sp>
      <p:sp>
        <p:nvSpPr>
          <p:cNvPr id="9" name="Text 5"/>
          <p:cNvSpPr txBox="1"/>
          <p:nvPr/>
        </p:nvSpPr>
        <p:spPr>
          <a:xfrm>
            <a:off x="621792" y="2057400"/>
            <a:ext cx="1554480" cy="292608"/>
          </a:xfrm>
          <a:prstGeom prst="rect">
            <a:avLst/>
          </a:prstGeom>
          <a:noFill/>
          <a:ln/>
        </p:spPr>
        <p:txBody>
          <a:bodyPr wrap="square" lIns="0" tIns="0" rIns="0" bIns="0" rtlCol="0" anchor="t"/>
          <a:lstStyle/>
          <a:p>
            <a:pPr marL="0" indent="0">
              <a:buNone/>
            </a:pPr>
            <a:r>
              <a:rPr lang="en-US" sz="1500" b="1" dirty="0">
                <a:solidFill>
                  <a:schemeClr val="tx2"/>
                </a:solidFill>
              </a:rPr>
              <a:t>Location</a:t>
            </a:r>
            <a:endParaRPr lang="en-US" sz="1500" dirty="0"/>
          </a:p>
        </p:txBody>
      </p:sp>
      <p:sp>
        <p:nvSpPr>
          <p:cNvPr id="10" name="Text 6"/>
          <p:cNvSpPr txBox="1"/>
          <p:nvPr/>
        </p:nvSpPr>
        <p:spPr>
          <a:xfrm>
            <a:off x="621792" y="2359152"/>
            <a:ext cx="1600200" cy="365760"/>
          </a:xfrm>
          <a:prstGeom prst="rect">
            <a:avLst/>
          </a:prstGeom>
          <a:noFill/>
          <a:ln/>
        </p:spPr>
        <p:txBody>
          <a:bodyPr wrap="square" lIns="0" tIns="0" rIns="0" bIns="0" rtlCol="0" anchor="t"/>
          <a:lstStyle/>
          <a:p>
            <a:pPr marL="0" indent="0">
              <a:buNone/>
            </a:pPr>
            <a:r>
              <a:rPr lang="en-US" sz="1200" dirty="0">
                <a:solidFill>
                  <a:schemeClr val="tx1"/>
                </a:solidFill>
              </a:rPr>
              <a:t>Store name and address</a:t>
            </a:r>
            <a:endParaRPr lang="en-US" sz="1200" dirty="0"/>
          </a:p>
        </p:txBody>
      </p:sp>
      <p:sp>
        <p:nvSpPr>
          <p:cNvPr id="11" name="card"/>
          <p:cNvSpPr/>
          <p:nvPr/>
        </p:nvSpPr>
        <p:spPr>
          <a:xfrm>
            <a:off x="2468880" y="1234440"/>
            <a:ext cx="1828800" cy="1572768"/>
          </a:xfrm>
          <a:prstGeom prst="roundRect">
            <a:avLst>
              <a:gd name="adj" fmla="val 465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2" name="icon circle FaStore"/>
          <p:cNvSpPr/>
          <p:nvPr/>
        </p:nvSpPr>
        <p:spPr>
          <a:xfrm>
            <a:off x="2633472" y="1362456"/>
            <a:ext cx="411480" cy="411480"/>
          </a:xfrm>
          <a:prstGeom prst="ellipse">
            <a:avLst/>
          </a:prstGeom>
          <a:solidFill>
            <a:srgbClr val="0B3D2E"/>
          </a:solidFill>
          <a:ln w="12700">
            <a:solidFill>
              <a:srgbClr val="0B3D2E"/>
            </a:solidFill>
            <a:prstDash val="solid"/>
          </a:ln>
        </p:spPr>
        <p:txBody>
          <a:bodyPr/>
          <a:lstStyle/>
          <a:p>
            <a:endParaRPr lang="it-IT"/>
          </a:p>
        </p:txBody>
      </p:sp>
      <p:pic>
        <p:nvPicPr>
          <p:cNvPr id="13" name="Image 1" descr="Store icon"/>
          <p:cNvPicPr>
            <a:picLocks noChangeAspect="1"/>
          </p:cNvPicPr>
          <p:nvPr/>
        </p:nvPicPr>
        <p:blipFill>
          <a:blip r:embed="rId4"/>
          <a:stretch>
            <a:fillRect/>
          </a:stretch>
        </p:blipFill>
        <p:spPr>
          <a:xfrm>
            <a:off x="2744572" y="1473556"/>
            <a:ext cx="189281" cy="189281"/>
          </a:xfrm>
          <a:prstGeom prst="rect">
            <a:avLst/>
          </a:prstGeom>
        </p:spPr>
      </p:pic>
      <p:sp>
        <p:nvSpPr>
          <p:cNvPr id="14" name="Text 9"/>
          <p:cNvSpPr txBox="1"/>
          <p:nvPr/>
        </p:nvSpPr>
        <p:spPr>
          <a:xfrm>
            <a:off x="2633472" y="1856232"/>
            <a:ext cx="1554480" cy="201168"/>
          </a:xfrm>
          <a:prstGeom prst="rect">
            <a:avLst/>
          </a:prstGeom>
          <a:noFill/>
          <a:ln/>
        </p:spPr>
        <p:txBody>
          <a:bodyPr wrap="square" lIns="0" tIns="0" rIns="0" bIns="0" rtlCol="0" anchor="t"/>
          <a:lstStyle/>
          <a:p>
            <a:pPr marL="0" indent="0">
              <a:buNone/>
            </a:pPr>
            <a:r>
              <a:rPr lang="en-US" sz="1000" b="1" kern="0" spc="100" dirty="0">
                <a:solidFill>
                  <a:srgbClr val="1E9E62"/>
                </a:solidFill>
              </a:rPr>
              <a:t>STEP 2</a:t>
            </a:r>
            <a:endParaRPr lang="en-US" sz="1000" dirty="0"/>
          </a:p>
        </p:txBody>
      </p:sp>
      <p:sp>
        <p:nvSpPr>
          <p:cNvPr id="15" name="Text 10"/>
          <p:cNvSpPr txBox="1"/>
          <p:nvPr/>
        </p:nvSpPr>
        <p:spPr>
          <a:xfrm>
            <a:off x="2633472" y="2057400"/>
            <a:ext cx="1554480" cy="292608"/>
          </a:xfrm>
          <a:prstGeom prst="rect">
            <a:avLst/>
          </a:prstGeom>
          <a:noFill/>
          <a:ln/>
        </p:spPr>
        <p:txBody>
          <a:bodyPr wrap="square" lIns="0" tIns="0" rIns="0" bIns="0" rtlCol="0" anchor="t"/>
          <a:lstStyle/>
          <a:p>
            <a:pPr marL="0" indent="0">
              <a:buNone/>
            </a:pPr>
            <a:r>
              <a:rPr lang="en-US" sz="1500" b="1" dirty="0">
                <a:solidFill>
                  <a:schemeClr val="tx2"/>
                </a:solidFill>
              </a:rPr>
              <a:t>Store size</a:t>
            </a:r>
            <a:endParaRPr lang="en-US" sz="1500" dirty="0"/>
          </a:p>
        </p:txBody>
      </p:sp>
      <p:sp>
        <p:nvSpPr>
          <p:cNvPr id="16" name="Text 11"/>
          <p:cNvSpPr txBox="1"/>
          <p:nvPr/>
        </p:nvSpPr>
        <p:spPr>
          <a:xfrm>
            <a:off x="2633472" y="2359152"/>
            <a:ext cx="1600200" cy="365760"/>
          </a:xfrm>
          <a:prstGeom prst="rect">
            <a:avLst/>
          </a:prstGeom>
          <a:noFill/>
          <a:ln/>
        </p:spPr>
        <p:txBody>
          <a:bodyPr wrap="square" lIns="0" tIns="0" rIns="0" bIns="0" rtlCol="0" anchor="t"/>
          <a:lstStyle/>
          <a:p>
            <a:pPr marL="0" indent="0">
              <a:buNone/>
            </a:pPr>
            <a:r>
              <a:rPr lang="en-US" sz="1200" dirty="0">
                <a:solidFill>
                  <a:schemeClr val="tx1"/>
                </a:solidFill>
              </a:rPr>
              <a:t>Floor area and checkouts</a:t>
            </a:r>
            <a:endParaRPr lang="en-US" sz="1200" dirty="0"/>
          </a:p>
        </p:txBody>
      </p:sp>
      <p:sp>
        <p:nvSpPr>
          <p:cNvPr id="17" name="card"/>
          <p:cNvSpPr/>
          <p:nvPr/>
        </p:nvSpPr>
        <p:spPr>
          <a:xfrm>
            <a:off x="4480560" y="1234440"/>
            <a:ext cx="1828800" cy="1572768"/>
          </a:xfrm>
          <a:prstGeom prst="roundRect">
            <a:avLst>
              <a:gd name="adj" fmla="val 465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8" name="icon circle FaGift"/>
          <p:cNvSpPr/>
          <p:nvPr/>
        </p:nvSpPr>
        <p:spPr>
          <a:xfrm>
            <a:off x="4645152" y="1362456"/>
            <a:ext cx="411480" cy="411480"/>
          </a:xfrm>
          <a:prstGeom prst="ellipse">
            <a:avLst/>
          </a:prstGeom>
          <a:solidFill>
            <a:srgbClr val="0B3D2E"/>
          </a:solidFill>
          <a:ln w="12700">
            <a:solidFill>
              <a:srgbClr val="0B3D2E"/>
            </a:solidFill>
            <a:prstDash val="solid"/>
          </a:ln>
        </p:spPr>
        <p:txBody>
          <a:bodyPr/>
          <a:lstStyle/>
          <a:p>
            <a:endParaRPr lang="it-IT"/>
          </a:p>
        </p:txBody>
      </p:sp>
      <p:pic>
        <p:nvPicPr>
          <p:cNvPr id="19" name="Image 2" descr="Gift icon"/>
          <p:cNvPicPr>
            <a:picLocks noChangeAspect="1"/>
          </p:cNvPicPr>
          <p:nvPr/>
        </p:nvPicPr>
        <p:blipFill>
          <a:blip r:embed="rId5"/>
          <a:stretch>
            <a:fillRect/>
          </a:stretch>
        </p:blipFill>
        <p:spPr>
          <a:xfrm>
            <a:off x="4756252" y="1473556"/>
            <a:ext cx="189281" cy="189281"/>
          </a:xfrm>
          <a:prstGeom prst="rect">
            <a:avLst/>
          </a:prstGeom>
        </p:spPr>
      </p:pic>
      <p:sp>
        <p:nvSpPr>
          <p:cNvPr id="20" name="Text 14"/>
          <p:cNvSpPr txBox="1"/>
          <p:nvPr/>
        </p:nvSpPr>
        <p:spPr>
          <a:xfrm>
            <a:off x="4645152" y="1856232"/>
            <a:ext cx="1554480" cy="201168"/>
          </a:xfrm>
          <a:prstGeom prst="rect">
            <a:avLst/>
          </a:prstGeom>
          <a:noFill/>
          <a:ln/>
        </p:spPr>
        <p:txBody>
          <a:bodyPr wrap="square" lIns="0" tIns="0" rIns="0" bIns="0" rtlCol="0" anchor="t"/>
          <a:lstStyle/>
          <a:p>
            <a:pPr marL="0" indent="0">
              <a:buNone/>
            </a:pPr>
            <a:r>
              <a:rPr lang="en-US" sz="1000" b="1" kern="0" spc="100" dirty="0">
                <a:solidFill>
                  <a:srgbClr val="1E9E62"/>
                </a:solidFill>
              </a:rPr>
              <a:t>STEP 3</a:t>
            </a:r>
            <a:endParaRPr lang="en-US" sz="1000" dirty="0"/>
          </a:p>
        </p:txBody>
      </p:sp>
      <p:sp>
        <p:nvSpPr>
          <p:cNvPr id="21" name="Text 15"/>
          <p:cNvSpPr txBox="1"/>
          <p:nvPr/>
        </p:nvSpPr>
        <p:spPr>
          <a:xfrm>
            <a:off x="4645152" y="2057400"/>
            <a:ext cx="1554480" cy="292608"/>
          </a:xfrm>
          <a:prstGeom prst="rect">
            <a:avLst/>
          </a:prstGeom>
          <a:noFill/>
          <a:ln/>
        </p:spPr>
        <p:txBody>
          <a:bodyPr wrap="square" lIns="0" tIns="0" rIns="0" bIns="0" rtlCol="0" anchor="t"/>
          <a:lstStyle/>
          <a:p>
            <a:pPr marL="0" indent="0">
              <a:buNone/>
            </a:pPr>
            <a:r>
              <a:rPr lang="en-US" sz="1500" b="1" dirty="0">
                <a:solidFill>
                  <a:schemeClr val="tx2"/>
                </a:solidFill>
              </a:rPr>
              <a:t>Reward &amp; date</a:t>
            </a:r>
            <a:endParaRPr lang="en-US" sz="1500" dirty="0"/>
          </a:p>
        </p:txBody>
      </p:sp>
      <p:sp>
        <p:nvSpPr>
          <p:cNvPr id="22" name="Text 16"/>
          <p:cNvSpPr txBox="1"/>
          <p:nvPr/>
        </p:nvSpPr>
        <p:spPr>
          <a:xfrm>
            <a:off x="4645152" y="2359152"/>
            <a:ext cx="1600200" cy="365760"/>
          </a:xfrm>
          <a:prstGeom prst="rect">
            <a:avLst/>
          </a:prstGeom>
          <a:noFill/>
          <a:ln/>
        </p:spPr>
        <p:txBody>
          <a:bodyPr wrap="square" lIns="0" tIns="0" rIns="0" bIns="0" rtlCol="0" anchor="t"/>
          <a:lstStyle/>
          <a:p>
            <a:pPr marL="0" indent="0">
              <a:buNone/>
            </a:pPr>
            <a:r>
              <a:rPr lang="en-US" sz="1200" dirty="0">
                <a:solidFill>
                  <a:schemeClr val="tx1"/>
                </a:solidFill>
              </a:rPr>
              <a:t>Reward and start month</a:t>
            </a:r>
            <a:endParaRPr lang="en-US" sz="1200" dirty="0"/>
          </a:p>
        </p:txBody>
      </p:sp>
      <p:sp>
        <p:nvSpPr>
          <p:cNvPr id="23" name="card"/>
          <p:cNvSpPr/>
          <p:nvPr/>
        </p:nvSpPr>
        <p:spPr>
          <a:xfrm>
            <a:off x="6492240" y="1234440"/>
            <a:ext cx="1828800" cy="1572768"/>
          </a:xfrm>
          <a:prstGeom prst="roundRect">
            <a:avLst>
              <a:gd name="adj" fmla="val 465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4" name="icon circle FaChartLine"/>
          <p:cNvSpPr/>
          <p:nvPr/>
        </p:nvSpPr>
        <p:spPr>
          <a:xfrm>
            <a:off x="6656832" y="1362456"/>
            <a:ext cx="411480" cy="411480"/>
          </a:xfrm>
          <a:prstGeom prst="ellipse">
            <a:avLst/>
          </a:prstGeom>
          <a:solidFill>
            <a:srgbClr val="E89A0C"/>
          </a:solidFill>
          <a:ln w="12700">
            <a:solidFill>
              <a:srgbClr val="E89A0C"/>
            </a:solidFill>
            <a:prstDash val="solid"/>
          </a:ln>
        </p:spPr>
        <p:txBody>
          <a:bodyPr/>
          <a:lstStyle/>
          <a:p>
            <a:endParaRPr lang="it-IT"/>
          </a:p>
        </p:txBody>
      </p:sp>
      <p:pic>
        <p:nvPicPr>
          <p:cNvPr id="25" name="Image 3" descr="ChartLine icon"/>
          <p:cNvPicPr>
            <a:picLocks noChangeAspect="1"/>
          </p:cNvPicPr>
          <p:nvPr/>
        </p:nvPicPr>
        <p:blipFill>
          <a:blip r:embed="rId6"/>
          <a:stretch>
            <a:fillRect/>
          </a:stretch>
        </p:blipFill>
        <p:spPr>
          <a:xfrm>
            <a:off x="6767932" y="1473556"/>
            <a:ext cx="189281" cy="189281"/>
          </a:xfrm>
          <a:prstGeom prst="rect">
            <a:avLst/>
          </a:prstGeom>
        </p:spPr>
      </p:pic>
      <p:sp>
        <p:nvSpPr>
          <p:cNvPr id="26" name="Text 19"/>
          <p:cNvSpPr txBox="1"/>
          <p:nvPr/>
        </p:nvSpPr>
        <p:spPr>
          <a:xfrm>
            <a:off x="6656832" y="1856232"/>
            <a:ext cx="1554480" cy="201168"/>
          </a:xfrm>
          <a:prstGeom prst="rect">
            <a:avLst/>
          </a:prstGeom>
          <a:noFill/>
          <a:ln/>
        </p:spPr>
        <p:txBody>
          <a:bodyPr wrap="square" lIns="0" tIns="0" rIns="0" bIns="0" rtlCol="0" anchor="t"/>
          <a:lstStyle/>
          <a:p>
            <a:pPr marL="0" indent="0">
              <a:buNone/>
            </a:pPr>
            <a:r>
              <a:rPr lang="en-US" sz="1000" b="1" kern="0" spc="100" dirty="0">
                <a:solidFill>
                  <a:srgbClr val="E89A0C"/>
                </a:solidFill>
              </a:rPr>
              <a:t>STEP 4</a:t>
            </a:r>
            <a:endParaRPr lang="en-US" sz="1000" dirty="0"/>
          </a:p>
        </p:txBody>
      </p:sp>
      <p:sp>
        <p:nvSpPr>
          <p:cNvPr id="27" name="Text 20"/>
          <p:cNvSpPr txBox="1"/>
          <p:nvPr/>
        </p:nvSpPr>
        <p:spPr>
          <a:xfrm>
            <a:off x="6656832" y="2057400"/>
            <a:ext cx="1554480" cy="292608"/>
          </a:xfrm>
          <a:prstGeom prst="rect">
            <a:avLst/>
          </a:prstGeom>
          <a:noFill/>
          <a:ln/>
        </p:spPr>
        <p:txBody>
          <a:bodyPr wrap="square" lIns="0" tIns="0" rIns="0" bIns="0" rtlCol="0" anchor="t"/>
          <a:lstStyle/>
          <a:p>
            <a:pPr marL="0" indent="0">
              <a:buNone/>
            </a:pPr>
            <a:r>
              <a:rPr lang="en-US" sz="1500" b="1" dirty="0">
                <a:solidFill>
                  <a:schemeClr val="tx2"/>
                </a:solidFill>
              </a:rPr>
              <a:t>Forecast</a:t>
            </a:r>
            <a:endParaRPr lang="en-US" sz="1500" dirty="0"/>
          </a:p>
        </p:txBody>
      </p:sp>
      <p:sp>
        <p:nvSpPr>
          <p:cNvPr id="28" name="Text 21"/>
          <p:cNvSpPr txBox="1"/>
          <p:nvPr/>
        </p:nvSpPr>
        <p:spPr>
          <a:xfrm>
            <a:off x="6656832" y="2359152"/>
            <a:ext cx="1600200" cy="365760"/>
          </a:xfrm>
          <a:prstGeom prst="rect">
            <a:avLst/>
          </a:prstGeom>
          <a:noFill/>
          <a:ln/>
        </p:spPr>
        <p:txBody>
          <a:bodyPr wrap="square" lIns="0" tIns="0" rIns="0" bIns="0" rtlCol="0" anchor="t"/>
          <a:lstStyle/>
          <a:p>
            <a:pPr marL="0" indent="0">
              <a:buNone/>
            </a:pPr>
            <a:r>
              <a:rPr lang="en-US" sz="1200" dirty="0">
                <a:solidFill>
                  <a:schemeClr val="tx1"/>
                </a:solidFill>
              </a:rPr>
              <a:t>Full results for the store</a:t>
            </a:r>
            <a:endParaRPr lang="en-US" sz="1200" dirty="0"/>
          </a:p>
        </p:txBody>
      </p:sp>
      <p:sp>
        <p:nvSpPr>
          <p:cNvPr id="29" name="card"/>
          <p:cNvSpPr/>
          <p:nvPr/>
        </p:nvSpPr>
        <p:spPr>
          <a:xfrm>
            <a:off x="457200" y="2944368"/>
            <a:ext cx="3840480" cy="1261872"/>
          </a:xfrm>
          <a:prstGeom prst="roundRect">
            <a:avLst>
              <a:gd name="adj" fmla="val 5797"/>
            </a:avLst>
          </a:prstGeom>
          <a:solidFill>
            <a:schemeClr val="bg2"/>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30" name="Text 23"/>
          <p:cNvSpPr txBox="1"/>
          <p:nvPr/>
        </p:nvSpPr>
        <p:spPr>
          <a:xfrm>
            <a:off x="621792" y="3017520"/>
            <a:ext cx="3566160" cy="219456"/>
          </a:xfrm>
          <a:prstGeom prst="rect">
            <a:avLst/>
          </a:prstGeom>
          <a:noFill/>
          <a:ln/>
        </p:spPr>
        <p:txBody>
          <a:bodyPr wrap="square" lIns="0" tIns="0" rIns="0" bIns="0" rtlCol="0" anchor="t"/>
          <a:lstStyle/>
          <a:p>
            <a:pPr marL="0" indent="0">
              <a:buNone/>
            </a:pPr>
            <a:r>
              <a:rPr lang="en-US" sz="1000" b="1" kern="0" spc="100" dirty="0">
                <a:solidFill>
                  <a:schemeClr val="accent1"/>
                </a:solidFill>
              </a:rPr>
              <a:t>HOW THE LOCATION IS FOUND</a:t>
            </a:r>
            <a:endParaRPr lang="en-US" sz="1000" dirty="0"/>
          </a:p>
        </p:txBody>
      </p:sp>
      <p:sp>
        <p:nvSpPr>
          <p:cNvPr id="31" name="tier chip"/>
          <p:cNvSpPr/>
          <p:nvPr/>
        </p:nvSpPr>
        <p:spPr>
          <a:xfrm>
            <a:off x="621792" y="3310128"/>
            <a:ext cx="292608" cy="182880"/>
          </a:xfrm>
          <a:prstGeom prst="roundRect">
            <a:avLst>
              <a:gd name="adj" fmla="val 25000"/>
            </a:avLst>
          </a:prstGeom>
          <a:solidFill>
            <a:srgbClr val="0B3D2E"/>
          </a:solidFill>
          <a:ln w="12700">
            <a:solidFill>
              <a:srgbClr val="0B3D2E"/>
            </a:solidFill>
            <a:prstDash val="solid"/>
          </a:ln>
        </p:spPr>
        <p:txBody>
          <a:bodyPr/>
          <a:lstStyle/>
          <a:p>
            <a:endParaRPr lang="it-IT"/>
          </a:p>
        </p:txBody>
      </p:sp>
      <p:sp>
        <p:nvSpPr>
          <p:cNvPr id="32" name="Text 25"/>
          <p:cNvSpPr txBox="1"/>
          <p:nvPr/>
        </p:nvSpPr>
        <p:spPr>
          <a:xfrm>
            <a:off x="621792" y="3310128"/>
            <a:ext cx="292608" cy="182880"/>
          </a:xfrm>
          <a:prstGeom prst="rect">
            <a:avLst/>
          </a:prstGeom>
          <a:noFill/>
          <a:ln/>
        </p:spPr>
        <p:txBody>
          <a:bodyPr wrap="square" lIns="0" tIns="0" rIns="0" bIns="0" rtlCol="0" anchor="ctr"/>
          <a:lstStyle/>
          <a:p>
            <a:pPr marL="0" indent="0" algn="ctr">
              <a:buNone/>
            </a:pPr>
            <a:r>
              <a:rPr lang="en-US" sz="900" b="1" dirty="0">
                <a:solidFill>
                  <a:schemeClr val="bg1"/>
                </a:solidFill>
              </a:rPr>
              <a:t>1</a:t>
            </a:r>
            <a:endParaRPr lang="en-US" sz="900" dirty="0"/>
          </a:p>
        </p:txBody>
      </p:sp>
      <p:sp>
        <p:nvSpPr>
          <p:cNvPr id="33" name="Text 26"/>
          <p:cNvSpPr txBox="1"/>
          <p:nvPr/>
        </p:nvSpPr>
        <p:spPr>
          <a:xfrm>
            <a:off x="1005840" y="3291840"/>
            <a:ext cx="3200400" cy="219456"/>
          </a:xfrm>
          <a:prstGeom prst="rect">
            <a:avLst/>
          </a:prstGeom>
          <a:noFill/>
          <a:ln/>
        </p:spPr>
        <p:txBody>
          <a:bodyPr wrap="square" lIns="0" tIns="0" rIns="0" bIns="0" rtlCol="0" anchor="ctr"/>
          <a:lstStyle/>
          <a:p>
            <a:pPr marL="0" indent="0">
              <a:buNone/>
            </a:pPr>
            <a:r>
              <a:rPr lang="en-US" sz="1100" dirty="0">
                <a:solidFill>
                  <a:schemeClr val="tx1"/>
                </a:solidFill>
              </a:rPr>
              <a:t>Exact postal code + town match</a:t>
            </a:r>
            <a:endParaRPr lang="en-US" sz="1100" dirty="0"/>
          </a:p>
        </p:txBody>
      </p:sp>
      <p:sp>
        <p:nvSpPr>
          <p:cNvPr id="34" name="tier chip"/>
          <p:cNvSpPr/>
          <p:nvPr/>
        </p:nvSpPr>
        <p:spPr>
          <a:xfrm>
            <a:off x="621792" y="3534156"/>
            <a:ext cx="292608" cy="182880"/>
          </a:xfrm>
          <a:prstGeom prst="roundRect">
            <a:avLst>
              <a:gd name="adj" fmla="val 25000"/>
            </a:avLst>
          </a:prstGeom>
          <a:solidFill>
            <a:srgbClr val="0B3D2E"/>
          </a:solidFill>
          <a:ln w="12700">
            <a:solidFill>
              <a:srgbClr val="0B3D2E"/>
            </a:solidFill>
            <a:prstDash val="solid"/>
          </a:ln>
        </p:spPr>
        <p:txBody>
          <a:bodyPr/>
          <a:lstStyle/>
          <a:p>
            <a:endParaRPr lang="it-IT"/>
          </a:p>
        </p:txBody>
      </p:sp>
      <p:sp>
        <p:nvSpPr>
          <p:cNvPr id="35" name="Text 28"/>
          <p:cNvSpPr txBox="1"/>
          <p:nvPr/>
        </p:nvSpPr>
        <p:spPr>
          <a:xfrm>
            <a:off x="621792" y="3534156"/>
            <a:ext cx="292608" cy="182880"/>
          </a:xfrm>
          <a:prstGeom prst="rect">
            <a:avLst/>
          </a:prstGeom>
          <a:noFill/>
          <a:ln/>
        </p:spPr>
        <p:txBody>
          <a:bodyPr wrap="square" lIns="0" tIns="0" rIns="0" bIns="0" rtlCol="0" anchor="ctr"/>
          <a:lstStyle/>
          <a:p>
            <a:pPr marL="0" indent="0" algn="ctr">
              <a:buNone/>
            </a:pPr>
            <a:r>
              <a:rPr lang="en-US" sz="900" b="1" dirty="0">
                <a:solidFill>
                  <a:schemeClr val="bg1"/>
                </a:solidFill>
              </a:rPr>
              <a:t>2</a:t>
            </a:r>
            <a:endParaRPr lang="en-US" sz="900" dirty="0"/>
          </a:p>
        </p:txBody>
      </p:sp>
      <p:sp>
        <p:nvSpPr>
          <p:cNvPr id="36" name="Text 29"/>
          <p:cNvSpPr txBox="1"/>
          <p:nvPr/>
        </p:nvSpPr>
        <p:spPr>
          <a:xfrm>
            <a:off x="1005840" y="3515868"/>
            <a:ext cx="3200400" cy="219456"/>
          </a:xfrm>
          <a:prstGeom prst="rect">
            <a:avLst/>
          </a:prstGeom>
          <a:noFill/>
          <a:ln/>
        </p:spPr>
        <p:txBody>
          <a:bodyPr wrap="square" lIns="0" tIns="0" rIns="0" bIns="0" rtlCol="0" anchor="ctr"/>
          <a:lstStyle/>
          <a:p>
            <a:pPr marL="0" indent="0">
              <a:buNone/>
            </a:pPr>
            <a:r>
              <a:rPr lang="en-US" sz="1100" dirty="0">
                <a:solidFill>
                  <a:schemeClr val="tx1"/>
                </a:solidFill>
              </a:rPr>
              <a:t>Town centre on the map</a:t>
            </a:r>
            <a:endParaRPr lang="en-US" sz="1100" dirty="0"/>
          </a:p>
        </p:txBody>
      </p:sp>
      <p:sp>
        <p:nvSpPr>
          <p:cNvPr id="37" name="tier chip"/>
          <p:cNvSpPr/>
          <p:nvPr/>
        </p:nvSpPr>
        <p:spPr>
          <a:xfrm>
            <a:off x="621792" y="3758184"/>
            <a:ext cx="292608" cy="182880"/>
          </a:xfrm>
          <a:prstGeom prst="roundRect">
            <a:avLst>
              <a:gd name="adj" fmla="val 25000"/>
            </a:avLst>
          </a:prstGeom>
          <a:solidFill>
            <a:srgbClr val="0B3D2E"/>
          </a:solidFill>
          <a:ln w="12700">
            <a:solidFill>
              <a:srgbClr val="0B3D2E"/>
            </a:solidFill>
            <a:prstDash val="solid"/>
          </a:ln>
        </p:spPr>
        <p:txBody>
          <a:bodyPr/>
          <a:lstStyle/>
          <a:p>
            <a:endParaRPr lang="it-IT"/>
          </a:p>
        </p:txBody>
      </p:sp>
      <p:sp>
        <p:nvSpPr>
          <p:cNvPr id="38" name="Text 31"/>
          <p:cNvSpPr txBox="1"/>
          <p:nvPr/>
        </p:nvSpPr>
        <p:spPr>
          <a:xfrm>
            <a:off x="621792" y="3758184"/>
            <a:ext cx="292608" cy="182880"/>
          </a:xfrm>
          <a:prstGeom prst="rect">
            <a:avLst/>
          </a:prstGeom>
          <a:noFill/>
          <a:ln/>
        </p:spPr>
        <p:txBody>
          <a:bodyPr wrap="square" lIns="0" tIns="0" rIns="0" bIns="0" rtlCol="0" anchor="ctr"/>
          <a:lstStyle/>
          <a:p>
            <a:pPr marL="0" indent="0" algn="ctr">
              <a:buNone/>
            </a:pPr>
            <a:r>
              <a:rPr lang="en-US" sz="900" b="1" dirty="0">
                <a:solidFill>
                  <a:schemeClr val="bg1"/>
                </a:solidFill>
              </a:rPr>
              <a:t>3</a:t>
            </a:r>
            <a:endParaRPr lang="en-US" sz="900" dirty="0"/>
          </a:p>
        </p:txBody>
      </p:sp>
      <p:sp>
        <p:nvSpPr>
          <p:cNvPr id="39" name="Text 32"/>
          <p:cNvSpPr txBox="1"/>
          <p:nvPr/>
        </p:nvSpPr>
        <p:spPr>
          <a:xfrm>
            <a:off x="1005840" y="3739896"/>
            <a:ext cx="3200400" cy="219456"/>
          </a:xfrm>
          <a:prstGeom prst="rect">
            <a:avLst/>
          </a:prstGeom>
          <a:noFill/>
          <a:ln/>
        </p:spPr>
        <p:txBody>
          <a:bodyPr wrap="square" lIns="0" tIns="0" rIns="0" bIns="0" rtlCol="0" anchor="ctr"/>
          <a:lstStyle/>
          <a:p>
            <a:pPr marL="0" indent="0">
              <a:buNone/>
            </a:pPr>
            <a:r>
              <a:rPr lang="en-US" sz="1100" dirty="0">
                <a:solidFill>
                  <a:schemeClr val="tx1"/>
                </a:solidFill>
              </a:rPr>
              <a:t>Town registry lookup</a:t>
            </a:r>
            <a:endParaRPr lang="en-US" sz="1100" dirty="0"/>
          </a:p>
        </p:txBody>
      </p:sp>
      <p:sp>
        <p:nvSpPr>
          <p:cNvPr id="40" name="tier chip"/>
          <p:cNvSpPr/>
          <p:nvPr/>
        </p:nvSpPr>
        <p:spPr>
          <a:xfrm>
            <a:off x="621792" y="3982212"/>
            <a:ext cx="292608" cy="182880"/>
          </a:xfrm>
          <a:prstGeom prst="roundRect">
            <a:avLst>
              <a:gd name="adj" fmla="val 25000"/>
            </a:avLst>
          </a:prstGeom>
          <a:solidFill>
            <a:srgbClr val="0B3D2E"/>
          </a:solidFill>
          <a:ln w="12700">
            <a:solidFill>
              <a:srgbClr val="0B3D2E"/>
            </a:solidFill>
            <a:prstDash val="solid"/>
          </a:ln>
        </p:spPr>
        <p:txBody>
          <a:bodyPr/>
          <a:lstStyle/>
          <a:p>
            <a:endParaRPr lang="it-IT"/>
          </a:p>
        </p:txBody>
      </p:sp>
      <p:sp>
        <p:nvSpPr>
          <p:cNvPr id="41" name="Text 34"/>
          <p:cNvSpPr txBox="1"/>
          <p:nvPr/>
        </p:nvSpPr>
        <p:spPr>
          <a:xfrm>
            <a:off x="621792" y="3982212"/>
            <a:ext cx="292608" cy="182880"/>
          </a:xfrm>
          <a:prstGeom prst="rect">
            <a:avLst/>
          </a:prstGeom>
          <a:noFill/>
          <a:ln/>
        </p:spPr>
        <p:txBody>
          <a:bodyPr wrap="square" lIns="0" tIns="0" rIns="0" bIns="0" rtlCol="0" anchor="ctr"/>
          <a:lstStyle/>
          <a:p>
            <a:pPr marL="0" indent="0" algn="ctr">
              <a:buNone/>
            </a:pPr>
            <a:r>
              <a:rPr lang="en-US" sz="900" b="1" dirty="0">
                <a:solidFill>
                  <a:schemeClr val="bg1"/>
                </a:solidFill>
              </a:rPr>
              <a:t>4</a:t>
            </a:r>
            <a:endParaRPr lang="en-US" sz="900" dirty="0"/>
          </a:p>
        </p:txBody>
      </p:sp>
      <p:sp>
        <p:nvSpPr>
          <p:cNvPr id="42" name="Text 35"/>
          <p:cNvSpPr txBox="1"/>
          <p:nvPr/>
        </p:nvSpPr>
        <p:spPr>
          <a:xfrm>
            <a:off x="1005840" y="3963924"/>
            <a:ext cx="3200400" cy="219456"/>
          </a:xfrm>
          <a:prstGeom prst="rect">
            <a:avLst/>
          </a:prstGeom>
          <a:noFill/>
          <a:ln/>
        </p:spPr>
        <p:txBody>
          <a:bodyPr wrap="square" lIns="0" tIns="0" rIns="0" bIns="0" rtlCol="0" anchor="ctr"/>
          <a:lstStyle/>
          <a:p>
            <a:pPr marL="0" indent="0">
              <a:buNone/>
            </a:pPr>
            <a:r>
              <a:rPr lang="en-US" sz="1100" dirty="0">
                <a:solidFill>
                  <a:schemeClr val="tx1"/>
                </a:solidFill>
              </a:rPr>
              <a:t>National average (last resort)</a:t>
            </a:r>
            <a:endParaRPr lang="en-US" sz="1100" dirty="0"/>
          </a:p>
        </p:txBody>
      </p:sp>
      <p:sp>
        <p:nvSpPr>
          <p:cNvPr id="43" name="auto facts"/>
          <p:cNvSpPr/>
          <p:nvPr/>
        </p:nvSpPr>
        <p:spPr>
          <a:xfrm>
            <a:off x="4480560" y="2944368"/>
            <a:ext cx="3840480" cy="1261872"/>
          </a:xfrm>
          <a:prstGeom prst="roundRect">
            <a:avLst>
              <a:gd name="adj" fmla="val 5797"/>
            </a:avLst>
          </a:prstGeom>
          <a:solidFill>
            <a:srgbClr val="0B3D2E"/>
          </a:solidFill>
          <a:ln w="12700">
            <a:solidFill>
              <a:srgbClr val="0B3D2E"/>
            </a:solidFill>
            <a:prstDash val="solid"/>
          </a:ln>
        </p:spPr>
        <p:txBody>
          <a:bodyPr/>
          <a:lstStyle/>
          <a:p>
            <a:endParaRPr lang="it-IT"/>
          </a:p>
        </p:txBody>
      </p:sp>
      <p:sp>
        <p:nvSpPr>
          <p:cNvPr id="44" name="Text 37"/>
          <p:cNvSpPr txBox="1"/>
          <p:nvPr/>
        </p:nvSpPr>
        <p:spPr>
          <a:xfrm>
            <a:off x="4645152" y="3017520"/>
            <a:ext cx="3566160" cy="219456"/>
          </a:xfrm>
          <a:prstGeom prst="rect">
            <a:avLst/>
          </a:prstGeom>
          <a:noFill/>
          <a:ln/>
        </p:spPr>
        <p:txBody>
          <a:bodyPr wrap="square" lIns="0" tIns="0" rIns="0" bIns="0" rtlCol="0" anchor="t"/>
          <a:lstStyle/>
          <a:p>
            <a:pPr marL="0" indent="0">
              <a:buNone/>
            </a:pPr>
            <a:r>
              <a:rPr lang="en-US" sz="1000" b="1" kern="0" spc="100" dirty="0">
                <a:solidFill>
                  <a:srgbClr val="F2B84B"/>
                </a:solidFill>
              </a:rPr>
              <a:t>ADDED AUTOMATICALLY</a:t>
            </a:r>
            <a:endParaRPr lang="en-US" sz="1000" dirty="0"/>
          </a:p>
        </p:txBody>
      </p:sp>
      <p:sp>
        <p:nvSpPr>
          <p:cNvPr id="45" name="Text 38"/>
          <p:cNvSpPr txBox="1"/>
          <p:nvPr/>
        </p:nvSpPr>
        <p:spPr>
          <a:xfrm>
            <a:off x="4645152" y="3291840"/>
            <a:ext cx="1783080" cy="8686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bg1"/>
                </a:solidFill>
              </a:rPr>
              <a:t>Population</a:t>
            </a:r>
            <a:endParaRPr lang="en-US" sz="1100" dirty="0"/>
          </a:p>
          <a:p>
            <a:pPr marL="342900" indent="-342900">
              <a:spcAft>
                <a:spcPts val="300"/>
              </a:spcAft>
              <a:buSzPct val="100000"/>
              <a:buChar char="•"/>
            </a:pPr>
            <a:r>
              <a:rPr lang="en-US" sz="1100" dirty="0">
                <a:solidFill>
                  <a:schemeClr val="bg1"/>
                </a:solidFill>
              </a:rPr>
              <a:t>Area (km²)</a:t>
            </a:r>
            <a:endParaRPr lang="en-US" sz="1100" dirty="0"/>
          </a:p>
          <a:p>
            <a:pPr marL="342900" indent="-342900">
              <a:spcAft>
                <a:spcPts val="300"/>
              </a:spcAft>
              <a:buSzPct val="100000"/>
              <a:buChar char="•"/>
            </a:pPr>
            <a:r>
              <a:rPr lang="en-US" sz="1100" dirty="0">
                <a:solidFill>
                  <a:schemeClr val="bg1"/>
                </a:solidFill>
              </a:rPr>
              <a:t>People per km²</a:t>
            </a:r>
            <a:endParaRPr lang="en-US" sz="1100" dirty="0"/>
          </a:p>
        </p:txBody>
      </p:sp>
      <p:sp>
        <p:nvSpPr>
          <p:cNvPr id="46" name="Text 39"/>
          <p:cNvSpPr txBox="1"/>
          <p:nvPr/>
        </p:nvSpPr>
        <p:spPr>
          <a:xfrm>
            <a:off x="6428232" y="3291840"/>
            <a:ext cx="1783080" cy="8686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bg1"/>
                </a:solidFill>
              </a:rPr>
              <a:t>Town GDP (PIL)</a:t>
            </a:r>
            <a:endParaRPr lang="en-US" sz="1100" dirty="0"/>
          </a:p>
          <a:p>
            <a:pPr marL="342900" indent="-342900">
              <a:spcAft>
                <a:spcPts val="300"/>
              </a:spcAft>
              <a:buSzPct val="100000"/>
              <a:buChar char="•"/>
            </a:pPr>
            <a:r>
              <a:rPr lang="en-US" sz="1100" dirty="0">
                <a:solidFill>
                  <a:schemeClr val="bg1"/>
                </a:solidFill>
              </a:rPr>
              <a:t>GDP per person</a:t>
            </a:r>
            <a:endParaRPr lang="en-US" sz="1100" dirty="0"/>
          </a:p>
          <a:p>
            <a:pPr marL="342900" indent="-342900">
              <a:spcAft>
                <a:spcPts val="300"/>
              </a:spcAft>
              <a:buSzPct val="100000"/>
              <a:buChar char="•"/>
            </a:pPr>
            <a:r>
              <a:rPr lang="en-US" sz="1100" dirty="0">
                <a:solidFill>
                  <a:schemeClr val="bg1"/>
                </a:solidFill>
              </a:rPr>
              <a:t>Store size (25,104 stores)</a:t>
            </a:r>
            <a:endParaRPr lang="en-US" sz="1100" dirty="0"/>
          </a:p>
        </p:txBody>
      </p:sp>
      <p:sp>
        <p:nvSpPr>
          <p:cNvPr id="47"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48" name="Image 4" descr="idea icon"/>
          <p:cNvPicPr>
            <a:picLocks noChangeAspect="1"/>
          </p:cNvPicPr>
          <p:nvPr/>
        </p:nvPicPr>
        <p:blipFill>
          <a:blip r:embed="rId7"/>
          <a:stretch>
            <a:fillRect/>
          </a:stretch>
        </p:blipFill>
        <p:spPr>
          <a:xfrm>
            <a:off x="594360" y="4462272"/>
            <a:ext cx="274320" cy="274320"/>
          </a:xfrm>
          <a:prstGeom prst="rect">
            <a:avLst/>
          </a:prstGeom>
        </p:spPr>
      </p:pic>
      <p:sp>
        <p:nvSpPr>
          <p:cNvPr id="49" name="Text 41"/>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type the address; the app finds the town, adds its facts and the store size by itself.</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TAB 1 · STEP 3</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What do shoppers get for their bottles?</a:t>
            </a:r>
            <a:endParaRPr lang="en-US" sz="2800" dirty="0"/>
          </a:p>
        </p:txBody>
      </p:sp>
      <p:sp>
        <p:nvSpPr>
          <p:cNvPr id="5" name="card"/>
          <p:cNvSpPr/>
          <p:nvPr/>
        </p:nvSpPr>
        <p:spPr>
          <a:xfrm>
            <a:off x="457200" y="1280160"/>
            <a:ext cx="1828800" cy="1828800"/>
          </a:xfrm>
          <a:prstGeom prst="roundRect">
            <a:avLst>
              <a:gd name="adj" fmla="val 4000"/>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6" name="icon circle FaTrophy"/>
          <p:cNvSpPr/>
          <p:nvPr/>
        </p:nvSpPr>
        <p:spPr>
          <a:xfrm>
            <a:off x="594360" y="1389888"/>
            <a:ext cx="411480" cy="411480"/>
          </a:xfrm>
          <a:prstGeom prst="ellipse">
            <a:avLst/>
          </a:prstGeom>
          <a:solidFill>
            <a:srgbClr val="7B5EA7"/>
          </a:solidFill>
          <a:ln w="12700">
            <a:solidFill>
              <a:srgbClr val="7B5EA7"/>
            </a:solidFill>
            <a:prstDash val="solid"/>
          </a:ln>
        </p:spPr>
        <p:txBody>
          <a:bodyPr/>
          <a:lstStyle/>
          <a:p>
            <a:endParaRPr lang="it-IT"/>
          </a:p>
        </p:txBody>
      </p:sp>
      <p:pic>
        <p:nvPicPr>
          <p:cNvPr id="7" name="Image 0" descr="Trophy icon"/>
          <p:cNvPicPr>
            <a:picLocks noChangeAspect="1"/>
          </p:cNvPicPr>
          <p:nvPr/>
        </p:nvPicPr>
        <p:blipFill>
          <a:blip r:embed="rId3"/>
          <a:stretch>
            <a:fillRect/>
          </a:stretch>
        </p:blipFill>
        <p:spPr>
          <a:xfrm>
            <a:off x="705460" y="1500988"/>
            <a:ext cx="189281" cy="189281"/>
          </a:xfrm>
          <a:prstGeom prst="rect">
            <a:avLst/>
          </a:prstGeom>
        </p:spPr>
      </p:pic>
      <p:sp>
        <p:nvSpPr>
          <p:cNvPr id="8" name="Text 4"/>
          <p:cNvSpPr txBox="1"/>
          <p:nvPr/>
        </p:nvSpPr>
        <p:spPr>
          <a:xfrm>
            <a:off x="1078992" y="1389888"/>
            <a:ext cx="1161288" cy="411480"/>
          </a:xfrm>
          <a:prstGeom prst="rect">
            <a:avLst/>
          </a:prstGeom>
          <a:noFill/>
          <a:ln/>
        </p:spPr>
        <p:txBody>
          <a:bodyPr wrap="square" lIns="0" tIns="0" rIns="0" bIns="0" rtlCol="0" anchor="ctr"/>
          <a:lstStyle/>
          <a:p>
            <a:pPr marL="0" indent="0">
              <a:buNone/>
            </a:pPr>
            <a:r>
              <a:rPr lang="en-US" sz="1300" b="1" dirty="0">
                <a:solidFill>
                  <a:schemeClr val="tx2"/>
                </a:solidFill>
              </a:rPr>
              <a:t>Loyalty points</a:t>
            </a:r>
            <a:endParaRPr lang="en-US" sz="1300" dirty="0"/>
          </a:p>
        </p:txBody>
      </p:sp>
      <p:sp>
        <p:nvSpPr>
          <p:cNvPr id="9" name="Text 5"/>
          <p:cNvSpPr txBox="1"/>
          <p:nvPr/>
        </p:nvSpPr>
        <p:spPr>
          <a:xfrm>
            <a:off x="621792" y="1883664"/>
            <a:ext cx="1600200" cy="384048"/>
          </a:xfrm>
          <a:prstGeom prst="rect">
            <a:avLst/>
          </a:prstGeom>
          <a:noFill/>
          <a:ln/>
        </p:spPr>
        <p:txBody>
          <a:bodyPr wrap="square" lIns="0" tIns="0" rIns="0" bIns="0" rtlCol="0" anchor="t"/>
          <a:lstStyle/>
          <a:p>
            <a:pPr marL="0" indent="0">
              <a:buNone/>
            </a:pPr>
            <a:r>
              <a:rPr lang="en-US" sz="2200" b="1" dirty="0">
                <a:solidFill>
                  <a:schemeClr val="accent1"/>
                </a:solidFill>
              </a:rPr>
              <a:t>+35–45%</a:t>
            </a:r>
            <a:endParaRPr lang="en-US" sz="2200" dirty="0"/>
          </a:p>
        </p:txBody>
      </p:sp>
      <p:sp>
        <p:nvSpPr>
          <p:cNvPr id="10" name="Text 6"/>
          <p:cNvSpPr txBox="1"/>
          <p:nvPr/>
        </p:nvSpPr>
        <p:spPr>
          <a:xfrm>
            <a:off x="621792" y="2258568"/>
            <a:ext cx="1600200" cy="219456"/>
          </a:xfrm>
          <a:prstGeom prst="rect">
            <a:avLst/>
          </a:prstGeom>
          <a:noFill/>
          <a:ln/>
        </p:spPr>
        <p:txBody>
          <a:bodyPr wrap="square" lIns="0" tIns="0" rIns="0" bIns="0" rtlCol="0" anchor="t"/>
          <a:lstStyle/>
          <a:p>
            <a:pPr marL="0" indent="0">
              <a:buNone/>
            </a:pPr>
            <a:r>
              <a:rPr lang="en-US" sz="1100" dirty="0">
                <a:solidFill>
                  <a:schemeClr val="accent6"/>
                </a:solidFill>
              </a:rPr>
              <a:t>more visitors</a:t>
            </a:r>
            <a:endParaRPr lang="en-US" sz="1100" dirty="0"/>
          </a:p>
        </p:txBody>
      </p:sp>
      <p:sp>
        <p:nvSpPr>
          <p:cNvPr id="11" name="Text 7"/>
          <p:cNvSpPr txBox="1"/>
          <p:nvPr/>
        </p:nvSpPr>
        <p:spPr>
          <a:xfrm>
            <a:off x="621792" y="2542032"/>
            <a:ext cx="1554480" cy="502920"/>
          </a:xfrm>
          <a:prstGeom prst="rect">
            <a:avLst/>
          </a:prstGeom>
          <a:noFill/>
          <a:ln/>
        </p:spPr>
        <p:txBody>
          <a:bodyPr wrap="square" lIns="0" tIns="0" rIns="0" bIns="0" rtlCol="0" anchor="t"/>
          <a:lstStyle/>
          <a:p>
            <a:pPr marL="0" indent="0">
              <a:buNone/>
            </a:pPr>
            <a:r>
              <a:rPr lang="en-US" sz="1100" dirty="0">
                <a:solidFill>
                  <a:schemeClr val="tx1"/>
                </a:solidFill>
              </a:rPr>
              <a:t>Points on the store card. Strongest habit.</a:t>
            </a:r>
            <a:endParaRPr lang="en-US" sz="1100" dirty="0"/>
          </a:p>
        </p:txBody>
      </p:sp>
      <p:sp>
        <p:nvSpPr>
          <p:cNvPr id="12" name="card"/>
          <p:cNvSpPr/>
          <p:nvPr/>
        </p:nvSpPr>
        <p:spPr>
          <a:xfrm>
            <a:off x="2468880" y="1280160"/>
            <a:ext cx="1828800" cy="1828800"/>
          </a:xfrm>
          <a:prstGeom prst="roundRect">
            <a:avLst>
              <a:gd name="adj" fmla="val 4000"/>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3" name="icon circle FaPercent"/>
          <p:cNvSpPr/>
          <p:nvPr/>
        </p:nvSpPr>
        <p:spPr>
          <a:xfrm>
            <a:off x="2606040" y="1389888"/>
            <a:ext cx="411480" cy="411480"/>
          </a:xfrm>
          <a:prstGeom prst="ellipse">
            <a:avLst/>
          </a:prstGeom>
          <a:solidFill>
            <a:srgbClr val="1E9E62"/>
          </a:solidFill>
          <a:ln w="12700">
            <a:solidFill>
              <a:srgbClr val="1E9E62"/>
            </a:solidFill>
            <a:prstDash val="solid"/>
          </a:ln>
        </p:spPr>
        <p:txBody>
          <a:bodyPr/>
          <a:lstStyle/>
          <a:p>
            <a:endParaRPr lang="it-IT"/>
          </a:p>
        </p:txBody>
      </p:sp>
      <p:pic>
        <p:nvPicPr>
          <p:cNvPr id="14" name="Image 1" descr="Percent icon"/>
          <p:cNvPicPr>
            <a:picLocks noChangeAspect="1"/>
          </p:cNvPicPr>
          <p:nvPr/>
        </p:nvPicPr>
        <p:blipFill>
          <a:blip r:embed="rId4"/>
          <a:stretch>
            <a:fillRect/>
          </a:stretch>
        </p:blipFill>
        <p:spPr>
          <a:xfrm>
            <a:off x="2717140" y="1500988"/>
            <a:ext cx="189281" cy="189281"/>
          </a:xfrm>
          <a:prstGeom prst="rect">
            <a:avLst/>
          </a:prstGeom>
        </p:spPr>
      </p:pic>
      <p:sp>
        <p:nvSpPr>
          <p:cNvPr id="15" name="Text 10"/>
          <p:cNvSpPr txBox="1"/>
          <p:nvPr/>
        </p:nvSpPr>
        <p:spPr>
          <a:xfrm>
            <a:off x="3090672" y="1389888"/>
            <a:ext cx="1161288" cy="411480"/>
          </a:xfrm>
          <a:prstGeom prst="rect">
            <a:avLst/>
          </a:prstGeom>
          <a:noFill/>
          <a:ln/>
        </p:spPr>
        <p:txBody>
          <a:bodyPr wrap="square" lIns="0" tIns="0" rIns="0" bIns="0" rtlCol="0" anchor="ctr"/>
          <a:lstStyle/>
          <a:p>
            <a:pPr marL="0" indent="0">
              <a:buNone/>
            </a:pPr>
            <a:r>
              <a:rPr lang="en-US" sz="1300" b="1" dirty="0">
                <a:solidFill>
                  <a:schemeClr val="tx2"/>
                </a:solidFill>
              </a:rPr>
              <a:t>Discount voucher</a:t>
            </a:r>
            <a:endParaRPr lang="en-US" sz="1300" dirty="0"/>
          </a:p>
        </p:txBody>
      </p:sp>
      <p:sp>
        <p:nvSpPr>
          <p:cNvPr id="16" name="Text 11"/>
          <p:cNvSpPr txBox="1"/>
          <p:nvPr/>
        </p:nvSpPr>
        <p:spPr>
          <a:xfrm>
            <a:off x="2633472" y="1883664"/>
            <a:ext cx="1600200" cy="384048"/>
          </a:xfrm>
          <a:prstGeom prst="rect">
            <a:avLst/>
          </a:prstGeom>
          <a:noFill/>
          <a:ln/>
        </p:spPr>
        <p:txBody>
          <a:bodyPr wrap="square" lIns="0" tIns="0" rIns="0" bIns="0" rtlCol="0" anchor="t"/>
          <a:lstStyle/>
          <a:p>
            <a:pPr marL="0" indent="0">
              <a:buNone/>
            </a:pPr>
            <a:r>
              <a:rPr lang="en-US" sz="2200" b="1" dirty="0">
                <a:solidFill>
                  <a:schemeClr val="accent1"/>
                </a:solidFill>
              </a:rPr>
              <a:t>+15–25%</a:t>
            </a:r>
            <a:endParaRPr lang="en-US" sz="2200" dirty="0"/>
          </a:p>
        </p:txBody>
      </p:sp>
      <p:sp>
        <p:nvSpPr>
          <p:cNvPr id="17" name="Text 12"/>
          <p:cNvSpPr txBox="1"/>
          <p:nvPr/>
        </p:nvSpPr>
        <p:spPr>
          <a:xfrm>
            <a:off x="2633472" y="2258568"/>
            <a:ext cx="1600200" cy="219456"/>
          </a:xfrm>
          <a:prstGeom prst="rect">
            <a:avLst/>
          </a:prstGeom>
          <a:noFill/>
          <a:ln/>
        </p:spPr>
        <p:txBody>
          <a:bodyPr wrap="square" lIns="0" tIns="0" rIns="0" bIns="0" rtlCol="0" anchor="t"/>
          <a:lstStyle/>
          <a:p>
            <a:pPr marL="0" indent="0">
              <a:buNone/>
            </a:pPr>
            <a:r>
              <a:rPr lang="en-US" sz="1100" dirty="0">
                <a:solidFill>
                  <a:schemeClr val="accent6"/>
                </a:solidFill>
              </a:rPr>
              <a:t>more bottles</a:t>
            </a:r>
            <a:endParaRPr lang="en-US" sz="1100" dirty="0"/>
          </a:p>
        </p:txBody>
      </p:sp>
      <p:sp>
        <p:nvSpPr>
          <p:cNvPr id="18" name="Text 13"/>
          <p:cNvSpPr txBox="1"/>
          <p:nvPr/>
        </p:nvSpPr>
        <p:spPr>
          <a:xfrm>
            <a:off x="2633472" y="2542032"/>
            <a:ext cx="1554480" cy="502920"/>
          </a:xfrm>
          <a:prstGeom prst="rect">
            <a:avLst/>
          </a:prstGeom>
          <a:noFill/>
          <a:ln/>
        </p:spPr>
        <p:txBody>
          <a:bodyPr wrap="square" lIns="0" tIns="0" rIns="0" bIns="0" rtlCol="0" anchor="t"/>
          <a:lstStyle/>
          <a:p>
            <a:pPr marL="0" indent="0">
              <a:buNone/>
            </a:pPr>
            <a:r>
              <a:rPr lang="en-US" sz="1100" dirty="0">
                <a:solidFill>
                  <a:schemeClr val="tx1"/>
                </a:solidFill>
              </a:rPr>
              <a:t>e.g. €3 off a €25 shop per 200 bottles.</a:t>
            </a:r>
            <a:endParaRPr lang="en-US" sz="1100" dirty="0"/>
          </a:p>
        </p:txBody>
      </p:sp>
      <p:sp>
        <p:nvSpPr>
          <p:cNvPr id="19" name="card"/>
          <p:cNvSpPr/>
          <p:nvPr/>
        </p:nvSpPr>
        <p:spPr>
          <a:xfrm>
            <a:off x="4480560" y="1280160"/>
            <a:ext cx="1828800" cy="1828800"/>
          </a:xfrm>
          <a:prstGeom prst="roundRect">
            <a:avLst>
              <a:gd name="adj" fmla="val 4000"/>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0" name="icon circle FaGift"/>
          <p:cNvSpPr/>
          <p:nvPr/>
        </p:nvSpPr>
        <p:spPr>
          <a:xfrm>
            <a:off x="4617720" y="1389888"/>
            <a:ext cx="411480" cy="411480"/>
          </a:xfrm>
          <a:prstGeom prst="ellipse">
            <a:avLst/>
          </a:prstGeom>
          <a:solidFill>
            <a:srgbClr val="E89A0C"/>
          </a:solidFill>
          <a:ln w="12700">
            <a:solidFill>
              <a:srgbClr val="E89A0C"/>
            </a:solidFill>
            <a:prstDash val="solid"/>
          </a:ln>
        </p:spPr>
        <p:txBody>
          <a:bodyPr/>
          <a:lstStyle/>
          <a:p>
            <a:endParaRPr lang="it-IT"/>
          </a:p>
        </p:txBody>
      </p:sp>
      <p:pic>
        <p:nvPicPr>
          <p:cNvPr id="21" name="Image 2" descr="Gift icon"/>
          <p:cNvPicPr>
            <a:picLocks noChangeAspect="1"/>
          </p:cNvPicPr>
          <p:nvPr/>
        </p:nvPicPr>
        <p:blipFill>
          <a:blip r:embed="rId5"/>
          <a:stretch>
            <a:fillRect/>
          </a:stretch>
        </p:blipFill>
        <p:spPr>
          <a:xfrm>
            <a:off x="4728820" y="1500988"/>
            <a:ext cx="189281" cy="189281"/>
          </a:xfrm>
          <a:prstGeom prst="rect">
            <a:avLst/>
          </a:prstGeom>
        </p:spPr>
      </p:pic>
      <p:sp>
        <p:nvSpPr>
          <p:cNvPr id="22" name="Text 16"/>
          <p:cNvSpPr txBox="1"/>
          <p:nvPr/>
        </p:nvSpPr>
        <p:spPr>
          <a:xfrm>
            <a:off x="5102352" y="1389888"/>
            <a:ext cx="1161288" cy="411480"/>
          </a:xfrm>
          <a:prstGeom prst="rect">
            <a:avLst/>
          </a:prstGeom>
          <a:noFill/>
          <a:ln/>
        </p:spPr>
        <p:txBody>
          <a:bodyPr wrap="square" lIns="0" tIns="0" rIns="0" bIns="0" rtlCol="0" anchor="ctr"/>
          <a:lstStyle/>
          <a:p>
            <a:pPr marL="0" indent="0">
              <a:buNone/>
            </a:pPr>
            <a:r>
              <a:rPr lang="en-US" sz="1300" b="1" dirty="0">
                <a:solidFill>
                  <a:schemeClr val="tx2"/>
                </a:solidFill>
              </a:rPr>
              <a:t>Free gift</a:t>
            </a:r>
            <a:endParaRPr lang="en-US" sz="1300" dirty="0"/>
          </a:p>
        </p:txBody>
      </p:sp>
      <p:sp>
        <p:nvSpPr>
          <p:cNvPr id="23" name="Text 17"/>
          <p:cNvSpPr txBox="1"/>
          <p:nvPr/>
        </p:nvSpPr>
        <p:spPr>
          <a:xfrm>
            <a:off x="4645152" y="1883664"/>
            <a:ext cx="1600200" cy="384048"/>
          </a:xfrm>
          <a:prstGeom prst="rect">
            <a:avLst/>
          </a:prstGeom>
          <a:noFill/>
          <a:ln/>
        </p:spPr>
        <p:txBody>
          <a:bodyPr wrap="square" lIns="0" tIns="0" rIns="0" bIns="0" rtlCol="0" anchor="t"/>
          <a:lstStyle/>
          <a:p>
            <a:pPr marL="0" indent="0">
              <a:buNone/>
            </a:pPr>
            <a:r>
              <a:rPr lang="en-US" sz="2200" b="1" dirty="0">
                <a:solidFill>
                  <a:schemeClr val="accent1"/>
                </a:solidFill>
              </a:rPr>
              <a:t>+10–18%</a:t>
            </a:r>
            <a:endParaRPr lang="en-US" sz="2200" dirty="0"/>
          </a:p>
        </p:txBody>
      </p:sp>
      <p:sp>
        <p:nvSpPr>
          <p:cNvPr id="24" name="Text 18"/>
          <p:cNvSpPr txBox="1"/>
          <p:nvPr/>
        </p:nvSpPr>
        <p:spPr>
          <a:xfrm>
            <a:off x="4645152" y="2258568"/>
            <a:ext cx="1600200" cy="219456"/>
          </a:xfrm>
          <a:prstGeom prst="rect">
            <a:avLst/>
          </a:prstGeom>
          <a:noFill/>
          <a:ln/>
        </p:spPr>
        <p:txBody>
          <a:bodyPr wrap="square" lIns="0" tIns="0" rIns="0" bIns="0" rtlCol="0" anchor="t"/>
          <a:lstStyle/>
          <a:p>
            <a:pPr marL="0" indent="0">
              <a:buNone/>
            </a:pPr>
            <a:r>
              <a:rPr lang="en-US" sz="1100" dirty="0">
                <a:solidFill>
                  <a:schemeClr val="accent6"/>
                </a:solidFill>
              </a:rPr>
              <a:t>more bottles</a:t>
            </a:r>
            <a:endParaRPr lang="en-US" sz="1100" dirty="0"/>
          </a:p>
        </p:txBody>
      </p:sp>
      <p:sp>
        <p:nvSpPr>
          <p:cNvPr id="25" name="Text 19"/>
          <p:cNvSpPr txBox="1"/>
          <p:nvPr/>
        </p:nvSpPr>
        <p:spPr>
          <a:xfrm>
            <a:off x="4645152" y="2542032"/>
            <a:ext cx="1554480" cy="502920"/>
          </a:xfrm>
          <a:prstGeom prst="rect">
            <a:avLst/>
          </a:prstGeom>
          <a:noFill/>
          <a:ln/>
        </p:spPr>
        <p:txBody>
          <a:bodyPr wrap="square" lIns="0" tIns="0" rIns="0" bIns="0" rtlCol="0" anchor="t"/>
          <a:lstStyle/>
          <a:p>
            <a:pPr marL="0" indent="0">
              <a:buNone/>
            </a:pPr>
            <a:r>
              <a:rPr lang="en-US" sz="1100" dirty="0">
                <a:solidFill>
                  <a:schemeClr val="tx1"/>
                </a:solidFill>
              </a:rPr>
              <a:t>A direct prize, no minimum spend.</a:t>
            </a:r>
            <a:endParaRPr lang="en-US" sz="1100" dirty="0"/>
          </a:p>
        </p:txBody>
      </p:sp>
      <p:sp>
        <p:nvSpPr>
          <p:cNvPr id="26" name="card"/>
          <p:cNvSpPr/>
          <p:nvPr/>
        </p:nvSpPr>
        <p:spPr>
          <a:xfrm>
            <a:off x="6492240" y="1280160"/>
            <a:ext cx="1828800" cy="1828800"/>
          </a:xfrm>
          <a:prstGeom prst="roundRect">
            <a:avLst>
              <a:gd name="adj" fmla="val 4000"/>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7" name="icon circle FaCogs"/>
          <p:cNvSpPr/>
          <p:nvPr/>
        </p:nvSpPr>
        <p:spPr>
          <a:xfrm>
            <a:off x="6629400" y="1389888"/>
            <a:ext cx="411480" cy="411480"/>
          </a:xfrm>
          <a:prstGeom prst="ellipse">
            <a:avLst/>
          </a:prstGeom>
          <a:solidFill>
            <a:srgbClr val="6B7C74"/>
          </a:solidFill>
          <a:ln w="12700">
            <a:solidFill>
              <a:srgbClr val="6B7C74"/>
            </a:solidFill>
            <a:prstDash val="solid"/>
          </a:ln>
        </p:spPr>
        <p:txBody>
          <a:bodyPr/>
          <a:lstStyle/>
          <a:p>
            <a:endParaRPr lang="it-IT"/>
          </a:p>
        </p:txBody>
      </p:sp>
      <p:pic>
        <p:nvPicPr>
          <p:cNvPr id="28" name="Image 3" descr="Cogs icon"/>
          <p:cNvPicPr>
            <a:picLocks noChangeAspect="1"/>
          </p:cNvPicPr>
          <p:nvPr/>
        </p:nvPicPr>
        <p:blipFill>
          <a:blip r:embed="rId6"/>
          <a:stretch>
            <a:fillRect/>
          </a:stretch>
        </p:blipFill>
        <p:spPr>
          <a:xfrm>
            <a:off x="6740500" y="1500988"/>
            <a:ext cx="189281" cy="189281"/>
          </a:xfrm>
          <a:prstGeom prst="rect">
            <a:avLst/>
          </a:prstGeom>
        </p:spPr>
      </p:pic>
      <p:sp>
        <p:nvSpPr>
          <p:cNvPr id="29" name="Text 22"/>
          <p:cNvSpPr txBox="1"/>
          <p:nvPr/>
        </p:nvSpPr>
        <p:spPr>
          <a:xfrm>
            <a:off x="7114032" y="1389888"/>
            <a:ext cx="1161288" cy="411480"/>
          </a:xfrm>
          <a:prstGeom prst="rect">
            <a:avLst/>
          </a:prstGeom>
          <a:noFill/>
          <a:ln/>
        </p:spPr>
        <p:txBody>
          <a:bodyPr wrap="square" lIns="0" tIns="0" rIns="0" bIns="0" rtlCol="0" anchor="ctr"/>
          <a:lstStyle/>
          <a:p>
            <a:pPr marL="0" indent="0">
              <a:buNone/>
            </a:pPr>
            <a:r>
              <a:rPr lang="en-US" sz="1300" b="1" dirty="0">
                <a:solidFill>
                  <a:schemeClr val="tx2"/>
                </a:solidFill>
              </a:rPr>
              <a:t>Custom policy</a:t>
            </a:r>
            <a:endParaRPr lang="en-US" sz="1300" dirty="0"/>
          </a:p>
        </p:txBody>
      </p:sp>
      <p:sp>
        <p:nvSpPr>
          <p:cNvPr id="30" name="Text 23"/>
          <p:cNvSpPr txBox="1"/>
          <p:nvPr/>
        </p:nvSpPr>
        <p:spPr>
          <a:xfrm>
            <a:off x="6656832" y="1883664"/>
            <a:ext cx="1600200" cy="384048"/>
          </a:xfrm>
          <a:prstGeom prst="rect">
            <a:avLst/>
          </a:prstGeom>
          <a:noFill/>
          <a:ln/>
        </p:spPr>
        <p:txBody>
          <a:bodyPr wrap="square" lIns="0" tIns="0" rIns="0" bIns="0" rtlCol="0" anchor="t"/>
          <a:lstStyle/>
          <a:p>
            <a:pPr marL="0" indent="0">
              <a:buNone/>
            </a:pPr>
            <a:r>
              <a:rPr lang="en-US" sz="2200" b="1" dirty="0">
                <a:solidFill>
                  <a:schemeClr val="accent1"/>
                </a:solidFill>
              </a:rPr>
              <a:t>You decide</a:t>
            </a:r>
            <a:endParaRPr lang="en-US" sz="2200" dirty="0"/>
          </a:p>
        </p:txBody>
      </p:sp>
      <p:sp>
        <p:nvSpPr>
          <p:cNvPr id="31" name="Text 24"/>
          <p:cNvSpPr txBox="1"/>
          <p:nvPr/>
        </p:nvSpPr>
        <p:spPr>
          <a:xfrm>
            <a:off x="6656832" y="2258568"/>
            <a:ext cx="1600200" cy="219456"/>
          </a:xfrm>
          <a:prstGeom prst="rect">
            <a:avLst/>
          </a:prstGeom>
          <a:noFill/>
          <a:ln/>
        </p:spPr>
        <p:txBody>
          <a:bodyPr wrap="square" lIns="0" tIns="0" rIns="0" bIns="0" rtlCol="0" anchor="t"/>
          <a:lstStyle/>
          <a:p>
            <a:pPr marL="0" indent="0">
              <a:buNone/>
            </a:pPr>
            <a:r>
              <a:rPr lang="en-US" sz="1100" dirty="0">
                <a:solidFill>
                  <a:schemeClr val="accent6"/>
                </a:solidFill>
              </a:rPr>
              <a:t>set your own rules</a:t>
            </a:r>
            <a:endParaRPr lang="en-US" sz="1100" dirty="0"/>
          </a:p>
        </p:txBody>
      </p:sp>
      <p:sp>
        <p:nvSpPr>
          <p:cNvPr id="32" name="Text 25"/>
          <p:cNvSpPr txBox="1"/>
          <p:nvPr/>
        </p:nvSpPr>
        <p:spPr>
          <a:xfrm>
            <a:off x="6656832" y="2542032"/>
            <a:ext cx="1554480" cy="502920"/>
          </a:xfrm>
          <a:prstGeom prst="rect">
            <a:avLst/>
          </a:prstGeom>
          <a:noFill/>
          <a:ln/>
        </p:spPr>
        <p:txBody>
          <a:bodyPr wrap="square" lIns="0" tIns="0" rIns="0" bIns="0" rtlCol="0" anchor="t"/>
          <a:lstStyle/>
          <a:p>
            <a:pPr marL="0" indent="0">
              <a:buNone/>
            </a:pPr>
            <a:r>
              <a:rPr lang="en-US" sz="1100" dirty="0">
                <a:solidFill>
                  <a:schemeClr val="tx1"/>
                </a:solidFill>
              </a:rPr>
              <a:t>Discount, minimum spend, bottles needed.</a:t>
            </a:r>
            <a:endParaRPr lang="en-US" sz="1100" dirty="0"/>
          </a:p>
        </p:txBody>
      </p:sp>
      <p:sp>
        <p:nvSpPr>
          <p:cNvPr id="33" name="card"/>
          <p:cNvSpPr/>
          <p:nvPr/>
        </p:nvSpPr>
        <p:spPr>
          <a:xfrm>
            <a:off x="457200" y="3246120"/>
            <a:ext cx="7863840" cy="457200"/>
          </a:xfrm>
          <a:prstGeom prst="roundRect">
            <a:avLst>
              <a:gd name="adj" fmla="val 16000"/>
            </a:avLst>
          </a:prstGeom>
          <a:solidFill>
            <a:schemeClr val="bg2"/>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34" name="Text 27"/>
          <p:cNvSpPr txBox="1"/>
          <p:nvPr/>
        </p:nvSpPr>
        <p:spPr>
          <a:xfrm>
            <a:off x="621792" y="3246120"/>
            <a:ext cx="7589520" cy="457200"/>
          </a:xfrm>
          <a:prstGeom prst="rect">
            <a:avLst/>
          </a:prstGeom>
          <a:noFill/>
          <a:ln/>
        </p:spPr>
        <p:txBody>
          <a:bodyPr wrap="square" lIns="0" tIns="0" rIns="0" bIns="0" rtlCol="0" anchor="ctr"/>
          <a:lstStyle/>
          <a:p>
            <a:pPr marL="0" indent="0">
              <a:buNone/>
            </a:pPr>
            <a:r>
              <a:rPr lang="en-US" sz="1200" b="1" dirty="0">
                <a:solidFill>
                  <a:schemeClr val="tx2"/>
                </a:solidFill>
              </a:rPr>
              <a:t>Example: </a:t>
            </a:r>
            <a:r>
              <a:rPr lang="en-US" sz="1200" dirty="0">
                <a:solidFill>
                  <a:schemeClr val="tx1"/>
                </a:solidFill>
              </a:rPr>
              <a:t>a store expecting 100 bottles a day → about 140 with loyalty points, 120 with a voucher, 114 with a gift.</a:t>
            </a:r>
            <a:endParaRPr lang="en-US" sz="1200" dirty="0"/>
          </a:p>
        </p:txBody>
      </p:sp>
      <p:sp>
        <p:nvSpPr>
          <p:cNvPr id="35" name="icon circle FaCalendarAlt"/>
          <p:cNvSpPr/>
          <p:nvPr/>
        </p:nvSpPr>
        <p:spPr>
          <a:xfrm>
            <a:off x="457200" y="3813048"/>
            <a:ext cx="411480" cy="411480"/>
          </a:xfrm>
          <a:prstGeom prst="ellipse">
            <a:avLst/>
          </a:prstGeom>
          <a:solidFill>
            <a:srgbClr val="2C7DA0"/>
          </a:solidFill>
          <a:ln w="12700">
            <a:solidFill>
              <a:srgbClr val="2C7DA0"/>
            </a:solidFill>
            <a:prstDash val="solid"/>
          </a:ln>
        </p:spPr>
        <p:txBody>
          <a:bodyPr/>
          <a:lstStyle/>
          <a:p>
            <a:endParaRPr lang="it-IT"/>
          </a:p>
        </p:txBody>
      </p:sp>
      <p:pic>
        <p:nvPicPr>
          <p:cNvPr id="36" name="Image 4" descr="CalendarAlt icon"/>
          <p:cNvPicPr>
            <a:picLocks noChangeAspect="1"/>
          </p:cNvPicPr>
          <p:nvPr/>
        </p:nvPicPr>
        <p:blipFill>
          <a:blip r:embed="rId7"/>
          <a:stretch>
            <a:fillRect/>
          </a:stretch>
        </p:blipFill>
        <p:spPr>
          <a:xfrm>
            <a:off x="568300" y="3924148"/>
            <a:ext cx="189281" cy="189281"/>
          </a:xfrm>
          <a:prstGeom prst="rect">
            <a:avLst/>
          </a:prstGeom>
        </p:spPr>
      </p:pic>
      <p:sp>
        <p:nvSpPr>
          <p:cNvPr id="37" name="Text 29"/>
          <p:cNvSpPr txBox="1"/>
          <p:nvPr/>
        </p:nvSpPr>
        <p:spPr>
          <a:xfrm>
            <a:off x="1005840" y="3785616"/>
            <a:ext cx="7315200" cy="457200"/>
          </a:xfrm>
          <a:prstGeom prst="rect">
            <a:avLst/>
          </a:prstGeom>
          <a:noFill/>
          <a:ln/>
        </p:spPr>
        <p:txBody>
          <a:bodyPr wrap="square" lIns="0" tIns="0" rIns="0" bIns="0" rtlCol="0" anchor="ctr"/>
          <a:lstStyle/>
          <a:p>
            <a:pPr marL="0" indent="0">
              <a:buNone/>
            </a:pPr>
            <a:r>
              <a:rPr lang="en-US" sz="1200" b="1" dirty="0">
                <a:solidFill>
                  <a:schemeClr val="tx1"/>
                </a:solidFill>
              </a:rPr>
              <a:t>Go-live planning: </a:t>
            </a:r>
            <a:r>
              <a:rPr lang="en-US" sz="1200" dirty="0">
                <a:solidFill>
                  <a:schemeClr val="tx1"/>
                </a:solidFill>
              </a:rPr>
              <a:t>choose month and year (2026–2028) and an optional 3-month warm-up while shoppers discover the machine.</a:t>
            </a:r>
            <a:endParaRPr lang="en-US" sz="1200" dirty="0"/>
          </a:p>
        </p:txBody>
      </p:sp>
      <p:sp>
        <p:nvSpPr>
          <p:cNvPr id="38"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39" name="Image 5" descr="idea icon"/>
          <p:cNvPicPr>
            <a:picLocks noChangeAspect="1"/>
          </p:cNvPicPr>
          <p:nvPr/>
        </p:nvPicPr>
        <p:blipFill>
          <a:blip r:embed="rId8"/>
          <a:stretch>
            <a:fillRect/>
          </a:stretch>
        </p:blipFill>
        <p:spPr>
          <a:xfrm>
            <a:off x="594360" y="4462272"/>
            <a:ext cx="274320" cy="274320"/>
          </a:xfrm>
          <a:prstGeom prst="rect">
            <a:avLst/>
          </a:prstGeom>
        </p:spPr>
      </p:pic>
      <p:sp>
        <p:nvSpPr>
          <p:cNvPr id="40" name="Text 31"/>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a better reward brings more people back with more bottles; loyalty points work best.</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RESULTS · SCENARIOS</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Three scenarios, not just one guess</a:t>
            </a:r>
            <a:endParaRPr lang="en-US" sz="2800" dirty="0"/>
          </a:p>
        </p:txBody>
      </p:sp>
      <p:graphicFrame>
        <p:nvGraphicFramePr>
          <p:cNvPr id="5" name="Chart 0"/>
          <p:cNvGraphicFramePr/>
          <p:nvPr/>
        </p:nvGraphicFramePr>
        <p:xfrm>
          <a:off x="457200" y="1280160"/>
          <a:ext cx="43891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5120640" y="1325880"/>
            <a:ext cx="3200400" cy="1280160"/>
          </a:xfrm>
          <a:prstGeom prst="roundRect">
            <a:avLst>
              <a:gd name="adj" fmla="val 5714"/>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7" name="icon circle FaTachometerAlt"/>
          <p:cNvSpPr/>
          <p:nvPr/>
        </p:nvSpPr>
        <p:spPr>
          <a:xfrm>
            <a:off x="5257800" y="1508760"/>
            <a:ext cx="502920" cy="502920"/>
          </a:xfrm>
          <a:prstGeom prst="ellipse">
            <a:avLst/>
          </a:prstGeom>
          <a:solidFill>
            <a:srgbClr val="2C7DA0"/>
          </a:solidFill>
          <a:ln w="12700">
            <a:solidFill>
              <a:srgbClr val="2C7DA0"/>
            </a:solidFill>
            <a:prstDash val="solid"/>
          </a:ln>
        </p:spPr>
        <p:txBody>
          <a:bodyPr/>
          <a:lstStyle/>
          <a:p>
            <a:endParaRPr lang="it-IT"/>
          </a:p>
        </p:txBody>
      </p:sp>
      <p:pic>
        <p:nvPicPr>
          <p:cNvPr id="8" name="Image 0" descr="TachometerAlt icon"/>
          <p:cNvPicPr>
            <a:picLocks noChangeAspect="1"/>
          </p:cNvPicPr>
          <p:nvPr/>
        </p:nvPicPr>
        <p:blipFill>
          <a:blip r:embed="rId4"/>
          <a:stretch>
            <a:fillRect/>
          </a:stretch>
        </p:blipFill>
        <p:spPr>
          <a:xfrm>
            <a:off x="5393588" y="1644548"/>
            <a:ext cx="231343" cy="231343"/>
          </a:xfrm>
          <a:prstGeom prst="rect">
            <a:avLst/>
          </a:prstGeom>
        </p:spPr>
      </p:pic>
      <p:sp>
        <p:nvSpPr>
          <p:cNvPr id="9" name="Text 4"/>
          <p:cNvSpPr txBox="1"/>
          <p:nvPr/>
        </p:nvSpPr>
        <p:spPr>
          <a:xfrm>
            <a:off x="5897880" y="1508760"/>
            <a:ext cx="2286000" cy="274320"/>
          </a:xfrm>
          <a:prstGeom prst="rect">
            <a:avLst/>
          </a:prstGeom>
          <a:noFill/>
          <a:ln/>
        </p:spPr>
        <p:txBody>
          <a:bodyPr wrap="square" lIns="0" tIns="0" rIns="0" bIns="0" rtlCol="0" anchor="t"/>
          <a:lstStyle/>
          <a:p>
            <a:pPr marL="0" indent="0">
              <a:buNone/>
            </a:pPr>
            <a:r>
              <a:rPr lang="en-US" sz="1400" b="1" dirty="0">
                <a:solidFill>
                  <a:schemeClr val="tx2"/>
                </a:solidFill>
              </a:rPr>
              <a:t>Suitability gauge</a:t>
            </a:r>
            <a:endParaRPr lang="en-US" sz="1400" dirty="0"/>
          </a:p>
        </p:txBody>
      </p:sp>
      <p:sp>
        <p:nvSpPr>
          <p:cNvPr id="10" name="Text 5"/>
          <p:cNvSpPr txBox="1"/>
          <p:nvPr/>
        </p:nvSpPr>
        <p:spPr>
          <a:xfrm>
            <a:off x="5897880" y="1801368"/>
            <a:ext cx="2286000" cy="731520"/>
          </a:xfrm>
          <a:prstGeom prst="rect">
            <a:avLst/>
          </a:prstGeom>
          <a:noFill/>
          <a:ln/>
        </p:spPr>
        <p:txBody>
          <a:bodyPr wrap="square" lIns="0" tIns="0" rIns="0" bIns="0" rtlCol="0" anchor="t"/>
          <a:lstStyle/>
          <a:p>
            <a:pPr marL="0" indent="0">
              <a:buNone/>
            </a:pPr>
            <a:r>
              <a:rPr lang="en-US" sz="1200" dirty="0">
                <a:solidFill>
                  <a:schemeClr val="tx1"/>
                </a:solidFill>
              </a:rPr>
              <a:t>A 0–100% dial showing how good the site is compared with the whole network.</a:t>
            </a:r>
            <a:endParaRPr lang="en-US" sz="1200" dirty="0"/>
          </a:p>
        </p:txBody>
      </p:sp>
      <p:sp>
        <p:nvSpPr>
          <p:cNvPr id="11" name="card"/>
          <p:cNvSpPr/>
          <p:nvPr/>
        </p:nvSpPr>
        <p:spPr>
          <a:xfrm>
            <a:off x="5120640" y="2788920"/>
            <a:ext cx="3200400" cy="1280160"/>
          </a:xfrm>
          <a:prstGeom prst="roundRect">
            <a:avLst>
              <a:gd name="adj" fmla="val 5714"/>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2" name="icon circle FaListUl"/>
          <p:cNvSpPr/>
          <p:nvPr/>
        </p:nvSpPr>
        <p:spPr>
          <a:xfrm>
            <a:off x="5257800" y="2971800"/>
            <a:ext cx="502920" cy="502920"/>
          </a:xfrm>
          <a:prstGeom prst="ellipse">
            <a:avLst/>
          </a:prstGeom>
          <a:solidFill>
            <a:srgbClr val="2C7DA0"/>
          </a:solidFill>
          <a:ln w="12700">
            <a:solidFill>
              <a:srgbClr val="2C7DA0"/>
            </a:solidFill>
            <a:prstDash val="solid"/>
          </a:ln>
        </p:spPr>
        <p:txBody>
          <a:bodyPr/>
          <a:lstStyle/>
          <a:p>
            <a:endParaRPr lang="it-IT"/>
          </a:p>
        </p:txBody>
      </p:sp>
      <p:pic>
        <p:nvPicPr>
          <p:cNvPr id="13" name="Image 1" descr="ListUl icon"/>
          <p:cNvPicPr>
            <a:picLocks noChangeAspect="1"/>
          </p:cNvPicPr>
          <p:nvPr/>
        </p:nvPicPr>
        <p:blipFill>
          <a:blip r:embed="rId5"/>
          <a:stretch>
            <a:fillRect/>
          </a:stretch>
        </p:blipFill>
        <p:spPr>
          <a:xfrm>
            <a:off x="5393588" y="3107588"/>
            <a:ext cx="231343" cy="231343"/>
          </a:xfrm>
          <a:prstGeom prst="rect">
            <a:avLst/>
          </a:prstGeom>
        </p:spPr>
      </p:pic>
      <p:sp>
        <p:nvSpPr>
          <p:cNvPr id="14" name="Text 8"/>
          <p:cNvSpPr txBox="1"/>
          <p:nvPr/>
        </p:nvSpPr>
        <p:spPr>
          <a:xfrm>
            <a:off x="5897880" y="2971800"/>
            <a:ext cx="2286000" cy="274320"/>
          </a:xfrm>
          <a:prstGeom prst="rect">
            <a:avLst/>
          </a:prstGeom>
          <a:noFill/>
          <a:ln/>
        </p:spPr>
        <p:txBody>
          <a:bodyPr wrap="square" lIns="0" tIns="0" rIns="0" bIns="0" rtlCol="0" anchor="t"/>
          <a:lstStyle/>
          <a:p>
            <a:pPr marL="0" indent="0">
              <a:buNone/>
            </a:pPr>
            <a:r>
              <a:rPr lang="en-US" sz="1400" b="1" dirty="0">
                <a:solidFill>
                  <a:schemeClr val="tx2"/>
                </a:solidFill>
              </a:rPr>
              <a:t>Location analysis text</a:t>
            </a:r>
            <a:endParaRPr lang="en-US" sz="1400" dirty="0"/>
          </a:p>
        </p:txBody>
      </p:sp>
      <p:sp>
        <p:nvSpPr>
          <p:cNvPr id="15" name="Text 9"/>
          <p:cNvSpPr txBox="1"/>
          <p:nvPr/>
        </p:nvSpPr>
        <p:spPr>
          <a:xfrm>
            <a:off x="5897880" y="3264408"/>
            <a:ext cx="2286000" cy="731520"/>
          </a:xfrm>
          <a:prstGeom prst="rect">
            <a:avLst/>
          </a:prstGeom>
          <a:noFill/>
          <a:ln/>
        </p:spPr>
        <p:txBody>
          <a:bodyPr wrap="square" lIns="0" tIns="0" rIns="0" bIns="0" rtlCol="0" anchor="t"/>
          <a:lstStyle/>
          <a:p>
            <a:pPr marL="0" indent="0">
              <a:buNone/>
            </a:pPr>
            <a:r>
              <a:rPr lang="en-US" sz="1200" dirty="0">
                <a:solidFill>
                  <a:schemeClr val="tx1"/>
                </a:solidFill>
              </a:rPr>
              <a:t>Every key number in one copy-ready block for reports and memos.</a:t>
            </a:r>
            <a:endParaRPr lang="en-US" sz="1200" dirty="0"/>
          </a:p>
        </p:txBody>
      </p:sp>
      <p:sp>
        <p:nvSpPr>
          <p:cNvPr id="16"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17" name="Image 2" descr="idea icon"/>
          <p:cNvPicPr>
            <a:picLocks noChangeAspect="1"/>
          </p:cNvPicPr>
          <p:nvPr/>
        </p:nvPicPr>
        <p:blipFill>
          <a:blip r:embed="rId6"/>
          <a:stretch>
            <a:fillRect/>
          </a:stretch>
        </p:blipFill>
        <p:spPr>
          <a:xfrm>
            <a:off x="594360" y="4462272"/>
            <a:ext cx="274320" cy="274320"/>
          </a:xfrm>
          <a:prstGeom prst="rect">
            <a:avLst/>
          </a:prstGeom>
        </p:spPr>
      </p:pic>
      <p:sp>
        <p:nvSpPr>
          <p:cNvPr id="18" name="Text 11"/>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we plan for a bad month, a normal month and a great month, not a single magic number.</a:t>
            </a:r>
            <a:endParaRPr lang="en-US" sz="13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HOW THE AI WORKS · KEY TERMS</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What is LightGBM?</a:t>
            </a:r>
            <a:endParaRPr lang="en-US" sz="2800" dirty="0"/>
          </a:p>
        </p:txBody>
      </p:sp>
      <p:sp>
        <p:nvSpPr>
          <p:cNvPr id="5" name="tree question"/>
          <p:cNvSpPr/>
          <p:nvPr/>
        </p:nvSpPr>
        <p:spPr>
          <a:xfrm>
            <a:off x="1097280" y="1325880"/>
            <a:ext cx="1920240" cy="411480"/>
          </a:xfrm>
          <a:prstGeom prst="roundRect">
            <a:avLst>
              <a:gd name="adj" fmla="val 17778"/>
            </a:avLst>
          </a:prstGeom>
          <a:solidFill>
            <a:srgbClr val="0B3D2E"/>
          </a:solidFill>
          <a:ln w="12700">
            <a:solidFill>
              <a:srgbClr val="0B3D2E"/>
            </a:solidFill>
            <a:prstDash val="solid"/>
          </a:ln>
        </p:spPr>
        <p:txBody>
          <a:bodyPr/>
          <a:lstStyle/>
          <a:p>
            <a:endParaRPr lang="it-IT"/>
          </a:p>
        </p:txBody>
      </p:sp>
      <p:sp>
        <p:nvSpPr>
          <p:cNvPr id="6" name="Text 3"/>
          <p:cNvSpPr txBox="1"/>
          <p:nvPr/>
        </p:nvSpPr>
        <p:spPr>
          <a:xfrm>
            <a:off x="1097280" y="1325880"/>
            <a:ext cx="1920240" cy="411480"/>
          </a:xfrm>
          <a:prstGeom prst="rect">
            <a:avLst/>
          </a:prstGeom>
          <a:noFill/>
          <a:ln/>
        </p:spPr>
        <p:txBody>
          <a:bodyPr wrap="square" lIns="0" tIns="0" rIns="0" bIns="0" rtlCol="0" anchor="ctr"/>
          <a:lstStyle/>
          <a:p>
            <a:pPr marL="0" indent="0" algn="ctr">
              <a:buNone/>
            </a:pPr>
            <a:r>
              <a:rPr lang="en-US" sz="1100" b="1" dirty="0">
                <a:solidFill>
                  <a:schemeClr val="bg1"/>
                </a:solidFill>
              </a:rPr>
              <a:t>Store &gt; 1,000 m²?</a:t>
            </a:r>
            <a:endParaRPr lang="en-US" sz="1100" dirty="0"/>
          </a:p>
        </p:txBody>
      </p:sp>
      <p:sp>
        <p:nvSpPr>
          <p:cNvPr id="7" name="tree branch"/>
          <p:cNvSpPr/>
          <p:nvPr/>
        </p:nvSpPr>
        <p:spPr>
          <a:xfrm flipH="1">
            <a:off x="1188720" y="1737360"/>
            <a:ext cx="868680" cy="457200"/>
          </a:xfrm>
          <a:prstGeom prst="line">
            <a:avLst/>
          </a:prstGeom>
          <a:noFill/>
          <a:ln w="19050">
            <a:solidFill>
              <a:srgbClr val="6B7C74"/>
            </a:solidFill>
            <a:prstDash val="solid"/>
          </a:ln>
        </p:spPr>
        <p:txBody>
          <a:bodyPr/>
          <a:lstStyle/>
          <a:p>
            <a:endParaRPr lang="it-IT"/>
          </a:p>
        </p:txBody>
      </p:sp>
      <p:sp>
        <p:nvSpPr>
          <p:cNvPr id="8" name="tree branch"/>
          <p:cNvSpPr/>
          <p:nvPr/>
        </p:nvSpPr>
        <p:spPr>
          <a:xfrm>
            <a:off x="2057400" y="1737360"/>
            <a:ext cx="1051560" cy="457200"/>
          </a:xfrm>
          <a:prstGeom prst="line">
            <a:avLst/>
          </a:prstGeom>
          <a:noFill/>
          <a:ln w="19050">
            <a:solidFill>
              <a:srgbClr val="6B7C74"/>
            </a:solidFill>
            <a:prstDash val="solid"/>
          </a:ln>
        </p:spPr>
        <p:txBody>
          <a:bodyPr/>
          <a:lstStyle/>
          <a:p>
            <a:endParaRPr lang="it-IT"/>
          </a:p>
        </p:txBody>
      </p:sp>
      <p:sp>
        <p:nvSpPr>
          <p:cNvPr id="9" name="Text 6"/>
          <p:cNvSpPr txBox="1"/>
          <p:nvPr/>
        </p:nvSpPr>
        <p:spPr>
          <a:xfrm>
            <a:off x="1143000" y="1828800"/>
            <a:ext cx="365760" cy="201168"/>
          </a:xfrm>
          <a:prstGeom prst="rect">
            <a:avLst/>
          </a:prstGeom>
          <a:noFill/>
          <a:ln/>
        </p:spPr>
        <p:txBody>
          <a:bodyPr wrap="square" lIns="0" tIns="0" rIns="0" bIns="0" rtlCol="0" anchor="t"/>
          <a:lstStyle/>
          <a:p>
            <a:pPr marL="0" indent="0" algn="ctr">
              <a:buNone/>
            </a:pPr>
            <a:r>
              <a:rPr lang="en-US" sz="1000" b="1" dirty="0">
                <a:solidFill>
                  <a:schemeClr val="accent1"/>
                </a:solidFill>
              </a:rPr>
              <a:t>Yes</a:t>
            </a:r>
            <a:endParaRPr lang="en-US" sz="1000" dirty="0"/>
          </a:p>
        </p:txBody>
      </p:sp>
      <p:sp>
        <p:nvSpPr>
          <p:cNvPr id="10" name="Text 7"/>
          <p:cNvSpPr txBox="1"/>
          <p:nvPr/>
        </p:nvSpPr>
        <p:spPr>
          <a:xfrm>
            <a:off x="2697480" y="1828800"/>
            <a:ext cx="365760" cy="201168"/>
          </a:xfrm>
          <a:prstGeom prst="rect">
            <a:avLst/>
          </a:prstGeom>
          <a:noFill/>
          <a:ln/>
        </p:spPr>
        <p:txBody>
          <a:bodyPr wrap="square" lIns="0" tIns="0" rIns="0" bIns="0" rtlCol="0" anchor="t"/>
          <a:lstStyle/>
          <a:p>
            <a:pPr marL="0" indent="0" algn="ctr">
              <a:buNone/>
            </a:pPr>
            <a:r>
              <a:rPr lang="en-US" sz="1000" b="1" dirty="0">
                <a:solidFill>
                  <a:schemeClr val="accent4"/>
                </a:solidFill>
              </a:rPr>
              <a:t>No</a:t>
            </a:r>
            <a:endParaRPr lang="en-US" sz="1000" dirty="0"/>
          </a:p>
        </p:txBody>
      </p:sp>
      <p:sp>
        <p:nvSpPr>
          <p:cNvPr id="11" name="tree question"/>
          <p:cNvSpPr/>
          <p:nvPr/>
        </p:nvSpPr>
        <p:spPr>
          <a:xfrm>
            <a:off x="457200" y="2194560"/>
            <a:ext cx="1463040" cy="411480"/>
          </a:xfrm>
          <a:prstGeom prst="roundRect">
            <a:avLst>
              <a:gd name="adj" fmla="val 17778"/>
            </a:avLst>
          </a:prstGeom>
          <a:solidFill>
            <a:srgbClr val="0B3D2E"/>
          </a:solidFill>
          <a:ln w="12700">
            <a:solidFill>
              <a:srgbClr val="0B3D2E"/>
            </a:solidFill>
            <a:prstDash val="solid"/>
          </a:ln>
        </p:spPr>
        <p:txBody>
          <a:bodyPr/>
          <a:lstStyle/>
          <a:p>
            <a:endParaRPr lang="it-IT"/>
          </a:p>
        </p:txBody>
      </p:sp>
      <p:sp>
        <p:nvSpPr>
          <p:cNvPr id="12" name="Text 9"/>
          <p:cNvSpPr txBox="1"/>
          <p:nvPr/>
        </p:nvSpPr>
        <p:spPr>
          <a:xfrm>
            <a:off x="457200" y="2194560"/>
            <a:ext cx="1463040" cy="411480"/>
          </a:xfrm>
          <a:prstGeom prst="rect">
            <a:avLst/>
          </a:prstGeom>
          <a:noFill/>
          <a:ln/>
        </p:spPr>
        <p:txBody>
          <a:bodyPr wrap="square" lIns="0" tIns="0" rIns="0" bIns="0" rtlCol="0" anchor="ctr"/>
          <a:lstStyle/>
          <a:p>
            <a:pPr marL="0" indent="0" algn="ctr">
              <a:buNone/>
            </a:pPr>
            <a:r>
              <a:rPr lang="en-US" sz="1100" b="1" dirty="0">
                <a:solidFill>
                  <a:schemeClr val="bg1"/>
                </a:solidFill>
              </a:rPr>
              <a:t>Busy town?</a:t>
            </a:r>
            <a:endParaRPr lang="en-US" sz="1100" dirty="0"/>
          </a:p>
        </p:txBody>
      </p:sp>
      <p:sp>
        <p:nvSpPr>
          <p:cNvPr id="13" name="tree leaf"/>
          <p:cNvSpPr/>
          <p:nvPr/>
        </p:nvSpPr>
        <p:spPr>
          <a:xfrm>
            <a:off x="2377440" y="2194560"/>
            <a:ext cx="1463040" cy="411480"/>
          </a:xfrm>
          <a:prstGeom prst="roundRect">
            <a:avLst>
              <a:gd name="adj" fmla="val 17778"/>
            </a:avLst>
          </a:prstGeom>
          <a:solidFill>
            <a:srgbClr val="EAF4EE"/>
          </a:solidFill>
          <a:ln w="12700">
            <a:solidFill>
              <a:srgbClr val="1E9E62"/>
            </a:solidFill>
            <a:prstDash val="solid"/>
          </a:ln>
        </p:spPr>
        <p:txBody>
          <a:bodyPr/>
          <a:lstStyle/>
          <a:p>
            <a:endParaRPr lang="it-IT"/>
          </a:p>
        </p:txBody>
      </p:sp>
      <p:sp>
        <p:nvSpPr>
          <p:cNvPr id="14" name="Text 11"/>
          <p:cNvSpPr txBox="1"/>
          <p:nvPr/>
        </p:nvSpPr>
        <p:spPr>
          <a:xfrm>
            <a:off x="2377440" y="2194560"/>
            <a:ext cx="1463040" cy="411480"/>
          </a:xfrm>
          <a:prstGeom prst="rect">
            <a:avLst/>
          </a:prstGeom>
          <a:noFill/>
          <a:ln/>
        </p:spPr>
        <p:txBody>
          <a:bodyPr wrap="square" lIns="0" tIns="0" rIns="0" bIns="0" rtlCol="0" anchor="ctr"/>
          <a:lstStyle/>
          <a:p>
            <a:pPr marL="0" indent="0" algn="ctr">
              <a:buNone/>
            </a:pPr>
            <a:r>
              <a:rPr lang="en-US" sz="1100" b="1" dirty="0">
                <a:solidFill>
                  <a:schemeClr val="tx2"/>
                </a:solidFill>
              </a:rPr>
              <a:t>≈ 250 bottles/day</a:t>
            </a:r>
            <a:endParaRPr lang="en-US" sz="1100" dirty="0"/>
          </a:p>
        </p:txBody>
      </p:sp>
      <p:sp>
        <p:nvSpPr>
          <p:cNvPr id="15" name="tree branch"/>
          <p:cNvSpPr/>
          <p:nvPr/>
        </p:nvSpPr>
        <p:spPr>
          <a:xfrm flipH="1">
            <a:off x="800100" y="2606040"/>
            <a:ext cx="388620" cy="457200"/>
          </a:xfrm>
          <a:prstGeom prst="line">
            <a:avLst/>
          </a:prstGeom>
          <a:noFill/>
          <a:ln w="19050">
            <a:solidFill>
              <a:srgbClr val="6B7C74"/>
            </a:solidFill>
            <a:prstDash val="solid"/>
          </a:ln>
        </p:spPr>
        <p:txBody>
          <a:bodyPr/>
          <a:lstStyle/>
          <a:p>
            <a:endParaRPr lang="it-IT"/>
          </a:p>
        </p:txBody>
      </p:sp>
      <p:sp>
        <p:nvSpPr>
          <p:cNvPr id="16" name="tree branch"/>
          <p:cNvSpPr/>
          <p:nvPr/>
        </p:nvSpPr>
        <p:spPr>
          <a:xfrm>
            <a:off x="1188720" y="2606040"/>
            <a:ext cx="388620" cy="457200"/>
          </a:xfrm>
          <a:prstGeom prst="line">
            <a:avLst/>
          </a:prstGeom>
          <a:noFill/>
          <a:ln w="19050">
            <a:solidFill>
              <a:srgbClr val="6B7C74"/>
            </a:solidFill>
            <a:prstDash val="solid"/>
          </a:ln>
        </p:spPr>
        <p:txBody>
          <a:bodyPr/>
          <a:lstStyle/>
          <a:p>
            <a:endParaRPr lang="it-IT"/>
          </a:p>
        </p:txBody>
      </p:sp>
      <p:sp>
        <p:nvSpPr>
          <p:cNvPr id="17" name="Text 14"/>
          <p:cNvSpPr txBox="1"/>
          <p:nvPr/>
        </p:nvSpPr>
        <p:spPr>
          <a:xfrm>
            <a:off x="502920" y="2697480"/>
            <a:ext cx="365760" cy="201168"/>
          </a:xfrm>
          <a:prstGeom prst="rect">
            <a:avLst/>
          </a:prstGeom>
          <a:noFill/>
          <a:ln/>
        </p:spPr>
        <p:txBody>
          <a:bodyPr wrap="square" lIns="0" tIns="0" rIns="0" bIns="0" rtlCol="0" anchor="t"/>
          <a:lstStyle/>
          <a:p>
            <a:pPr marL="0" indent="0" algn="ctr">
              <a:buNone/>
            </a:pPr>
            <a:r>
              <a:rPr lang="en-US" sz="1000" b="1" dirty="0">
                <a:solidFill>
                  <a:schemeClr val="accent1"/>
                </a:solidFill>
              </a:rPr>
              <a:t>Yes</a:t>
            </a:r>
            <a:endParaRPr lang="en-US" sz="1000" dirty="0"/>
          </a:p>
        </p:txBody>
      </p:sp>
      <p:sp>
        <p:nvSpPr>
          <p:cNvPr id="18" name="Text 15"/>
          <p:cNvSpPr txBox="1"/>
          <p:nvPr/>
        </p:nvSpPr>
        <p:spPr>
          <a:xfrm>
            <a:off x="1463040" y="2697480"/>
            <a:ext cx="365760" cy="201168"/>
          </a:xfrm>
          <a:prstGeom prst="rect">
            <a:avLst/>
          </a:prstGeom>
          <a:noFill/>
          <a:ln/>
        </p:spPr>
        <p:txBody>
          <a:bodyPr wrap="square" lIns="0" tIns="0" rIns="0" bIns="0" rtlCol="0" anchor="t"/>
          <a:lstStyle/>
          <a:p>
            <a:pPr marL="0" indent="0" algn="ctr">
              <a:buNone/>
            </a:pPr>
            <a:r>
              <a:rPr lang="en-US" sz="1000" b="1" dirty="0">
                <a:solidFill>
                  <a:schemeClr val="accent4"/>
                </a:solidFill>
              </a:rPr>
              <a:t>No</a:t>
            </a:r>
            <a:endParaRPr lang="en-US" sz="1000" dirty="0"/>
          </a:p>
        </p:txBody>
      </p:sp>
      <p:sp>
        <p:nvSpPr>
          <p:cNvPr id="19" name="tree leaf"/>
          <p:cNvSpPr/>
          <p:nvPr/>
        </p:nvSpPr>
        <p:spPr>
          <a:xfrm>
            <a:off x="365760" y="3063240"/>
            <a:ext cx="822960" cy="411480"/>
          </a:xfrm>
          <a:prstGeom prst="roundRect">
            <a:avLst>
              <a:gd name="adj" fmla="val 17778"/>
            </a:avLst>
          </a:prstGeom>
          <a:solidFill>
            <a:srgbClr val="EAF4EE"/>
          </a:solidFill>
          <a:ln w="12700">
            <a:solidFill>
              <a:srgbClr val="1E9E62"/>
            </a:solidFill>
            <a:prstDash val="solid"/>
          </a:ln>
        </p:spPr>
        <p:txBody>
          <a:bodyPr/>
          <a:lstStyle/>
          <a:p>
            <a:endParaRPr lang="it-IT"/>
          </a:p>
        </p:txBody>
      </p:sp>
      <p:sp>
        <p:nvSpPr>
          <p:cNvPr id="20" name="Text 17"/>
          <p:cNvSpPr txBox="1"/>
          <p:nvPr/>
        </p:nvSpPr>
        <p:spPr>
          <a:xfrm>
            <a:off x="365760" y="3063240"/>
            <a:ext cx="822960" cy="411480"/>
          </a:xfrm>
          <a:prstGeom prst="rect">
            <a:avLst/>
          </a:prstGeom>
          <a:noFill/>
          <a:ln/>
        </p:spPr>
        <p:txBody>
          <a:bodyPr wrap="square" lIns="0" tIns="0" rIns="0" bIns="0" rtlCol="0" anchor="ctr"/>
          <a:lstStyle/>
          <a:p>
            <a:pPr marL="0" indent="0" algn="ctr">
              <a:buNone/>
            </a:pPr>
            <a:r>
              <a:rPr lang="en-US" sz="1100" b="1" dirty="0">
                <a:solidFill>
                  <a:schemeClr val="tx2"/>
                </a:solidFill>
              </a:rPr>
              <a:t>≈ 900</a:t>
            </a:r>
            <a:endParaRPr lang="en-US" sz="1100" dirty="0"/>
          </a:p>
        </p:txBody>
      </p:sp>
      <p:sp>
        <p:nvSpPr>
          <p:cNvPr id="21" name="tree leaf"/>
          <p:cNvSpPr/>
          <p:nvPr/>
        </p:nvSpPr>
        <p:spPr>
          <a:xfrm>
            <a:off x="1234440" y="3063240"/>
            <a:ext cx="822960" cy="411480"/>
          </a:xfrm>
          <a:prstGeom prst="roundRect">
            <a:avLst>
              <a:gd name="adj" fmla="val 17778"/>
            </a:avLst>
          </a:prstGeom>
          <a:solidFill>
            <a:srgbClr val="EAF4EE"/>
          </a:solidFill>
          <a:ln w="12700">
            <a:solidFill>
              <a:srgbClr val="1E9E62"/>
            </a:solidFill>
            <a:prstDash val="solid"/>
          </a:ln>
        </p:spPr>
        <p:txBody>
          <a:bodyPr/>
          <a:lstStyle/>
          <a:p>
            <a:endParaRPr lang="it-IT"/>
          </a:p>
        </p:txBody>
      </p:sp>
      <p:sp>
        <p:nvSpPr>
          <p:cNvPr id="22" name="Text 19"/>
          <p:cNvSpPr txBox="1"/>
          <p:nvPr/>
        </p:nvSpPr>
        <p:spPr>
          <a:xfrm>
            <a:off x="1234440" y="3063240"/>
            <a:ext cx="822960" cy="411480"/>
          </a:xfrm>
          <a:prstGeom prst="rect">
            <a:avLst/>
          </a:prstGeom>
          <a:noFill/>
          <a:ln/>
        </p:spPr>
        <p:txBody>
          <a:bodyPr wrap="square" lIns="0" tIns="0" rIns="0" bIns="0" rtlCol="0" anchor="ctr"/>
          <a:lstStyle/>
          <a:p>
            <a:pPr marL="0" indent="0" algn="ctr">
              <a:buNone/>
            </a:pPr>
            <a:r>
              <a:rPr lang="en-US" sz="1100" b="1" dirty="0">
                <a:solidFill>
                  <a:schemeClr val="tx2"/>
                </a:solidFill>
              </a:rPr>
              <a:t>≈ 500</a:t>
            </a:r>
            <a:endParaRPr lang="en-US" sz="1100" dirty="0"/>
          </a:p>
        </p:txBody>
      </p:sp>
      <p:sp>
        <p:nvSpPr>
          <p:cNvPr id="23" name="Text 20"/>
          <p:cNvSpPr txBox="1"/>
          <p:nvPr/>
        </p:nvSpPr>
        <p:spPr>
          <a:xfrm>
            <a:off x="457200" y="3639312"/>
            <a:ext cx="3474720" cy="457200"/>
          </a:xfrm>
          <a:prstGeom prst="rect">
            <a:avLst/>
          </a:prstGeom>
          <a:noFill/>
          <a:ln/>
        </p:spPr>
        <p:txBody>
          <a:bodyPr wrap="square" lIns="0" tIns="0" rIns="0" bIns="0" rtlCol="0" anchor="t"/>
          <a:lstStyle/>
          <a:p>
            <a:pPr marL="0" indent="0">
              <a:buNone/>
            </a:pPr>
            <a:r>
              <a:rPr lang="en-US" sz="1100" i="1" dirty="0">
                <a:solidFill>
                  <a:schemeClr val="accent6"/>
                </a:solidFill>
              </a:rPr>
              <a:t>One simple tree (example numbers). LightGBM adds hundreds of these together.</a:t>
            </a:r>
            <a:endParaRPr lang="en-US" sz="1100" dirty="0"/>
          </a:p>
        </p:txBody>
      </p:sp>
      <p:sp>
        <p:nvSpPr>
          <p:cNvPr id="24" name="card"/>
          <p:cNvSpPr/>
          <p:nvPr/>
        </p:nvSpPr>
        <p:spPr>
          <a:xfrm>
            <a:off x="4206240" y="1280160"/>
            <a:ext cx="4114800" cy="640080"/>
          </a:xfrm>
          <a:prstGeom prst="roundRect">
            <a:avLst>
              <a:gd name="adj" fmla="val 11429"/>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5" name="icon circle FaTree"/>
          <p:cNvSpPr/>
          <p:nvPr/>
        </p:nvSpPr>
        <p:spPr>
          <a:xfrm>
            <a:off x="4315968" y="1389888"/>
            <a:ext cx="420624" cy="420624"/>
          </a:xfrm>
          <a:prstGeom prst="ellipse">
            <a:avLst/>
          </a:prstGeom>
          <a:solidFill>
            <a:srgbClr val="1E9E62"/>
          </a:solidFill>
          <a:ln w="12700">
            <a:solidFill>
              <a:srgbClr val="1E9E62"/>
            </a:solidFill>
            <a:prstDash val="solid"/>
          </a:ln>
        </p:spPr>
        <p:txBody>
          <a:bodyPr/>
          <a:lstStyle/>
          <a:p>
            <a:endParaRPr lang="it-IT"/>
          </a:p>
        </p:txBody>
      </p:sp>
      <p:pic>
        <p:nvPicPr>
          <p:cNvPr id="26" name="Image 0" descr="Tree icon"/>
          <p:cNvPicPr>
            <a:picLocks noChangeAspect="1"/>
          </p:cNvPicPr>
          <p:nvPr/>
        </p:nvPicPr>
        <p:blipFill>
          <a:blip r:embed="rId3"/>
          <a:stretch>
            <a:fillRect/>
          </a:stretch>
        </p:blipFill>
        <p:spPr>
          <a:xfrm>
            <a:off x="4429536" y="1503456"/>
            <a:ext cx="193487" cy="193487"/>
          </a:xfrm>
          <a:prstGeom prst="rect">
            <a:avLst/>
          </a:prstGeom>
        </p:spPr>
      </p:pic>
      <p:sp>
        <p:nvSpPr>
          <p:cNvPr id="27" name="Text 23"/>
          <p:cNvSpPr txBox="1"/>
          <p:nvPr/>
        </p:nvSpPr>
        <p:spPr>
          <a:xfrm>
            <a:off x="4846320" y="1307592"/>
            <a:ext cx="3383280" cy="585216"/>
          </a:xfrm>
          <a:prstGeom prst="rect">
            <a:avLst/>
          </a:prstGeom>
          <a:noFill/>
          <a:ln/>
        </p:spPr>
        <p:txBody>
          <a:bodyPr wrap="square" lIns="0" tIns="0" rIns="0" bIns="0" rtlCol="0" anchor="ctr"/>
          <a:lstStyle/>
          <a:p>
            <a:pPr marL="0" indent="0">
              <a:buNone/>
            </a:pPr>
            <a:r>
              <a:rPr lang="en-US" sz="1300" b="1" dirty="0">
                <a:solidFill>
                  <a:schemeClr val="tx2"/>
                </a:solidFill>
              </a:rPr>
              <a:t>Decision tree</a:t>
            </a:r>
            <a:endParaRPr lang="en-US" sz="1100" dirty="0"/>
          </a:p>
          <a:p>
            <a:pPr marL="0" indent="0">
              <a:buNone/>
            </a:pPr>
            <a:r>
              <a:rPr lang="en-US" sz="1100" dirty="0">
                <a:solidFill>
                  <a:schemeClr val="tx1"/>
                </a:solidFill>
              </a:rPr>
              <a:t>A flowchart of yes/no questions that ends in a number.</a:t>
            </a:r>
            <a:endParaRPr lang="en-US" sz="1100" dirty="0"/>
          </a:p>
        </p:txBody>
      </p:sp>
      <p:sp>
        <p:nvSpPr>
          <p:cNvPr id="28" name="card"/>
          <p:cNvSpPr/>
          <p:nvPr/>
        </p:nvSpPr>
        <p:spPr>
          <a:xfrm>
            <a:off x="4206240" y="2011680"/>
            <a:ext cx="4114800" cy="640080"/>
          </a:xfrm>
          <a:prstGeom prst="roundRect">
            <a:avLst>
              <a:gd name="adj" fmla="val 11429"/>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9" name="icon circle FaLayerGroup"/>
          <p:cNvSpPr/>
          <p:nvPr/>
        </p:nvSpPr>
        <p:spPr>
          <a:xfrm>
            <a:off x="4315968" y="2121408"/>
            <a:ext cx="420624" cy="420624"/>
          </a:xfrm>
          <a:prstGeom prst="ellipse">
            <a:avLst/>
          </a:prstGeom>
          <a:solidFill>
            <a:srgbClr val="2C7DA0"/>
          </a:solidFill>
          <a:ln w="12700">
            <a:solidFill>
              <a:srgbClr val="2C7DA0"/>
            </a:solidFill>
            <a:prstDash val="solid"/>
          </a:ln>
        </p:spPr>
        <p:txBody>
          <a:bodyPr/>
          <a:lstStyle/>
          <a:p>
            <a:endParaRPr lang="it-IT"/>
          </a:p>
        </p:txBody>
      </p:sp>
      <p:pic>
        <p:nvPicPr>
          <p:cNvPr id="30" name="Image 1" descr="LayerGroup icon"/>
          <p:cNvPicPr>
            <a:picLocks noChangeAspect="1"/>
          </p:cNvPicPr>
          <p:nvPr/>
        </p:nvPicPr>
        <p:blipFill>
          <a:blip r:embed="rId4"/>
          <a:stretch>
            <a:fillRect/>
          </a:stretch>
        </p:blipFill>
        <p:spPr>
          <a:xfrm>
            <a:off x="4429536" y="2234976"/>
            <a:ext cx="193487" cy="193487"/>
          </a:xfrm>
          <a:prstGeom prst="rect">
            <a:avLst/>
          </a:prstGeom>
        </p:spPr>
      </p:pic>
      <p:sp>
        <p:nvSpPr>
          <p:cNvPr id="31" name="Text 26"/>
          <p:cNvSpPr txBox="1"/>
          <p:nvPr/>
        </p:nvSpPr>
        <p:spPr>
          <a:xfrm>
            <a:off x="4846320" y="2039112"/>
            <a:ext cx="3383280" cy="585216"/>
          </a:xfrm>
          <a:prstGeom prst="rect">
            <a:avLst/>
          </a:prstGeom>
          <a:noFill/>
          <a:ln/>
        </p:spPr>
        <p:txBody>
          <a:bodyPr wrap="square" lIns="0" tIns="0" rIns="0" bIns="0" rtlCol="0" anchor="ctr"/>
          <a:lstStyle/>
          <a:p>
            <a:pPr marL="0" indent="0">
              <a:buNone/>
            </a:pPr>
            <a:r>
              <a:rPr lang="en-US" sz="1300" b="1" dirty="0">
                <a:solidFill>
                  <a:schemeClr val="tx2"/>
                </a:solidFill>
              </a:rPr>
              <a:t>Boosting</a:t>
            </a:r>
            <a:endParaRPr lang="en-US" sz="1100" dirty="0"/>
          </a:p>
          <a:p>
            <a:pPr marL="0" indent="0">
              <a:buNone/>
            </a:pPr>
            <a:r>
              <a:rPr lang="en-US" sz="1100" dirty="0">
                <a:solidFill>
                  <a:schemeClr val="tx1"/>
                </a:solidFill>
              </a:rPr>
              <a:t>Trees are built one after another; each new one fixes the mistakes the earlier ones still make.</a:t>
            </a:r>
            <a:endParaRPr lang="en-US" sz="1100" dirty="0"/>
          </a:p>
        </p:txBody>
      </p:sp>
      <p:sp>
        <p:nvSpPr>
          <p:cNvPr id="32" name="card"/>
          <p:cNvSpPr/>
          <p:nvPr/>
        </p:nvSpPr>
        <p:spPr>
          <a:xfrm>
            <a:off x="4206240" y="2743200"/>
            <a:ext cx="4114800" cy="640080"/>
          </a:xfrm>
          <a:prstGeom prst="roundRect">
            <a:avLst>
              <a:gd name="adj" fmla="val 11429"/>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33" name="icon circle FaChartLine"/>
          <p:cNvSpPr/>
          <p:nvPr/>
        </p:nvSpPr>
        <p:spPr>
          <a:xfrm>
            <a:off x="4315968" y="2852928"/>
            <a:ext cx="420624" cy="420624"/>
          </a:xfrm>
          <a:prstGeom prst="ellipse">
            <a:avLst/>
          </a:prstGeom>
          <a:solidFill>
            <a:srgbClr val="7B5EA7"/>
          </a:solidFill>
          <a:ln w="12700">
            <a:solidFill>
              <a:srgbClr val="7B5EA7"/>
            </a:solidFill>
            <a:prstDash val="solid"/>
          </a:ln>
        </p:spPr>
        <p:txBody>
          <a:bodyPr/>
          <a:lstStyle/>
          <a:p>
            <a:endParaRPr lang="it-IT"/>
          </a:p>
        </p:txBody>
      </p:sp>
      <p:pic>
        <p:nvPicPr>
          <p:cNvPr id="34" name="Image 2" descr="ChartLine icon"/>
          <p:cNvPicPr>
            <a:picLocks noChangeAspect="1"/>
          </p:cNvPicPr>
          <p:nvPr/>
        </p:nvPicPr>
        <p:blipFill>
          <a:blip r:embed="rId5"/>
          <a:stretch>
            <a:fillRect/>
          </a:stretch>
        </p:blipFill>
        <p:spPr>
          <a:xfrm>
            <a:off x="4429536" y="2966496"/>
            <a:ext cx="193487" cy="193487"/>
          </a:xfrm>
          <a:prstGeom prst="rect">
            <a:avLst/>
          </a:prstGeom>
        </p:spPr>
      </p:pic>
      <p:sp>
        <p:nvSpPr>
          <p:cNvPr id="35" name="Text 29"/>
          <p:cNvSpPr txBox="1"/>
          <p:nvPr/>
        </p:nvSpPr>
        <p:spPr>
          <a:xfrm>
            <a:off x="4846320" y="2770632"/>
            <a:ext cx="3383280" cy="585216"/>
          </a:xfrm>
          <a:prstGeom prst="rect">
            <a:avLst/>
          </a:prstGeom>
          <a:noFill/>
          <a:ln/>
        </p:spPr>
        <p:txBody>
          <a:bodyPr wrap="square" lIns="0" tIns="0" rIns="0" bIns="0" rtlCol="0" anchor="ctr"/>
          <a:lstStyle/>
          <a:p>
            <a:pPr marL="0" indent="0">
              <a:buNone/>
            </a:pPr>
            <a:r>
              <a:rPr lang="en-US" sz="1300" b="1" dirty="0">
                <a:solidFill>
                  <a:schemeClr val="tx2"/>
                </a:solidFill>
              </a:rPr>
              <a:t>Gradient</a:t>
            </a:r>
            <a:endParaRPr lang="en-US" sz="1100" dirty="0"/>
          </a:p>
          <a:p>
            <a:pPr marL="0" indent="0">
              <a:buNone/>
            </a:pPr>
            <a:r>
              <a:rPr lang="en-US" sz="1100" dirty="0">
                <a:solidFill>
                  <a:schemeClr val="tx1"/>
                </a:solidFill>
              </a:rPr>
              <a:t>The maths that tells each new tree which way to correct, and by how much.</a:t>
            </a:r>
            <a:endParaRPr lang="en-US" sz="1100" dirty="0"/>
          </a:p>
        </p:txBody>
      </p:sp>
      <p:sp>
        <p:nvSpPr>
          <p:cNvPr id="36" name="card"/>
          <p:cNvSpPr/>
          <p:nvPr/>
        </p:nvSpPr>
        <p:spPr>
          <a:xfrm>
            <a:off x="4206240" y="3474720"/>
            <a:ext cx="4114800" cy="640080"/>
          </a:xfrm>
          <a:prstGeom prst="roundRect">
            <a:avLst>
              <a:gd name="adj" fmla="val 11429"/>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37" name="icon circle FaBolt"/>
          <p:cNvSpPr/>
          <p:nvPr/>
        </p:nvSpPr>
        <p:spPr>
          <a:xfrm>
            <a:off x="4315968" y="3584448"/>
            <a:ext cx="420624" cy="420624"/>
          </a:xfrm>
          <a:prstGeom prst="ellipse">
            <a:avLst/>
          </a:prstGeom>
          <a:solidFill>
            <a:srgbClr val="E89A0C"/>
          </a:solidFill>
          <a:ln w="12700">
            <a:solidFill>
              <a:srgbClr val="E89A0C"/>
            </a:solidFill>
            <a:prstDash val="solid"/>
          </a:ln>
        </p:spPr>
        <p:txBody>
          <a:bodyPr/>
          <a:lstStyle/>
          <a:p>
            <a:endParaRPr lang="it-IT"/>
          </a:p>
        </p:txBody>
      </p:sp>
      <p:pic>
        <p:nvPicPr>
          <p:cNvPr id="38" name="Image 3" descr="Bolt icon"/>
          <p:cNvPicPr>
            <a:picLocks noChangeAspect="1"/>
          </p:cNvPicPr>
          <p:nvPr/>
        </p:nvPicPr>
        <p:blipFill>
          <a:blip r:embed="rId6"/>
          <a:stretch>
            <a:fillRect/>
          </a:stretch>
        </p:blipFill>
        <p:spPr>
          <a:xfrm>
            <a:off x="4429536" y="3698016"/>
            <a:ext cx="193487" cy="193487"/>
          </a:xfrm>
          <a:prstGeom prst="rect">
            <a:avLst/>
          </a:prstGeom>
        </p:spPr>
      </p:pic>
      <p:sp>
        <p:nvSpPr>
          <p:cNvPr id="39" name="Text 32"/>
          <p:cNvSpPr txBox="1"/>
          <p:nvPr/>
        </p:nvSpPr>
        <p:spPr>
          <a:xfrm>
            <a:off x="4846320" y="3502152"/>
            <a:ext cx="3383280" cy="585216"/>
          </a:xfrm>
          <a:prstGeom prst="rect">
            <a:avLst/>
          </a:prstGeom>
          <a:noFill/>
          <a:ln/>
        </p:spPr>
        <p:txBody>
          <a:bodyPr wrap="square" lIns="0" tIns="0" rIns="0" bIns="0" rtlCol="0" anchor="ctr"/>
          <a:lstStyle/>
          <a:p>
            <a:pPr marL="0" indent="0">
              <a:buNone/>
            </a:pPr>
            <a:r>
              <a:rPr lang="en-US" sz="1300" b="1" dirty="0">
                <a:solidFill>
                  <a:schemeClr val="tx2"/>
                </a:solidFill>
              </a:rPr>
              <a:t>Light</a:t>
            </a:r>
            <a:endParaRPr lang="en-US" sz="1100" dirty="0"/>
          </a:p>
          <a:p>
            <a:pPr marL="0" indent="0">
              <a:buNone/>
            </a:pPr>
            <a:r>
              <a:rPr lang="en-US" sz="1100" dirty="0">
                <a:solidFill>
                  <a:schemeClr val="tx1"/>
                </a:solidFill>
              </a:rPr>
              <a:t>Fast and light on memory (made by Microsoft). Excellent for table data like ours.</a:t>
            </a:r>
            <a:endParaRPr lang="en-US" sz="1100" dirty="0"/>
          </a:p>
        </p:txBody>
      </p:sp>
      <p:sp>
        <p:nvSpPr>
          <p:cNvPr id="40"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41" name="Image 4" descr="idea icon"/>
          <p:cNvPicPr>
            <a:picLocks noChangeAspect="1"/>
          </p:cNvPicPr>
          <p:nvPr/>
        </p:nvPicPr>
        <p:blipFill>
          <a:blip r:embed="rId7"/>
          <a:stretch>
            <a:fillRect/>
          </a:stretch>
        </p:blipFill>
        <p:spPr>
          <a:xfrm>
            <a:off x="594360" y="4462272"/>
            <a:ext cx="274320" cy="274320"/>
          </a:xfrm>
          <a:prstGeom prst="rect">
            <a:avLst/>
          </a:prstGeom>
        </p:spPr>
      </p:pic>
      <p:sp>
        <p:nvSpPr>
          <p:cNvPr id="42" name="Text 34"/>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a team of simple flowcharts, each fixing what the others got wrong; it gives 90% of the bottle forecast.</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HOW THE AI WORKS · KEY TERMS</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What is a neural network?</a:t>
            </a:r>
            <a:endParaRPr lang="en-US" sz="2800" dirty="0"/>
          </a:p>
        </p:txBody>
      </p:sp>
      <p:sp>
        <p:nvSpPr>
          <p:cNvPr id="5" name="connection"/>
          <p:cNvSpPr/>
          <p:nvPr/>
        </p:nvSpPr>
        <p:spPr>
          <a:xfrm flipV="1">
            <a:off x="685800" y="1275588"/>
            <a:ext cx="640080" cy="123444"/>
          </a:xfrm>
          <a:prstGeom prst="line">
            <a:avLst/>
          </a:prstGeom>
          <a:noFill/>
          <a:ln w="9525">
            <a:solidFill>
              <a:srgbClr val="B9CFC2"/>
            </a:solidFill>
            <a:prstDash val="solid"/>
          </a:ln>
        </p:spPr>
        <p:txBody>
          <a:bodyPr/>
          <a:lstStyle/>
          <a:p>
            <a:endParaRPr lang="it-IT"/>
          </a:p>
        </p:txBody>
      </p:sp>
      <p:sp>
        <p:nvSpPr>
          <p:cNvPr id="6" name="connection"/>
          <p:cNvSpPr/>
          <p:nvPr/>
        </p:nvSpPr>
        <p:spPr>
          <a:xfrm>
            <a:off x="685800" y="1399032"/>
            <a:ext cx="640080" cy="123444"/>
          </a:xfrm>
          <a:prstGeom prst="line">
            <a:avLst/>
          </a:prstGeom>
          <a:noFill/>
          <a:ln w="9525">
            <a:solidFill>
              <a:srgbClr val="B9CFC2"/>
            </a:solidFill>
            <a:prstDash val="solid"/>
          </a:ln>
        </p:spPr>
        <p:txBody>
          <a:bodyPr/>
          <a:lstStyle/>
          <a:p>
            <a:endParaRPr lang="it-IT"/>
          </a:p>
        </p:txBody>
      </p:sp>
      <p:sp>
        <p:nvSpPr>
          <p:cNvPr id="7" name="connection"/>
          <p:cNvSpPr/>
          <p:nvPr/>
        </p:nvSpPr>
        <p:spPr>
          <a:xfrm>
            <a:off x="685800" y="1399032"/>
            <a:ext cx="640080" cy="370332"/>
          </a:xfrm>
          <a:prstGeom prst="line">
            <a:avLst/>
          </a:prstGeom>
          <a:noFill/>
          <a:ln w="9525">
            <a:solidFill>
              <a:srgbClr val="B9CFC2"/>
            </a:solidFill>
            <a:prstDash val="solid"/>
          </a:ln>
        </p:spPr>
        <p:txBody>
          <a:bodyPr/>
          <a:lstStyle/>
          <a:p>
            <a:endParaRPr lang="it-IT"/>
          </a:p>
        </p:txBody>
      </p:sp>
      <p:sp>
        <p:nvSpPr>
          <p:cNvPr id="8" name="connection"/>
          <p:cNvSpPr/>
          <p:nvPr/>
        </p:nvSpPr>
        <p:spPr>
          <a:xfrm>
            <a:off x="685800" y="1399032"/>
            <a:ext cx="640080" cy="617220"/>
          </a:xfrm>
          <a:prstGeom prst="line">
            <a:avLst/>
          </a:prstGeom>
          <a:noFill/>
          <a:ln w="9525">
            <a:solidFill>
              <a:srgbClr val="B9CFC2"/>
            </a:solidFill>
            <a:prstDash val="solid"/>
          </a:ln>
        </p:spPr>
        <p:txBody>
          <a:bodyPr/>
          <a:lstStyle/>
          <a:p>
            <a:endParaRPr lang="it-IT"/>
          </a:p>
        </p:txBody>
      </p:sp>
      <p:sp>
        <p:nvSpPr>
          <p:cNvPr id="9" name="connection"/>
          <p:cNvSpPr/>
          <p:nvPr/>
        </p:nvSpPr>
        <p:spPr>
          <a:xfrm flipV="1">
            <a:off x="685800" y="1275588"/>
            <a:ext cx="640080" cy="370332"/>
          </a:xfrm>
          <a:prstGeom prst="line">
            <a:avLst/>
          </a:prstGeom>
          <a:noFill/>
          <a:ln w="9525">
            <a:solidFill>
              <a:srgbClr val="B9CFC2"/>
            </a:solidFill>
            <a:prstDash val="solid"/>
          </a:ln>
        </p:spPr>
        <p:txBody>
          <a:bodyPr/>
          <a:lstStyle/>
          <a:p>
            <a:endParaRPr lang="it-IT"/>
          </a:p>
        </p:txBody>
      </p:sp>
      <p:sp>
        <p:nvSpPr>
          <p:cNvPr id="10" name="connection"/>
          <p:cNvSpPr/>
          <p:nvPr/>
        </p:nvSpPr>
        <p:spPr>
          <a:xfrm flipV="1">
            <a:off x="685800" y="1522476"/>
            <a:ext cx="640080" cy="123444"/>
          </a:xfrm>
          <a:prstGeom prst="line">
            <a:avLst/>
          </a:prstGeom>
          <a:noFill/>
          <a:ln w="9525">
            <a:solidFill>
              <a:srgbClr val="B9CFC2"/>
            </a:solidFill>
            <a:prstDash val="solid"/>
          </a:ln>
        </p:spPr>
        <p:txBody>
          <a:bodyPr/>
          <a:lstStyle/>
          <a:p>
            <a:endParaRPr lang="it-IT"/>
          </a:p>
        </p:txBody>
      </p:sp>
      <p:sp>
        <p:nvSpPr>
          <p:cNvPr id="11" name="connection"/>
          <p:cNvSpPr/>
          <p:nvPr/>
        </p:nvSpPr>
        <p:spPr>
          <a:xfrm>
            <a:off x="685800" y="1645920"/>
            <a:ext cx="640080" cy="123444"/>
          </a:xfrm>
          <a:prstGeom prst="line">
            <a:avLst/>
          </a:prstGeom>
          <a:noFill/>
          <a:ln w="9525">
            <a:solidFill>
              <a:srgbClr val="B9CFC2"/>
            </a:solidFill>
            <a:prstDash val="solid"/>
          </a:ln>
        </p:spPr>
        <p:txBody>
          <a:bodyPr/>
          <a:lstStyle/>
          <a:p>
            <a:endParaRPr lang="it-IT"/>
          </a:p>
        </p:txBody>
      </p:sp>
      <p:sp>
        <p:nvSpPr>
          <p:cNvPr id="12" name="connection"/>
          <p:cNvSpPr/>
          <p:nvPr/>
        </p:nvSpPr>
        <p:spPr>
          <a:xfrm>
            <a:off x="685800" y="1645920"/>
            <a:ext cx="640080" cy="370332"/>
          </a:xfrm>
          <a:prstGeom prst="line">
            <a:avLst/>
          </a:prstGeom>
          <a:noFill/>
          <a:ln w="9525">
            <a:solidFill>
              <a:srgbClr val="B9CFC2"/>
            </a:solidFill>
            <a:prstDash val="solid"/>
          </a:ln>
        </p:spPr>
        <p:txBody>
          <a:bodyPr/>
          <a:lstStyle/>
          <a:p>
            <a:endParaRPr lang="it-IT"/>
          </a:p>
        </p:txBody>
      </p:sp>
      <p:sp>
        <p:nvSpPr>
          <p:cNvPr id="13" name="connection"/>
          <p:cNvSpPr/>
          <p:nvPr/>
        </p:nvSpPr>
        <p:spPr>
          <a:xfrm flipV="1">
            <a:off x="685800" y="1275588"/>
            <a:ext cx="640080" cy="617220"/>
          </a:xfrm>
          <a:prstGeom prst="line">
            <a:avLst/>
          </a:prstGeom>
          <a:noFill/>
          <a:ln w="9525">
            <a:solidFill>
              <a:srgbClr val="B9CFC2"/>
            </a:solidFill>
            <a:prstDash val="solid"/>
          </a:ln>
        </p:spPr>
        <p:txBody>
          <a:bodyPr/>
          <a:lstStyle/>
          <a:p>
            <a:endParaRPr lang="it-IT"/>
          </a:p>
        </p:txBody>
      </p:sp>
      <p:sp>
        <p:nvSpPr>
          <p:cNvPr id="14" name="connection"/>
          <p:cNvSpPr/>
          <p:nvPr/>
        </p:nvSpPr>
        <p:spPr>
          <a:xfrm flipV="1">
            <a:off x="685800" y="1522476"/>
            <a:ext cx="640080" cy="370332"/>
          </a:xfrm>
          <a:prstGeom prst="line">
            <a:avLst/>
          </a:prstGeom>
          <a:noFill/>
          <a:ln w="9525">
            <a:solidFill>
              <a:srgbClr val="B9CFC2"/>
            </a:solidFill>
            <a:prstDash val="solid"/>
          </a:ln>
        </p:spPr>
        <p:txBody>
          <a:bodyPr/>
          <a:lstStyle/>
          <a:p>
            <a:endParaRPr lang="it-IT"/>
          </a:p>
        </p:txBody>
      </p:sp>
      <p:sp>
        <p:nvSpPr>
          <p:cNvPr id="15" name="connection"/>
          <p:cNvSpPr/>
          <p:nvPr/>
        </p:nvSpPr>
        <p:spPr>
          <a:xfrm flipV="1">
            <a:off x="685800" y="1769364"/>
            <a:ext cx="640080" cy="123444"/>
          </a:xfrm>
          <a:prstGeom prst="line">
            <a:avLst/>
          </a:prstGeom>
          <a:noFill/>
          <a:ln w="9525">
            <a:solidFill>
              <a:srgbClr val="B9CFC2"/>
            </a:solidFill>
            <a:prstDash val="solid"/>
          </a:ln>
        </p:spPr>
        <p:txBody>
          <a:bodyPr/>
          <a:lstStyle/>
          <a:p>
            <a:endParaRPr lang="it-IT"/>
          </a:p>
        </p:txBody>
      </p:sp>
      <p:sp>
        <p:nvSpPr>
          <p:cNvPr id="16" name="connection"/>
          <p:cNvSpPr/>
          <p:nvPr/>
        </p:nvSpPr>
        <p:spPr>
          <a:xfrm>
            <a:off x="685800" y="1892808"/>
            <a:ext cx="640080" cy="123444"/>
          </a:xfrm>
          <a:prstGeom prst="line">
            <a:avLst/>
          </a:prstGeom>
          <a:noFill/>
          <a:ln w="9525">
            <a:solidFill>
              <a:srgbClr val="B9CFC2"/>
            </a:solidFill>
            <a:prstDash val="solid"/>
          </a:ln>
        </p:spPr>
        <p:txBody>
          <a:bodyPr/>
          <a:lstStyle/>
          <a:p>
            <a:endParaRPr lang="it-IT"/>
          </a:p>
        </p:txBody>
      </p:sp>
      <p:sp>
        <p:nvSpPr>
          <p:cNvPr id="17" name="connection"/>
          <p:cNvSpPr/>
          <p:nvPr/>
        </p:nvSpPr>
        <p:spPr>
          <a:xfrm>
            <a:off x="1325880" y="1275588"/>
            <a:ext cx="640080" cy="246888"/>
          </a:xfrm>
          <a:prstGeom prst="line">
            <a:avLst/>
          </a:prstGeom>
          <a:noFill/>
          <a:ln w="9525">
            <a:solidFill>
              <a:srgbClr val="B9CFC2"/>
            </a:solidFill>
            <a:prstDash val="solid"/>
          </a:ln>
        </p:spPr>
        <p:txBody>
          <a:bodyPr/>
          <a:lstStyle/>
          <a:p>
            <a:endParaRPr lang="it-IT"/>
          </a:p>
        </p:txBody>
      </p:sp>
      <p:sp>
        <p:nvSpPr>
          <p:cNvPr id="18" name="connection"/>
          <p:cNvSpPr/>
          <p:nvPr/>
        </p:nvSpPr>
        <p:spPr>
          <a:xfrm>
            <a:off x="1325880" y="1275588"/>
            <a:ext cx="640080" cy="493776"/>
          </a:xfrm>
          <a:prstGeom prst="line">
            <a:avLst/>
          </a:prstGeom>
          <a:noFill/>
          <a:ln w="9525">
            <a:solidFill>
              <a:srgbClr val="B9CFC2"/>
            </a:solidFill>
            <a:prstDash val="solid"/>
          </a:ln>
        </p:spPr>
        <p:txBody>
          <a:bodyPr/>
          <a:lstStyle/>
          <a:p>
            <a:endParaRPr lang="it-IT"/>
          </a:p>
        </p:txBody>
      </p:sp>
      <p:sp>
        <p:nvSpPr>
          <p:cNvPr id="19" name="connection"/>
          <p:cNvSpPr/>
          <p:nvPr/>
        </p:nvSpPr>
        <p:spPr>
          <a:xfrm>
            <a:off x="1325880" y="1522476"/>
            <a:ext cx="640080" cy="914"/>
          </a:xfrm>
          <a:prstGeom prst="line">
            <a:avLst/>
          </a:prstGeom>
          <a:noFill/>
          <a:ln w="9525">
            <a:solidFill>
              <a:srgbClr val="B9CFC2"/>
            </a:solidFill>
            <a:prstDash val="solid"/>
          </a:ln>
        </p:spPr>
        <p:txBody>
          <a:bodyPr/>
          <a:lstStyle/>
          <a:p>
            <a:endParaRPr lang="it-IT"/>
          </a:p>
        </p:txBody>
      </p:sp>
      <p:sp>
        <p:nvSpPr>
          <p:cNvPr id="20" name="connection"/>
          <p:cNvSpPr/>
          <p:nvPr/>
        </p:nvSpPr>
        <p:spPr>
          <a:xfrm>
            <a:off x="1325880" y="1522476"/>
            <a:ext cx="640080" cy="246888"/>
          </a:xfrm>
          <a:prstGeom prst="line">
            <a:avLst/>
          </a:prstGeom>
          <a:noFill/>
          <a:ln w="9525">
            <a:solidFill>
              <a:srgbClr val="B9CFC2"/>
            </a:solidFill>
            <a:prstDash val="solid"/>
          </a:ln>
        </p:spPr>
        <p:txBody>
          <a:bodyPr/>
          <a:lstStyle/>
          <a:p>
            <a:endParaRPr lang="it-IT"/>
          </a:p>
        </p:txBody>
      </p:sp>
      <p:sp>
        <p:nvSpPr>
          <p:cNvPr id="21" name="connection"/>
          <p:cNvSpPr/>
          <p:nvPr/>
        </p:nvSpPr>
        <p:spPr>
          <a:xfrm flipV="1">
            <a:off x="1325880" y="1522476"/>
            <a:ext cx="640080" cy="246888"/>
          </a:xfrm>
          <a:prstGeom prst="line">
            <a:avLst/>
          </a:prstGeom>
          <a:noFill/>
          <a:ln w="9525">
            <a:solidFill>
              <a:srgbClr val="B9CFC2"/>
            </a:solidFill>
            <a:prstDash val="solid"/>
          </a:ln>
        </p:spPr>
        <p:txBody>
          <a:bodyPr/>
          <a:lstStyle/>
          <a:p>
            <a:endParaRPr lang="it-IT"/>
          </a:p>
        </p:txBody>
      </p:sp>
      <p:sp>
        <p:nvSpPr>
          <p:cNvPr id="22" name="connection"/>
          <p:cNvSpPr/>
          <p:nvPr/>
        </p:nvSpPr>
        <p:spPr>
          <a:xfrm>
            <a:off x="1325880" y="1769364"/>
            <a:ext cx="640080" cy="914"/>
          </a:xfrm>
          <a:prstGeom prst="line">
            <a:avLst/>
          </a:prstGeom>
          <a:noFill/>
          <a:ln w="9525">
            <a:solidFill>
              <a:srgbClr val="B9CFC2"/>
            </a:solidFill>
            <a:prstDash val="solid"/>
          </a:ln>
        </p:spPr>
        <p:txBody>
          <a:bodyPr/>
          <a:lstStyle/>
          <a:p>
            <a:endParaRPr lang="it-IT"/>
          </a:p>
        </p:txBody>
      </p:sp>
      <p:sp>
        <p:nvSpPr>
          <p:cNvPr id="23" name="connection"/>
          <p:cNvSpPr/>
          <p:nvPr/>
        </p:nvSpPr>
        <p:spPr>
          <a:xfrm flipV="1">
            <a:off x="1325880" y="1522476"/>
            <a:ext cx="640080" cy="493776"/>
          </a:xfrm>
          <a:prstGeom prst="line">
            <a:avLst/>
          </a:prstGeom>
          <a:noFill/>
          <a:ln w="9525">
            <a:solidFill>
              <a:srgbClr val="B9CFC2"/>
            </a:solidFill>
            <a:prstDash val="solid"/>
          </a:ln>
        </p:spPr>
        <p:txBody>
          <a:bodyPr/>
          <a:lstStyle/>
          <a:p>
            <a:endParaRPr lang="it-IT"/>
          </a:p>
        </p:txBody>
      </p:sp>
      <p:sp>
        <p:nvSpPr>
          <p:cNvPr id="24" name="connection"/>
          <p:cNvSpPr/>
          <p:nvPr/>
        </p:nvSpPr>
        <p:spPr>
          <a:xfrm flipV="1">
            <a:off x="1325880" y="1769364"/>
            <a:ext cx="640080" cy="246888"/>
          </a:xfrm>
          <a:prstGeom prst="line">
            <a:avLst/>
          </a:prstGeom>
          <a:noFill/>
          <a:ln w="9525">
            <a:solidFill>
              <a:srgbClr val="B9CFC2"/>
            </a:solidFill>
            <a:prstDash val="solid"/>
          </a:ln>
        </p:spPr>
        <p:txBody>
          <a:bodyPr/>
          <a:lstStyle/>
          <a:p>
            <a:endParaRPr lang="it-IT"/>
          </a:p>
        </p:txBody>
      </p:sp>
      <p:sp>
        <p:nvSpPr>
          <p:cNvPr id="25" name="neuron"/>
          <p:cNvSpPr/>
          <p:nvPr/>
        </p:nvSpPr>
        <p:spPr>
          <a:xfrm>
            <a:off x="594360" y="1307592"/>
            <a:ext cx="182880" cy="182880"/>
          </a:xfrm>
          <a:prstGeom prst="ellipse">
            <a:avLst/>
          </a:prstGeom>
          <a:solidFill>
            <a:srgbClr val="2C7DA0"/>
          </a:solidFill>
          <a:ln w="12700">
            <a:solidFill>
              <a:srgbClr val="FFFFFF"/>
            </a:solidFill>
            <a:prstDash val="solid"/>
          </a:ln>
        </p:spPr>
        <p:txBody>
          <a:bodyPr/>
          <a:lstStyle/>
          <a:p>
            <a:endParaRPr lang="it-IT"/>
          </a:p>
        </p:txBody>
      </p:sp>
      <p:sp>
        <p:nvSpPr>
          <p:cNvPr id="26" name="neuron"/>
          <p:cNvSpPr/>
          <p:nvPr/>
        </p:nvSpPr>
        <p:spPr>
          <a:xfrm>
            <a:off x="594360" y="1554480"/>
            <a:ext cx="182880" cy="182880"/>
          </a:xfrm>
          <a:prstGeom prst="ellipse">
            <a:avLst/>
          </a:prstGeom>
          <a:solidFill>
            <a:srgbClr val="2C7DA0"/>
          </a:solidFill>
          <a:ln w="12700">
            <a:solidFill>
              <a:srgbClr val="FFFFFF"/>
            </a:solidFill>
            <a:prstDash val="solid"/>
          </a:ln>
        </p:spPr>
        <p:txBody>
          <a:bodyPr/>
          <a:lstStyle/>
          <a:p>
            <a:endParaRPr lang="it-IT"/>
          </a:p>
        </p:txBody>
      </p:sp>
      <p:sp>
        <p:nvSpPr>
          <p:cNvPr id="27" name="neuron"/>
          <p:cNvSpPr/>
          <p:nvPr/>
        </p:nvSpPr>
        <p:spPr>
          <a:xfrm>
            <a:off x="594360" y="1801368"/>
            <a:ext cx="182880" cy="182880"/>
          </a:xfrm>
          <a:prstGeom prst="ellipse">
            <a:avLst/>
          </a:prstGeom>
          <a:solidFill>
            <a:srgbClr val="2C7DA0"/>
          </a:solidFill>
          <a:ln w="12700">
            <a:solidFill>
              <a:srgbClr val="FFFFFF"/>
            </a:solidFill>
            <a:prstDash val="solid"/>
          </a:ln>
        </p:spPr>
        <p:txBody>
          <a:bodyPr/>
          <a:lstStyle/>
          <a:p>
            <a:endParaRPr lang="it-IT"/>
          </a:p>
        </p:txBody>
      </p:sp>
      <p:sp>
        <p:nvSpPr>
          <p:cNvPr id="28" name="neuron"/>
          <p:cNvSpPr/>
          <p:nvPr/>
        </p:nvSpPr>
        <p:spPr>
          <a:xfrm>
            <a:off x="1234440" y="1184148"/>
            <a:ext cx="182880" cy="182880"/>
          </a:xfrm>
          <a:prstGeom prst="ellipse">
            <a:avLst/>
          </a:prstGeom>
          <a:solidFill>
            <a:srgbClr val="7B5EA7"/>
          </a:solidFill>
          <a:ln w="12700">
            <a:solidFill>
              <a:srgbClr val="FFFFFF"/>
            </a:solidFill>
            <a:prstDash val="solid"/>
          </a:ln>
        </p:spPr>
        <p:txBody>
          <a:bodyPr/>
          <a:lstStyle/>
          <a:p>
            <a:endParaRPr lang="it-IT"/>
          </a:p>
        </p:txBody>
      </p:sp>
      <p:sp>
        <p:nvSpPr>
          <p:cNvPr id="29" name="neuron"/>
          <p:cNvSpPr/>
          <p:nvPr/>
        </p:nvSpPr>
        <p:spPr>
          <a:xfrm>
            <a:off x="1234440" y="1431036"/>
            <a:ext cx="182880" cy="182880"/>
          </a:xfrm>
          <a:prstGeom prst="ellipse">
            <a:avLst/>
          </a:prstGeom>
          <a:solidFill>
            <a:srgbClr val="7B5EA7"/>
          </a:solidFill>
          <a:ln w="12700">
            <a:solidFill>
              <a:srgbClr val="FFFFFF"/>
            </a:solidFill>
            <a:prstDash val="solid"/>
          </a:ln>
        </p:spPr>
        <p:txBody>
          <a:bodyPr/>
          <a:lstStyle/>
          <a:p>
            <a:endParaRPr lang="it-IT"/>
          </a:p>
        </p:txBody>
      </p:sp>
      <p:sp>
        <p:nvSpPr>
          <p:cNvPr id="30" name="neuron"/>
          <p:cNvSpPr/>
          <p:nvPr/>
        </p:nvSpPr>
        <p:spPr>
          <a:xfrm>
            <a:off x="1234440" y="1677924"/>
            <a:ext cx="182880" cy="182880"/>
          </a:xfrm>
          <a:prstGeom prst="ellipse">
            <a:avLst/>
          </a:prstGeom>
          <a:solidFill>
            <a:srgbClr val="7B5EA7"/>
          </a:solidFill>
          <a:ln w="12700">
            <a:solidFill>
              <a:srgbClr val="FFFFFF"/>
            </a:solidFill>
            <a:prstDash val="solid"/>
          </a:ln>
        </p:spPr>
        <p:txBody>
          <a:bodyPr/>
          <a:lstStyle/>
          <a:p>
            <a:endParaRPr lang="it-IT"/>
          </a:p>
        </p:txBody>
      </p:sp>
      <p:sp>
        <p:nvSpPr>
          <p:cNvPr id="31" name="neuron"/>
          <p:cNvSpPr/>
          <p:nvPr/>
        </p:nvSpPr>
        <p:spPr>
          <a:xfrm>
            <a:off x="1234440" y="1924812"/>
            <a:ext cx="182880" cy="182880"/>
          </a:xfrm>
          <a:prstGeom prst="ellipse">
            <a:avLst/>
          </a:prstGeom>
          <a:solidFill>
            <a:srgbClr val="7B5EA7"/>
          </a:solidFill>
          <a:ln w="12700">
            <a:solidFill>
              <a:srgbClr val="FFFFFF"/>
            </a:solidFill>
            <a:prstDash val="solid"/>
          </a:ln>
        </p:spPr>
        <p:txBody>
          <a:bodyPr/>
          <a:lstStyle/>
          <a:p>
            <a:endParaRPr lang="it-IT"/>
          </a:p>
        </p:txBody>
      </p:sp>
      <p:sp>
        <p:nvSpPr>
          <p:cNvPr id="32" name="neuron"/>
          <p:cNvSpPr/>
          <p:nvPr/>
        </p:nvSpPr>
        <p:spPr>
          <a:xfrm>
            <a:off x="1874520" y="1431036"/>
            <a:ext cx="182880" cy="182880"/>
          </a:xfrm>
          <a:prstGeom prst="ellipse">
            <a:avLst/>
          </a:prstGeom>
          <a:solidFill>
            <a:srgbClr val="1E9E62"/>
          </a:solidFill>
          <a:ln w="12700">
            <a:solidFill>
              <a:srgbClr val="FFFFFF"/>
            </a:solidFill>
            <a:prstDash val="solid"/>
          </a:ln>
        </p:spPr>
        <p:txBody>
          <a:bodyPr/>
          <a:lstStyle/>
          <a:p>
            <a:endParaRPr lang="it-IT"/>
          </a:p>
        </p:txBody>
      </p:sp>
      <p:sp>
        <p:nvSpPr>
          <p:cNvPr id="33" name="neuron"/>
          <p:cNvSpPr/>
          <p:nvPr/>
        </p:nvSpPr>
        <p:spPr>
          <a:xfrm>
            <a:off x="1874520" y="1677924"/>
            <a:ext cx="182880" cy="182880"/>
          </a:xfrm>
          <a:prstGeom prst="ellipse">
            <a:avLst/>
          </a:prstGeom>
          <a:solidFill>
            <a:srgbClr val="1E9E62"/>
          </a:solidFill>
          <a:ln w="12700">
            <a:solidFill>
              <a:srgbClr val="FFFFFF"/>
            </a:solidFill>
            <a:prstDash val="solid"/>
          </a:ln>
        </p:spPr>
        <p:txBody>
          <a:bodyPr/>
          <a:lstStyle/>
          <a:p>
            <a:endParaRPr lang="it-IT"/>
          </a:p>
        </p:txBody>
      </p:sp>
      <p:sp>
        <p:nvSpPr>
          <p:cNvPr id="34" name="Text 31"/>
          <p:cNvSpPr txBox="1"/>
          <p:nvPr/>
        </p:nvSpPr>
        <p:spPr>
          <a:xfrm>
            <a:off x="2377440" y="1207008"/>
            <a:ext cx="5943600" cy="777240"/>
          </a:xfrm>
          <a:prstGeom prst="rect">
            <a:avLst/>
          </a:prstGeom>
          <a:noFill/>
          <a:ln/>
        </p:spPr>
        <p:txBody>
          <a:bodyPr wrap="square" lIns="0" tIns="0" rIns="0" bIns="0" rtlCol="0" anchor="ctr"/>
          <a:lstStyle/>
          <a:p>
            <a:pPr marL="0" indent="0">
              <a:buNone/>
            </a:pPr>
            <a:r>
              <a:rPr lang="en-US" sz="1300" b="1" dirty="0">
                <a:solidFill>
                  <a:schemeClr val="tx2"/>
                </a:solidFill>
              </a:rPr>
              <a:t>A neural network </a:t>
            </a:r>
            <a:r>
              <a:rPr lang="en-US" sz="1300" dirty="0">
                <a:solidFill>
                  <a:schemeClr val="tx1"/>
                </a:solidFill>
              </a:rPr>
              <a:t>is a chain of layers of tiny calculators (“neurons”), loosely inspired by brain cells passing signals. Ours is built with PyTorch.</a:t>
            </a:r>
            <a:endParaRPr lang="en-US" sz="1300" dirty="0"/>
          </a:p>
        </p:txBody>
      </p:sp>
      <p:sp>
        <p:nvSpPr>
          <p:cNvPr id="35" name="card"/>
          <p:cNvSpPr/>
          <p:nvPr/>
        </p:nvSpPr>
        <p:spPr>
          <a:xfrm>
            <a:off x="457200" y="2240280"/>
            <a:ext cx="2514600" cy="914400"/>
          </a:xfrm>
          <a:prstGeom prst="roundRect">
            <a:avLst>
              <a:gd name="adj" fmla="val 8000"/>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36" name="icon circle FaCalculator"/>
          <p:cNvSpPr/>
          <p:nvPr/>
        </p:nvSpPr>
        <p:spPr>
          <a:xfrm>
            <a:off x="566928" y="2350008"/>
            <a:ext cx="365760" cy="365760"/>
          </a:xfrm>
          <a:prstGeom prst="ellipse">
            <a:avLst/>
          </a:prstGeom>
          <a:solidFill>
            <a:srgbClr val="2C7DA0"/>
          </a:solidFill>
          <a:ln w="12700">
            <a:solidFill>
              <a:srgbClr val="2C7DA0"/>
            </a:solidFill>
            <a:prstDash val="solid"/>
          </a:ln>
        </p:spPr>
        <p:txBody>
          <a:bodyPr/>
          <a:lstStyle/>
          <a:p>
            <a:endParaRPr lang="it-IT"/>
          </a:p>
        </p:txBody>
      </p:sp>
      <p:pic>
        <p:nvPicPr>
          <p:cNvPr id="37" name="Image 0" descr="Calculator icon"/>
          <p:cNvPicPr>
            <a:picLocks noChangeAspect="1"/>
          </p:cNvPicPr>
          <p:nvPr/>
        </p:nvPicPr>
        <p:blipFill>
          <a:blip r:embed="rId3"/>
          <a:stretch>
            <a:fillRect/>
          </a:stretch>
        </p:blipFill>
        <p:spPr>
          <a:xfrm>
            <a:off x="665683" y="2448763"/>
            <a:ext cx="168250" cy="168250"/>
          </a:xfrm>
          <a:prstGeom prst="rect">
            <a:avLst/>
          </a:prstGeom>
        </p:spPr>
      </p:pic>
      <p:sp>
        <p:nvSpPr>
          <p:cNvPr id="38" name="Text 34"/>
          <p:cNvSpPr txBox="1"/>
          <p:nvPr/>
        </p:nvSpPr>
        <p:spPr>
          <a:xfrm>
            <a:off x="1024128" y="2350008"/>
            <a:ext cx="1874520" cy="365760"/>
          </a:xfrm>
          <a:prstGeom prst="rect">
            <a:avLst/>
          </a:prstGeom>
          <a:noFill/>
          <a:ln/>
        </p:spPr>
        <p:txBody>
          <a:bodyPr wrap="square" lIns="0" tIns="0" rIns="0" bIns="0" rtlCol="0" anchor="ctr"/>
          <a:lstStyle/>
          <a:p>
            <a:pPr marL="0" indent="0">
              <a:buNone/>
            </a:pPr>
            <a:r>
              <a:rPr lang="en-US" sz="1300" b="1" dirty="0">
                <a:solidFill>
                  <a:schemeClr val="tx2"/>
                </a:solidFill>
              </a:rPr>
              <a:t>Neuron</a:t>
            </a:r>
            <a:endParaRPr lang="en-US" sz="1300" dirty="0"/>
          </a:p>
        </p:txBody>
      </p:sp>
      <p:sp>
        <p:nvSpPr>
          <p:cNvPr id="39" name="Text 35"/>
          <p:cNvSpPr txBox="1"/>
          <p:nvPr/>
        </p:nvSpPr>
        <p:spPr>
          <a:xfrm>
            <a:off x="594360" y="2724912"/>
            <a:ext cx="2286000" cy="402336"/>
          </a:xfrm>
          <a:prstGeom prst="rect">
            <a:avLst/>
          </a:prstGeom>
          <a:noFill/>
          <a:ln/>
        </p:spPr>
        <p:txBody>
          <a:bodyPr wrap="square" lIns="0" tIns="0" rIns="0" bIns="0" rtlCol="0" anchor="t"/>
          <a:lstStyle/>
          <a:p>
            <a:pPr marL="0" indent="0">
              <a:buNone/>
            </a:pPr>
            <a:r>
              <a:rPr lang="en-US" sz="1050" dirty="0">
                <a:solidFill>
                  <a:schemeClr val="tx1"/>
                </a:solidFill>
              </a:rPr>
              <a:t>Multiplies each input by a weight, adds them up, passes it on.</a:t>
            </a:r>
            <a:endParaRPr lang="en-US" sz="1050" dirty="0"/>
          </a:p>
        </p:txBody>
      </p:sp>
      <p:sp>
        <p:nvSpPr>
          <p:cNvPr id="40" name="card"/>
          <p:cNvSpPr/>
          <p:nvPr/>
        </p:nvSpPr>
        <p:spPr>
          <a:xfrm>
            <a:off x="3154680" y="2240280"/>
            <a:ext cx="2514600" cy="914400"/>
          </a:xfrm>
          <a:prstGeom prst="roundRect">
            <a:avLst>
              <a:gd name="adj" fmla="val 8000"/>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41" name="icon circle FaLayerGroup"/>
          <p:cNvSpPr/>
          <p:nvPr/>
        </p:nvSpPr>
        <p:spPr>
          <a:xfrm>
            <a:off x="3264408" y="2350008"/>
            <a:ext cx="365760" cy="365760"/>
          </a:xfrm>
          <a:prstGeom prst="ellipse">
            <a:avLst/>
          </a:prstGeom>
          <a:solidFill>
            <a:srgbClr val="7B5EA7"/>
          </a:solidFill>
          <a:ln w="12700">
            <a:solidFill>
              <a:srgbClr val="7B5EA7"/>
            </a:solidFill>
            <a:prstDash val="solid"/>
          </a:ln>
        </p:spPr>
        <p:txBody>
          <a:bodyPr/>
          <a:lstStyle/>
          <a:p>
            <a:endParaRPr lang="it-IT"/>
          </a:p>
        </p:txBody>
      </p:sp>
      <p:pic>
        <p:nvPicPr>
          <p:cNvPr id="42" name="Image 1" descr="LayerGroup icon"/>
          <p:cNvPicPr>
            <a:picLocks noChangeAspect="1"/>
          </p:cNvPicPr>
          <p:nvPr/>
        </p:nvPicPr>
        <p:blipFill>
          <a:blip r:embed="rId4"/>
          <a:stretch>
            <a:fillRect/>
          </a:stretch>
        </p:blipFill>
        <p:spPr>
          <a:xfrm>
            <a:off x="3363163" y="2448763"/>
            <a:ext cx="168250" cy="168250"/>
          </a:xfrm>
          <a:prstGeom prst="rect">
            <a:avLst/>
          </a:prstGeom>
        </p:spPr>
      </p:pic>
      <p:sp>
        <p:nvSpPr>
          <p:cNvPr id="43" name="Text 38"/>
          <p:cNvSpPr txBox="1"/>
          <p:nvPr/>
        </p:nvSpPr>
        <p:spPr>
          <a:xfrm>
            <a:off x="3721608" y="2350008"/>
            <a:ext cx="1874520" cy="365760"/>
          </a:xfrm>
          <a:prstGeom prst="rect">
            <a:avLst/>
          </a:prstGeom>
          <a:noFill/>
          <a:ln/>
        </p:spPr>
        <p:txBody>
          <a:bodyPr wrap="square" lIns="0" tIns="0" rIns="0" bIns="0" rtlCol="0" anchor="ctr"/>
          <a:lstStyle/>
          <a:p>
            <a:pPr marL="0" indent="0">
              <a:buNone/>
            </a:pPr>
            <a:r>
              <a:rPr lang="en-US" sz="1300" b="1" dirty="0">
                <a:solidFill>
                  <a:schemeClr val="tx2"/>
                </a:solidFill>
              </a:rPr>
              <a:t>Layer</a:t>
            </a:r>
            <a:endParaRPr lang="en-US" sz="1300" dirty="0"/>
          </a:p>
        </p:txBody>
      </p:sp>
      <p:sp>
        <p:nvSpPr>
          <p:cNvPr id="44" name="Text 39"/>
          <p:cNvSpPr txBox="1"/>
          <p:nvPr/>
        </p:nvSpPr>
        <p:spPr>
          <a:xfrm>
            <a:off x="3291840" y="2724912"/>
            <a:ext cx="2286000" cy="402336"/>
          </a:xfrm>
          <a:prstGeom prst="rect">
            <a:avLst/>
          </a:prstGeom>
          <a:noFill/>
          <a:ln/>
        </p:spPr>
        <p:txBody>
          <a:bodyPr wrap="square" lIns="0" tIns="0" rIns="0" bIns="0" rtlCol="0" anchor="t"/>
          <a:lstStyle/>
          <a:p>
            <a:pPr marL="0" indent="0">
              <a:buNone/>
            </a:pPr>
            <a:r>
              <a:rPr lang="en-US" sz="1050" dirty="0">
                <a:solidFill>
                  <a:schemeClr val="tx1"/>
                </a:solidFill>
              </a:rPr>
              <a:t>A row of neurons. Ours: 256 → 128 → 64, from simple facts to bigger ideas.</a:t>
            </a:r>
            <a:endParaRPr lang="en-US" sz="1050" dirty="0"/>
          </a:p>
        </p:txBody>
      </p:sp>
      <p:sp>
        <p:nvSpPr>
          <p:cNvPr id="45" name="card"/>
          <p:cNvSpPr/>
          <p:nvPr/>
        </p:nvSpPr>
        <p:spPr>
          <a:xfrm>
            <a:off x="5852160" y="2240280"/>
            <a:ext cx="2514600" cy="914400"/>
          </a:xfrm>
          <a:prstGeom prst="roundRect">
            <a:avLst>
              <a:gd name="adj" fmla="val 8000"/>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46" name="icon circle FaCogs"/>
          <p:cNvSpPr/>
          <p:nvPr/>
        </p:nvSpPr>
        <p:spPr>
          <a:xfrm>
            <a:off x="5961888" y="2350008"/>
            <a:ext cx="365760" cy="365760"/>
          </a:xfrm>
          <a:prstGeom prst="ellipse">
            <a:avLst/>
          </a:prstGeom>
          <a:solidFill>
            <a:srgbClr val="0B3D2E"/>
          </a:solidFill>
          <a:ln w="12700">
            <a:solidFill>
              <a:srgbClr val="0B3D2E"/>
            </a:solidFill>
            <a:prstDash val="solid"/>
          </a:ln>
        </p:spPr>
        <p:txBody>
          <a:bodyPr/>
          <a:lstStyle/>
          <a:p>
            <a:endParaRPr lang="it-IT"/>
          </a:p>
        </p:txBody>
      </p:sp>
      <p:pic>
        <p:nvPicPr>
          <p:cNvPr id="47" name="Image 2" descr="Cogs icon"/>
          <p:cNvPicPr>
            <a:picLocks noChangeAspect="1"/>
          </p:cNvPicPr>
          <p:nvPr/>
        </p:nvPicPr>
        <p:blipFill>
          <a:blip r:embed="rId5"/>
          <a:stretch>
            <a:fillRect/>
          </a:stretch>
        </p:blipFill>
        <p:spPr>
          <a:xfrm>
            <a:off x="6060643" y="2448763"/>
            <a:ext cx="168250" cy="168250"/>
          </a:xfrm>
          <a:prstGeom prst="rect">
            <a:avLst/>
          </a:prstGeom>
        </p:spPr>
      </p:pic>
      <p:sp>
        <p:nvSpPr>
          <p:cNvPr id="48" name="Text 42"/>
          <p:cNvSpPr txBox="1"/>
          <p:nvPr/>
        </p:nvSpPr>
        <p:spPr>
          <a:xfrm>
            <a:off x="6419088" y="2350008"/>
            <a:ext cx="1874520" cy="365760"/>
          </a:xfrm>
          <a:prstGeom prst="rect">
            <a:avLst/>
          </a:prstGeom>
          <a:noFill/>
          <a:ln/>
        </p:spPr>
        <p:txBody>
          <a:bodyPr wrap="square" lIns="0" tIns="0" rIns="0" bIns="0" rtlCol="0" anchor="ctr"/>
          <a:lstStyle/>
          <a:p>
            <a:pPr marL="0" indent="0">
              <a:buNone/>
            </a:pPr>
            <a:r>
              <a:rPr lang="en-US" sz="1300" b="1" dirty="0">
                <a:solidFill>
                  <a:schemeClr val="tx2"/>
                </a:solidFill>
              </a:rPr>
              <a:t>Weights</a:t>
            </a:r>
            <a:endParaRPr lang="en-US" sz="1300" dirty="0"/>
          </a:p>
        </p:txBody>
      </p:sp>
      <p:sp>
        <p:nvSpPr>
          <p:cNvPr id="49" name="Text 43"/>
          <p:cNvSpPr txBox="1"/>
          <p:nvPr/>
        </p:nvSpPr>
        <p:spPr>
          <a:xfrm>
            <a:off x="5989320" y="2724912"/>
            <a:ext cx="2286000" cy="402336"/>
          </a:xfrm>
          <a:prstGeom prst="rect">
            <a:avLst/>
          </a:prstGeom>
          <a:noFill/>
          <a:ln/>
        </p:spPr>
        <p:txBody>
          <a:bodyPr wrap="square" lIns="0" tIns="0" rIns="0" bIns="0" rtlCol="0" anchor="t"/>
          <a:lstStyle/>
          <a:p>
            <a:pPr marL="0" indent="0">
              <a:buNone/>
            </a:pPr>
            <a:r>
              <a:rPr lang="en-US" sz="1050" dirty="0">
                <a:solidFill>
                  <a:schemeClr val="tx1"/>
                </a:solidFill>
              </a:rPr>
              <a:t>Adjustable knobs. Training = turning them so mistakes get smaller.</a:t>
            </a:r>
            <a:endParaRPr lang="en-US" sz="1050" dirty="0"/>
          </a:p>
        </p:txBody>
      </p:sp>
      <p:sp>
        <p:nvSpPr>
          <p:cNvPr id="50" name="card"/>
          <p:cNvSpPr/>
          <p:nvPr/>
        </p:nvSpPr>
        <p:spPr>
          <a:xfrm>
            <a:off x="457200" y="3246120"/>
            <a:ext cx="2514600" cy="914400"/>
          </a:xfrm>
          <a:prstGeom prst="roundRect">
            <a:avLst>
              <a:gd name="adj" fmla="val 8000"/>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51" name="icon circle FaBolt"/>
          <p:cNvSpPr/>
          <p:nvPr/>
        </p:nvSpPr>
        <p:spPr>
          <a:xfrm>
            <a:off x="566928" y="3355848"/>
            <a:ext cx="365760" cy="365760"/>
          </a:xfrm>
          <a:prstGeom prst="ellipse">
            <a:avLst/>
          </a:prstGeom>
          <a:solidFill>
            <a:srgbClr val="E89A0C"/>
          </a:solidFill>
          <a:ln w="12700">
            <a:solidFill>
              <a:srgbClr val="E89A0C"/>
            </a:solidFill>
            <a:prstDash val="solid"/>
          </a:ln>
        </p:spPr>
        <p:txBody>
          <a:bodyPr/>
          <a:lstStyle/>
          <a:p>
            <a:endParaRPr lang="it-IT"/>
          </a:p>
        </p:txBody>
      </p:sp>
      <p:pic>
        <p:nvPicPr>
          <p:cNvPr id="52" name="Image 3" descr="Bolt icon"/>
          <p:cNvPicPr>
            <a:picLocks noChangeAspect="1"/>
          </p:cNvPicPr>
          <p:nvPr/>
        </p:nvPicPr>
        <p:blipFill>
          <a:blip r:embed="rId6"/>
          <a:stretch>
            <a:fillRect/>
          </a:stretch>
        </p:blipFill>
        <p:spPr>
          <a:xfrm>
            <a:off x="665683" y="3454603"/>
            <a:ext cx="168250" cy="168250"/>
          </a:xfrm>
          <a:prstGeom prst="rect">
            <a:avLst/>
          </a:prstGeom>
        </p:spPr>
      </p:pic>
      <p:sp>
        <p:nvSpPr>
          <p:cNvPr id="53" name="Text 46"/>
          <p:cNvSpPr txBox="1"/>
          <p:nvPr/>
        </p:nvSpPr>
        <p:spPr>
          <a:xfrm>
            <a:off x="1024128" y="3355848"/>
            <a:ext cx="1874520" cy="365760"/>
          </a:xfrm>
          <a:prstGeom prst="rect">
            <a:avLst/>
          </a:prstGeom>
          <a:noFill/>
          <a:ln/>
        </p:spPr>
        <p:txBody>
          <a:bodyPr wrap="square" lIns="0" tIns="0" rIns="0" bIns="0" rtlCol="0" anchor="ctr"/>
          <a:lstStyle/>
          <a:p>
            <a:pPr marL="0" indent="0">
              <a:buNone/>
            </a:pPr>
            <a:r>
              <a:rPr lang="en-US" sz="1300" b="1" dirty="0">
                <a:solidFill>
                  <a:schemeClr val="tx2"/>
                </a:solidFill>
              </a:rPr>
              <a:t>Activation (GELU)</a:t>
            </a:r>
            <a:endParaRPr lang="en-US" sz="1300" dirty="0"/>
          </a:p>
        </p:txBody>
      </p:sp>
      <p:sp>
        <p:nvSpPr>
          <p:cNvPr id="54" name="Text 47"/>
          <p:cNvSpPr txBox="1"/>
          <p:nvPr/>
        </p:nvSpPr>
        <p:spPr>
          <a:xfrm>
            <a:off x="594360" y="3730752"/>
            <a:ext cx="2286000" cy="402336"/>
          </a:xfrm>
          <a:prstGeom prst="rect">
            <a:avLst/>
          </a:prstGeom>
          <a:noFill/>
          <a:ln/>
        </p:spPr>
        <p:txBody>
          <a:bodyPr wrap="square" lIns="0" tIns="0" rIns="0" bIns="0" rtlCol="0" anchor="t"/>
          <a:lstStyle/>
          <a:p>
            <a:pPr marL="0" indent="0">
              <a:buNone/>
            </a:pPr>
            <a:r>
              <a:rPr lang="en-US" sz="1050" dirty="0">
                <a:solidFill>
                  <a:schemeClr val="tx1"/>
                </a:solidFill>
              </a:rPr>
              <a:t>A smooth switch: lets the network learn curves, not just straight lines.</a:t>
            </a:r>
            <a:endParaRPr lang="en-US" sz="1050" dirty="0"/>
          </a:p>
        </p:txBody>
      </p:sp>
      <p:sp>
        <p:nvSpPr>
          <p:cNvPr id="55" name="card"/>
          <p:cNvSpPr/>
          <p:nvPr/>
        </p:nvSpPr>
        <p:spPr>
          <a:xfrm>
            <a:off x="3154680" y="3246120"/>
            <a:ext cx="2514600" cy="914400"/>
          </a:xfrm>
          <a:prstGeom prst="roundRect">
            <a:avLst>
              <a:gd name="adj" fmla="val 8000"/>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56" name="icon circle FaPowerOff"/>
          <p:cNvSpPr/>
          <p:nvPr/>
        </p:nvSpPr>
        <p:spPr>
          <a:xfrm>
            <a:off x="3264408" y="3355848"/>
            <a:ext cx="365760" cy="365760"/>
          </a:xfrm>
          <a:prstGeom prst="ellipse">
            <a:avLst/>
          </a:prstGeom>
          <a:solidFill>
            <a:srgbClr val="D64545"/>
          </a:solidFill>
          <a:ln w="12700">
            <a:solidFill>
              <a:srgbClr val="D64545"/>
            </a:solidFill>
            <a:prstDash val="solid"/>
          </a:ln>
        </p:spPr>
        <p:txBody>
          <a:bodyPr/>
          <a:lstStyle/>
          <a:p>
            <a:endParaRPr lang="it-IT"/>
          </a:p>
        </p:txBody>
      </p:sp>
      <p:pic>
        <p:nvPicPr>
          <p:cNvPr id="57" name="Image 4" descr="PowerOff icon"/>
          <p:cNvPicPr>
            <a:picLocks noChangeAspect="1"/>
          </p:cNvPicPr>
          <p:nvPr/>
        </p:nvPicPr>
        <p:blipFill>
          <a:blip r:embed="rId7"/>
          <a:stretch>
            <a:fillRect/>
          </a:stretch>
        </p:blipFill>
        <p:spPr>
          <a:xfrm>
            <a:off x="3363163" y="3454603"/>
            <a:ext cx="168250" cy="168250"/>
          </a:xfrm>
          <a:prstGeom prst="rect">
            <a:avLst/>
          </a:prstGeom>
        </p:spPr>
      </p:pic>
      <p:sp>
        <p:nvSpPr>
          <p:cNvPr id="58" name="Text 50"/>
          <p:cNvSpPr txBox="1"/>
          <p:nvPr/>
        </p:nvSpPr>
        <p:spPr>
          <a:xfrm>
            <a:off x="3721608" y="3355848"/>
            <a:ext cx="1874520" cy="365760"/>
          </a:xfrm>
          <a:prstGeom prst="rect">
            <a:avLst/>
          </a:prstGeom>
          <a:noFill/>
          <a:ln/>
        </p:spPr>
        <p:txBody>
          <a:bodyPr wrap="square" lIns="0" tIns="0" rIns="0" bIns="0" rtlCol="0" anchor="ctr"/>
          <a:lstStyle/>
          <a:p>
            <a:pPr marL="0" indent="0">
              <a:buNone/>
            </a:pPr>
            <a:r>
              <a:rPr lang="en-US" sz="1300" b="1" dirty="0">
                <a:solidFill>
                  <a:schemeClr val="tx2"/>
                </a:solidFill>
              </a:rPr>
              <a:t>Dropout</a:t>
            </a:r>
            <a:endParaRPr lang="en-US" sz="1300" dirty="0"/>
          </a:p>
        </p:txBody>
      </p:sp>
      <p:sp>
        <p:nvSpPr>
          <p:cNvPr id="59" name="Text 51"/>
          <p:cNvSpPr txBox="1"/>
          <p:nvPr/>
        </p:nvSpPr>
        <p:spPr>
          <a:xfrm>
            <a:off x="3291840" y="3730752"/>
            <a:ext cx="2286000" cy="402336"/>
          </a:xfrm>
          <a:prstGeom prst="rect">
            <a:avLst/>
          </a:prstGeom>
          <a:noFill/>
          <a:ln/>
        </p:spPr>
        <p:txBody>
          <a:bodyPr wrap="square" lIns="0" tIns="0" rIns="0" bIns="0" rtlCol="0" anchor="t"/>
          <a:lstStyle/>
          <a:p>
            <a:pPr marL="0" indent="0">
              <a:buNone/>
            </a:pPr>
            <a:r>
              <a:rPr lang="en-US" sz="1050" dirty="0">
                <a:solidFill>
                  <a:schemeClr val="tx1"/>
                </a:solidFill>
              </a:rPr>
              <a:t>Randomly switches off 10–20% of neurons while training, so it can't memorise.</a:t>
            </a:r>
            <a:endParaRPr lang="en-US" sz="1050" dirty="0"/>
          </a:p>
        </p:txBody>
      </p:sp>
      <p:sp>
        <p:nvSpPr>
          <p:cNvPr id="60" name="card"/>
          <p:cNvSpPr/>
          <p:nvPr/>
        </p:nvSpPr>
        <p:spPr>
          <a:xfrm>
            <a:off x="5852160" y="3246120"/>
            <a:ext cx="2514600" cy="914400"/>
          </a:xfrm>
          <a:prstGeom prst="roundRect">
            <a:avLst>
              <a:gd name="adj" fmla="val 8000"/>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61" name="icon circle FaBalanceScale"/>
          <p:cNvSpPr/>
          <p:nvPr/>
        </p:nvSpPr>
        <p:spPr>
          <a:xfrm>
            <a:off x="5961888" y="3355848"/>
            <a:ext cx="365760" cy="365760"/>
          </a:xfrm>
          <a:prstGeom prst="ellipse">
            <a:avLst/>
          </a:prstGeom>
          <a:solidFill>
            <a:srgbClr val="1E9E62"/>
          </a:solidFill>
          <a:ln w="12700">
            <a:solidFill>
              <a:srgbClr val="1E9E62"/>
            </a:solidFill>
            <a:prstDash val="solid"/>
          </a:ln>
        </p:spPr>
        <p:txBody>
          <a:bodyPr/>
          <a:lstStyle/>
          <a:p>
            <a:endParaRPr lang="it-IT"/>
          </a:p>
        </p:txBody>
      </p:sp>
      <p:pic>
        <p:nvPicPr>
          <p:cNvPr id="62" name="Image 5" descr="BalanceScale icon"/>
          <p:cNvPicPr>
            <a:picLocks noChangeAspect="1"/>
          </p:cNvPicPr>
          <p:nvPr/>
        </p:nvPicPr>
        <p:blipFill>
          <a:blip r:embed="rId8"/>
          <a:stretch>
            <a:fillRect/>
          </a:stretch>
        </p:blipFill>
        <p:spPr>
          <a:xfrm>
            <a:off x="6060643" y="3454603"/>
            <a:ext cx="168250" cy="168250"/>
          </a:xfrm>
          <a:prstGeom prst="rect">
            <a:avLst/>
          </a:prstGeom>
        </p:spPr>
      </p:pic>
      <p:sp>
        <p:nvSpPr>
          <p:cNvPr id="63" name="Text 54"/>
          <p:cNvSpPr txBox="1"/>
          <p:nvPr/>
        </p:nvSpPr>
        <p:spPr>
          <a:xfrm>
            <a:off x="6419088" y="3355848"/>
            <a:ext cx="1874520" cy="365760"/>
          </a:xfrm>
          <a:prstGeom prst="rect">
            <a:avLst/>
          </a:prstGeom>
          <a:noFill/>
          <a:ln/>
        </p:spPr>
        <p:txBody>
          <a:bodyPr wrap="square" lIns="0" tIns="0" rIns="0" bIns="0" rtlCol="0" anchor="ctr"/>
          <a:lstStyle/>
          <a:p>
            <a:pPr marL="0" indent="0">
              <a:buNone/>
            </a:pPr>
            <a:r>
              <a:rPr lang="en-US" sz="1300" b="1" dirty="0">
                <a:solidFill>
                  <a:schemeClr val="tx2"/>
                </a:solidFill>
              </a:rPr>
              <a:t>LayerNorm</a:t>
            </a:r>
            <a:endParaRPr lang="en-US" sz="1300" dirty="0"/>
          </a:p>
        </p:txBody>
      </p:sp>
      <p:sp>
        <p:nvSpPr>
          <p:cNvPr id="64" name="Text 55"/>
          <p:cNvSpPr txBox="1"/>
          <p:nvPr/>
        </p:nvSpPr>
        <p:spPr>
          <a:xfrm>
            <a:off x="5989320" y="3730752"/>
            <a:ext cx="2286000" cy="402336"/>
          </a:xfrm>
          <a:prstGeom prst="rect">
            <a:avLst/>
          </a:prstGeom>
          <a:noFill/>
          <a:ln/>
        </p:spPr>
        <p:txBody>
          <a:bodyPr wrap="square" lIns="0" tIns="0" rIns="0" bIns="0" rtlCol="0" anchor="t"/>
          <a:lstStyle/>
          <a:p>
            <a:pPr marL="0" indent="0">
              <a:buNone/>
            </a:pPr>
            <a:r>
              <a:rPr lang="en-US" sz="1050" dirty="0">
                <a:solidFill>
                  <a:schemeClr val="tx1"/>
                </a:solidFill>
              </a:rPr>
              <a:t>Keeps numbers in each layer on a similar scale, so learning stays stable.</a:t>
            </a:r>
            <a:endParaRPr lang="en-US" sz="1050" dirty="0"/>
          </a:p>
        </p:txBody>
      </p:sp>
      <p:sp>
        <p:nvSpPr>
          <p:cNvPr id="65"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66" name="Image 6" descr="idea icon"/>
          <p:cNvPicPr>
            <a:picLocks noChangeAspect="1"/>
          </p:cNvPicPr>
          <p:nvPr/>
        </p:nvPicPr>
        <p:blipFill>
          <a:blip r:embed="rId9"/>
          <a:stretch>
            <a:fillRect/>
          </a:stretch>
        </p:blipFill>
        <p:spPr>
          <a:xfrm>
            <a:off x="594360" y="4462272"/>
            <a:ext cx="274320" cy="274320"/>
          </a:xfrm>
          <a:prstGeom prst="rect">
            <a:avLst/>
          </a:prstGeom>
        </p:spPr>
      </p:pic>
      <p:sp>
        <p:nvSpPr>
          <p:cNvPr id="67" name="Text 57"/>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many tiny calculators in layers; training turns their knobs until the predictions get close to reality.</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HOW THE AI WORKS</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How the AI learns: practice, check, improve</a:t>
            </a:r>
            <a:endParaRPr lang="en-US" sz="2800" dirty="0"/>
          </a:p>
        </p:txBody>
      </p:sp>
      <p:sp>
        <p:nvSpPr>
          <p:cNvPr id="5" name="card"/>
          <p:cNvSpPr/>
          <p:nvPr/>
        </p:nvSpPr>
        <p:spPr>
          <a:xfrm>
            <a:off x="457200" y="1325880"/>
            <a:ext cx="1783080" cy="1828800"/>
          </a:xfrm>
          <a:prstGeom prst="roundRect">
            <a:avLst>
              <a:gd name="adj" fmla="val 410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6" name="icon circle FaRegLightbulb"/>
          <p:cNvSpPr/>
          <p:nvPr/>
        </p:nvSpPr>
        <p:spPr>
          <a:xfrm>
            <a:off x="640080" y="1463040"/>
            <a:ext cx="502920" cy="502920"/>
          </a:xfrm>
          <a:prstGeom prst="ellipse">
            <a:avLst/>
          </a:prstGeom>
          <a:solidFill>
            <a:srgbClr val="2C7DA0"/>
          </a:solidFill>
          <a:ln w="12700">
            <a:solidFill>
              <a:srgbClr val="2C7DA0"/>
            </a:solidFill>
            <a:prstDash val="solid"/>
          </a:ln>
        </p:spPr>
        <p:txBody>
          <a:bodyPr/>
          <a:lstStyle/>
          <a:p>
            <a:endParaRPr lang="it-IT"/>
          </a:p>
        </p:txBody>
      </p:sp>
      <p:pic>
        <p:nvPicPr>
          <p:cNvPr id="7" name="Image 0" descr="RegLightbulb icon"/>
          <p:cNvPicPr>
            <a:picLocks noChangeAspect="1"/>
          </p:cNvPicPr>
          <p:nvPr/>
        </p:nvPicPr>
        <p:blipFill>
          <a:blip r:embed="rId3"/>
          <a:stretch>
            <a:fillRect/>
          </a:stretch>
        </p:blipFill>
        <p:spPr>
          <a:xfrm>
            <a:off x="775868" y="1598828"/>
            <a:ext cx="231343" cy="231343"/>
          </a:xfrm>
          <a:prstGeom prst="rect">
            <a:avLst/>
          </a:prstGeom>
        </p:spPr>
      </p:pic>
      <p:sp>
        <p:nvSpPr>
          <p:cNvPr id="8" name="Text 4"/>
          <p:cNvSpPr txBox="1"/>
          <p:nvPr/>
        </p:nvSpPr>
        <p:spPr>
          <a:xfrm>
            <a:off x="640080" y="2057400"/>
            <a:ext cx="1463040" cy="292608"/>
          </a:xfrm>
          <a:prstGeom prst="rect">
            <a:avLst/>
          </a:prstGeom>
          <a:noFill/>
          <a:ln/>
        </p:spPr>
        <p:txBody>
          <a:bodyPr wrap="square" lIns="0" tIns="0" rIns="0" bIns="0" rtlCol="0" anchor="t"/>
          <a:lstStyle/>
          <a:p>
            <a:pPr marL="0" indent="0">
              <a:buNone/>
            </a:pPr>
            <a:r>
              <a:rPr lang="en-US" sz="1500" b="1" dirty="0">
                <a:solidFill>
                  <a:schemeClr val="tx2"/>
                </a:solidFill>
              </a:rPr>
              <a:t>1. Guess</a:t>
            </a:r>
            <a:endParaRPr lang="en-US" sz="1500" dirty="0"/>
          </a:p>
        </p:txBody>
      </p:sp>
      <p:sp>
        <p:nvSpPr>
          <p:cNvPr id="9" name="Text 5"/>
          <p:cNvSpPr txBox="1"/>
          <p:nvPr/>
        </p:nvSpPr>
        <p:spPr>
          <a:xfrm>
            <a:off x="640080" y="2377440"/>
            <a:ext cx="1463040" cy="731520"/>
          </a:xfrm>
          <a:prstGeom prst="rect">
            <a:avLst/>
          </a:prstGeom>
          <a:noFill/>
          <a:ln/>
        </p:spPr>
        <p:txBody>
          <a:bodyPr wrap="square" lIns="0" tIns="0" rIns="0" bIns="0" rtlCol="0" anchor="t"/>
          <a:lstStyle/>
          <a:p>
            <a:pPr marL="0" indent="0">
              <a:buNone/>
            </a:pPr>
            <a:r>
              <a:rPr lang="en-US" sz="1200" dirty="0">
                <a:solidFill>
                  <a:schemeClr val="tx1"/>
                </a:solidFill>
              </a:rPr>
              <a:t>Predict bottles for a real machine on a real past day</a:t>
            </a:r>
            <a:endParaRPr lang="en-US" sz="1200" dirty="0"/>
          </a:p>
        </p:txBody>
      </p:sp>
      <p:sp>
        <p:nvSpPr>
          <p:cNvPr id="10" name="arrow"/>
          <p:cNvSpPr/>
          <p:nvPr/>
        </p:nvSpPr>
        <p:spPr>
          <a:xfrm>
            <a:off x="2258568" y="2103120"/>
            <a:ext cx="192024" cy="274320"/>
          </a:xfrm>
          <a:prstGeom prst="rightArrow">
            <a:avLst/>
          </a:prstGeom>
          <a:solidFill>
            <a:schemeClr val="accent6"/>
          </a:solidFill>
          <a:ln w="12700">
            <a:solidFill>
              <a:schemeClr val="accent6"/>
            </a:solidFill>
            <a:prstDash val="solid"/>
          </a:ln>
        </p:spPr>
        <p:txBody>
          <a:bodyPr/>
          <a:lstStyle/>
          <a:p>
            <a:endParaRPr lang="it-IT"/>
          </a:p>
        </p:txBody>
      </p:sp>
      <p:sp>
        <p:nvSpPr>
          <p:cNvPr id="11" name="card"/>
          <p:cNvSpPr/>
          <p:nvPr/>
        </p:nvSpPr>
        <p:spPr>
          <a:xfrm>
            <a:off x="2468880" y="1325880"/>
            <a:ext cx="1783080" cy="1828800"/>
          </a:xfrm>
          <a:prstGeom prst="roundRect">
            <a:avLst>
              <a:gd name="adj" fmla="val 410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2" name="icon circle FaBalanceScale"/>
          <p:cNvSpPr/>
          <p:nvPr/>
        </p:nvSpPr>
        <p:spPr>
          <a:xfrm>
            <a:off x="2651760" y="1463040"/>
            <a:ext cx="502920" cy="502920"/>
          </a:xfrm>
          <a:prstGeom prst="ellipse">
            <a:avLst/>
          </a:prstGeom>
          <a:solidFill>
            <a:srgbClr val="7B5EA7"/>
          </a:solidFill>
          <a:ln w="12700">
            <a:solidFill>
              <a:srgbClr val="7B5EA7"/>
            </a:solidFill>
            <a:prstDash val="solid"/>
          </a:ln>
        </p:spPr>
        <p:txBody>
          <a:bodyPr/>
          <a:lstStyle/>
          <a:p>
            <a:endParaRPr lang="it-IT"/>
          </a:p>
        </p:txBody>
      </p:sp>
      <p:pic>
        <p:nvPicPr>
          <p:cNvPr id="13" name="Image 1" descr="BalanceScale icon"/>
          <p:cNvPicPr>
            <a:picLocks noChangeAspect="1"/>
          </p:cNvPicPr>
          <p:nvPr/>
        </p:nvPicPr>
        <p:blipFill>
          <a:blip r:embed="rId4"/>
          <a:stretch>
            <a:fillRect/>
          </a:stretch>
        </p:blipFill>
        <p:spPr>
          <a:xfrm>
            <a:off x="2787548" y="1598828"/>
            <a:ext cx="231343" cy="231343"/>
          </a:xfrm>
          <a:prstGeom prst="rect">
            <a:avLst/>
          </a:prstGeom>
        </p:spPr>
      </p:pic>
      <p:sp>
        <p:nvSpPr>
          <p:cNvPr id="14" name="Text 9"/>
          <p:cNvSpPr txBox="1"/>
          <p:nvPr/>
        </p:nvSpPr>
        <p:spPr>
          <a:xfrm>
            <a:off x="2651760" y="2057400"/>
            <a:ext cx="1463040" cy="292608"/>
          </a:xfrm>
          <a:prstGeom prst="rect">
            <a:avLst/>
          </a:prstGeom>
          <a:noFill/>
          <a:ln/>
        </p:spPr>
        <p:txBody>
          <a:bodyPr wrap="square" lIns="0" tIns="0" rIns="0" bIns="0" rtlCol="0" anchor="t"/>
          <a:lstStyle/>
          <a:p>
            <a:pPr marL="0" indent="0">
              <a:buNone/>
            </a:pPr>
            <a:r>
              <a:rPr lang="en-US" sz="1500" b="1" dirty="0">
                <a:solidFill>
                  <a:schemeClr val="tx2"/>
                </a:solidFill>
              </a:rPr>
              <a:t>2. Compare</a:t>
            </a:r>
            <a:endParaRPr lang="en-US" sz="1500" dirty="0"/>
          </a:p>
        </p:txBody>
      </p:sp>
      <p:sp>
        <p:nvSpPr>
          <p:cNvPr id="15" name="Text 10"/>
          <p:cNvSpPr txBox="1"/>
          <p:nvPr/>
        </p:nvSpPr>
        <p:spPr>
          <a:xfrm>
            <a:off x="2651760" y="2377440"/>
            <a:ext cx="1463040" cy="731520"/>
          </a:xfrm>
          <a:prstGeom prst="rect">
            <a:avLst/>
          </a:prstGeom>
          <a:noFill/>
          <a:ln/>
        </p:spPr>
        <p:txBody>
          <a:bodyPr wrap="square" lIns="0" tIns="0" rIns="0" bIns="0" rtlCol="0" anchor="t"/>
          <a:lstStyle/>
          <a:p>
            <a:pPr marL="0" indent="0">
              <a:buNone/>
            </a:pPr>
            <a:r>
              <a:rPr lang="en-US" sz="1200" dirty="0">
                <a:solidFill>
                  <a:schemeClr val="tx1"/>
                </a:solidFill>
              </a:rPr>
              <a:t>Put the guess next to what really happened</a:t>
            </a:r>
            <a:endParaRPr lang="en-US" sz="1200" dirty="0"/>
          </a:p>
        </p:txBody>
      </p:sp>
      <p:sp>
        <p:nvSpPr>
          <p:cNvPr id="16" name="arrow"/>
          <p:cNvSpPr/>
          <p:nvPr/>
        </p:nvSpPr>
        <p:spPr>
          <a:xfrm>
            <a:off x="4270248" y="2103120"/>
            <a:ext cx="192024" cy="274320"/>
          </a:xfrm>
          <a:prstGeom prst="rightArrow">
            <a:avLst/>
          </a:prstGeom>
          <a:solidFill>
            <a:schemeClr val="accent6"/>
          </a:solidFill>
          <a:ln w="12700">
            <a:solidFill>
              <a:schemeClr val="accent6"/>
            </a:solidFill>
            <a:prstDash val="solid"/>
          </a:ln>
        </p:spPr>
        <p:txBody>
          <a:bodyPr/>
          <a:lstStyle/>
          <a:p>
            <a:endParaRPr lang="it-IT"/>
          </a:p>
        </p:txBody>
      </p:sp>
      <p:sp>
        <p:nvSpPr>
          <p:cNvPr id="17" name="card"/>
          <p:cNvSpPr/>
          <p:nvPr/>
        </p:nvSpPr>
        <p:spPr>
          <a:xfrm>
            <a:off x="4480560" y="1325880"/>
            <a:ext cx="1783080" cy="1828800"/>
          </a:xfrm>
          <a:prstGeom prst="roundRect">
            <a:avLst>
              <a:gd name="adj" fmla="val 410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8" name="icon circle FaCalculator"/>
          <p:cNvSpPr/>
          <p:nvPr/>
        </p:nvSpPr>
        <p:spPr>
          <a:xfrm>
            <a:off x="4663440" y="1463040"/>
            <a:ext cx="502920" cy="502920"/>
          </a:xfrm>
          <a:prstGeom prst="ellipse">
            <a:avLst/>
          </a:prstGeom>
          <a:solidFill>
            <a:srgbClr val="E89A0C"/>
          </a:solidFill>
          <a:ln w="12700">
            <a:solidFill>
              <a:srgbClr val="E89A0C"/>
            </a:solidFill>
            <a:prstDash val="solid"/>
          </a:ln>
        </p:spPr>
        <p:txBody>
          <a:bodyPr/>
          <a:lstStyle/>
          <a:p>
            <a:endParaRPr lang="it-IT"/>
          </a:p>
        </p:txBody>
      </p:sp>
      <p:pic>
        <p:nvPicPr>
          <p:cNvPr id="19" name="Image 2" descr="Calculator icon"/>
          <p:cNvPicPr>
            <a:picLocks noChangeAspect="1"/>
          </p:cNvPicPr>
          <p:nvPr/>
        </p:nvPicPr>
        <p:blipFill>
          <a:blip r:embed="rId5"/>
          <a:stretch>
            <a:fillRect/>
          </a:stretch>
        </p:blipFill>
        <p:spPr>
          <a:xfrm>
            <a:off x="4799228" y="1598828"/>
            <a:ext cx="231343" cy="231343"/>
          </a:xfrm>
          <a:prstGeom prst="rect">
            <a:avLst/>
          </a:prstGeom>
        </p:spPr>
      </p:pic>
      <p:sp>
        <p:nvSpPr>
          <p:cNvPr id="20" name="Text 14"/>
          <p:cNvSpPr txBox="1"/>
          <p:nvPr/>
        </p:nvSpPr>
        <p:spPr>
          <a:xfrm>
            <a:off x="4663440" y="2057400"/>
            <a:ext cx="1463040" cy="292608"/>
          </a:xfrm>
          <a:prstGeom prst="rect">
            <a:avLst/>
          </a:prstGeom>
          <a:noFill/>
          <a:ln/>
        </p:spPr>
        <p:txBody>
          <a:bodyPr wrap="square" lIns="0" tIns="0" rIns="0" bIns="0" rtlCol="0" anchor="t"/>
          <a:lstStyle/>
          <a:p>
            <a:pPr marL="0" indent="0">
              <a:buNone/>
            </a:pPr>
            <a:r>
              <a:rPr lang="en-US" sz="1500" b="1" dirty="0">
                <a:solidFill>
                  <a:schemeClr val="tx2"/>
                </a:solidFill>
              </a:rPr>
              <a:t>3. Measure</a:t>
            </a:r>
            <a:endParaRPr lang="en-US" sz="1500" dirty="0"/>
          </a:p>
        </p:txBody>
      </p:sp>
      <p:sp>
        <p:nvSpPr>
          <p:cNvPr id="21" name="Text 15"/>
          <p:cNvSpPr txBox="1"/>
          <p:nvPr/>
        </p:nvSpPr>
        <p:spPr>
          <a:xfrm>
            <a:off x="4663440" y="2377440"/>
            <a:ext cx="1463040" cy="731520"/>
          </a:xfrm>
          <a:prstGeom prst="rect">
            <a:avLst/>
          </a:prstGeom>
          <a:noFill/>
          <a:ln/>
        </p:spPr>
        <p:txBody>
          <a:bodyPr wrap="square" lIns="0" tIns="0" rIns="0" bIns="0" rtlCol="0" anchor="t"/>
          <a:lstStyle/>
          <a:p>
            <a:pPr marL="0" indent="0">
              <a:buNone/>
            </a:pPr>
            <a:r>
              <a:rPr lang="en-US" sz="1200" dirty="0">
                <a:solidFill>
                  <a:schemeClr val="tx1"/>
                </a:solidFill>
              </a:rPr>
              <a:t>Score how wrong it was (the “loss”)</a:t>
            </a:r>
            <a:endParaRPr lang="en-US" sz="1200" dirty="0"/>
          </a:p>
        </p:txBody>
      </p:sp>
      <p:sp>
        <p:nvSpPr>
          <p:cNvPr id="22" name="arrow"/>
          <p:cNvSpPr/>
          <p:nvPr/>
        </p:nvSpPr>
        <p:spPr>
          <a:xfrm>
            <a:off x="6281928" y="2103120"/>
            <a:ext cx="192024" cy="274320"/>
          </a:xfrm>
          <a:prstGeom prst="rightArrow">
            <a:avLst/>
          </a:prstGeom>
          <a:solidFill>
            <a:schemeClr val="accent6"/>
          </a:solidFill>
          <a:ln w="12700">
            <a:solidFill>
              <a:schemeClr val="accent6"/>
            </a:solidFill>
            <a:prstDash val="solid"/>
          </a:ln>
        </p:spPr>
        <p:txBody>
          <a:bodyPr/>
          <a:lstStyle/>
          <a:p>
            <a:endParaRPr lang="it-IT"/>
          </a:p>
        </p:txBody>
      </p:sp>
      <p:sp>
        <p:nvSpPr>
          <p:cNvPr id="23" name="card"/>
          <p:cNvSpPr/>
          <p:nvPr/>
        </p:nvSpPr>
        <p:spPr>
          <a:xfrm>
            <a:off x="6492240" y="1325880"/>
            <a:ext cx="1783080" cy="1828800"/>
          </a:xfrm>
          <a:prstGeom prst="roundRect">
            <a:avLst>
              <a:gd name="adj" fmla="val 410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4" name="icon circle FaCogs"/>
          <p:cNvSpPr/>
          <p:nvPr/>
        </p:nvSpPr>
        <p:spPr>
          <a:xfrm>
            <a:off x="6675120" y="1463040"/>
            <a:ext cx="502920" cy="502920"/>
          </a:xfrm>
          <a:prstGeom prst="ellipse">
            <a:avLst/>
          </a:prstGeom>
          <a:solidFill>
            <a:srgbClr val="1E9E62"/>
          </a:solidFill>
          <a:ln w="12700">
            <a:solidFill>
              <a:srgbClr val="1E9E62"/>
            </a:solidFill>
            <a:prstDash val="solid"/>
          </a:ln>
        </p:spPr>
        <p:txBody>
          <a:bodyPr/>
          <a:lstStyle/>
          <a:p>
            <a:endParaRPr lang="it-IT"/>
          </a:p>
        </p:txBody>
      </p:sp>
      <p:pic>
        <p:nvPicPr>
          <p:cNvPr id="25" name="Image 3" descr="Cogs icon"/>
          <p:cNvPicPr>
            <a:picLocks noChangeAspect="1"/>
          </p:cNvPicPr>
          <p:nvPr/>
        </p:nvPicPr>
        <p:blipFill>
          <a:blip r:embed="rId6"/>
          <a:stretch>
            <a:fillRect/>
          </a:stretch>
        </p:blipFill>
        <p:spPr>
          <a:xfrm>
            <a:off x="6810908" y="1598828"/>
            <a:ext cx="231343" cy="231343"/>
          </a:xfrm>
          <a:prstGeom prst="rect">
            <a:avLst/>
          </a:prstGeom>
        </p:spPr>
      </p:pic>
      <p:sp>
        <p:nvSpPr>
          <p:cNvPr id="26" name="Text 19"/>
          <p:cNvSpPr txBox="1"/>
          <p:nvPr/>
        </p:nvSpPr>
        <p:spPr>
          <a:xfrm>
            <a:off x="6675120" y="2057400"/>
            <a:ext cx="1463040" cy="292608"/>
          </a:xfrm>
          <a:prstGeom prst="rect">
            <a:avLst/>
          </a:prstGeom>
          <a:noFill/>
          <a:ln/>
        </p:spPr>
        <p:txBody>
          <a:bodyPr wrap="square" lIns="0" tIns="0" rIns="0" bIns="0" rtlCol="0" anchor="t"/>
          <a:lstStyle/>
          <a:p>
            <a:pPr marL="0" indent="0">
              <a:buNone/>
            </a:pPr>
            <a:r>
              <a:rPr lang="en-US" sz="1500" b="1" dirty="0">
                <a:solidFill>
                  <a:schemeClr val="tx2"/>
                </a:solidFill>
              </a:rPr>
              <a:t>4. Adjust</a:t>
            </a:r>
            <a:endParaRPr lang="en-US" sz="1500" dirty="0"/>
          </a:p>
        </p:txBody>
      </p:sp>
      <p:sp>
        <p:nvSpPr>
          <p:cNvPr id="27" name="Text 20"/>
          <p:cNvSpPr txBox="1"/>
          <p:nvPr/>
        </p:nvSpPr>
        <p:spPr>
          <a:xfrm>
            <a:off x="6675120" y="2377440"/>
            <a:ext cx="1463040" cy="731520"/>
          </a:xfrm>
          <a:prstGeom prst="rect">
            <a:avLst/>
          </a:prstGeom>
          <a:noFill/>
          <a:ln/>
        </p:spPr>
        <p:txBody>
          <a:bodyPr wrap="square" lIns="0" tIns="0" rIns="0" bIns="0" rtlCol="0" anchor="t"/>
          <a:lstStyle/>
          <a:p>
            <a:pPr marL="0" indent="0">
              <a:buNone/>
            </a:pPr>
            <a:r>
              <a:rPr lang="en-US" sz="1200" dirty="0">
                <a:solidFill>
                  <a:schemeClr val="tx1"/>
                </a:solidFill>
              </a:rPr>
              <a:t>Tweak its internal numbers a little to do better</a:t>
            </a:r>
            <a:endParaRPr lang="en-US" sz="1200" dirty="0"/>
          </a:p>
        </p:txBody>
      </p:sp>
      <p:sp>
        <p:nvSpPr>
          <p:cNvPr id="28" name="card"/>
          <p:cNvSpPr/>
          <p:nvPr/>
        </p:nvSpPr>
        <p:spPr>
          <a:xfrm>
            <a:off x="457200" y="3337560"/>
            <a:ext cx="3840480" cy="822960"/>
          </a:xfrm>
          <a:prstGeom prst="roundRect">
            <a:avLst>
              <a:gd name="adj" fmla="val 8889"/>
            </a:avLst>
          </a:prstGeom>
          <a:solidFill>
            <a:schemeClr val="bg2"/>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9" name="icon circle FaHistory"/>
          <p:cNvSpPr/>
          <p:nvPr/>
        </p:nvSpPr>
        <p:spPr>
          <a:xfrm>
            <a:off x="566928" y="3474720"/>
            <a:ext cx="502920" cy="502920"/>
          </a:xfrm>
          <a:prstGeom prst="ellipse">
            <a:avLst/>
          </a:prstGeom>
          <a:solidFill>
            <a:srgbClr val="0B3D2E"/>
          </a:solidFill>
          <a:ln w="12700">
            <a:solidFill>
              <a:srgbClr val="0B3D2E"/>
            </a:solidFill>
            <a:prstDash val="solid"/>
          </a:ln>
        </p:spPr>
        <p:txBody>
          <a:bodyPr/>
          <a:lstStyle/>
          <a:p>
            <a:endParaRPr lang="it-IT"/>
          </a:p>
        </p:txBody>
      </p:sp>
      <p:pic>
        <p:nvPicPr>
          <p:cNvPr id="30" name="Image 4" descr="History icon"/>
          <p:cNvPicPr>
            <a:picLocks noChangeAspect="1"/>
          </p:cNvPicPr>
          <p:nvPr/>
        </p:nvPicPr>
        <p:blipFill>
          <a:blip r:embed="rId7"/>
          <a:stretch>
            <a:fillRect/>
          </a:stretch>
        </p:blipFill>
        <p:spPr>
          <a:xfrm>
            <a:off x="702716" y="3610508"/>
            <a:ext cx="231343" cy="231343"/>
          </a:xfrm>
          <a:prstGeom prst="rect">
            <a:avLst/>
          </a:prstGeom>
        </p:spPr>
      </p:pic>
      <p:sp>
        <p:nvSpPr>
          <p:cNvPr id="31" name="Text 23"/>
          <p:cNvSpPr txBox="1"/>
          <p:nvPr/>
        </p:nvSpPr>
        <p:spPr>
          <a:xfrm>
            <a:off x="1188720" y="3383280"/>
            <a:ext cx="3017520" cy="731520"/>
          </a:xfrm>
          <a:prstGeom prst="rect">
            <a:avLst/>
          </a:prstGeom>
          <a:noFill/>
          <a:ln/>
        </p:spPr>
        <p:txBody>
          <a:bodyPr wrap="square" lIns="0" tIns="0" rIns="0" bIns="0" rtlCol="0" anchor="ctr"/>
          <a:lstStyle/>
          <a:p>
            <a:pPr marL="0" indent="0">
              <a:buNone/>
            </a:pPr>
            <a:r>
              <a:rPr lang="en-US" sz="1200" b="1" dirty="0">
                <a:solidFill>
                  <a:schemeClr val="tx2"/>
                </a:solidFill>
              </a:rPr>
              <a:t>Repeat many times </a:t>
            </a:r>
            <a:endParaRPr lang="en-US" sz="1200" dirty="0"/>
          </a:p>
          <a:p>
            <a:pPr marL="0" indent="0">
              <a:buNone/>
            </a:pPr>
            <a:r>
              <a:rPr lang="en-US" sz="1200" dirty="0">
                <a:solidFill>
                  <a:schemeClr val="tx1"/>
                </a:solidFill>
              </a:rPr>
              <a:t>over 1.48 million real daily records</a:t>
            </a:r>
            <a:endParaRPr lang="en-US" sz="1200" dirty="0"/>
          </a:p>
        </p:txBody>
      </p:sp>
      <p:sp>
        <p:nvSpPr>
          <p:cNvPr id="32" name="card"/>
          <p:cNvSpPr/>
          <p:nvPr/>
        </p:nvSpPr>
        <p:spPr>
          <a:xfrm>
            <a:off x="4480560" y="3337560"/>
            <a:ext cx="3840480" cy="822960"/>
          </a:xfrm>
          <a:prstGeom prst="roundRect">
            <a:avLst>
              <a:gd name="adj" fmla="val 8889"/>
            </a:avLst>
          </a:prstGeom>
          <a:solidFill>
            <a:schemeClr val="bg2"/>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33" name="icon circle FaClipboardCheck"/>
          <p:cNvSpPr/>
          <p:nvPr/>
        </p:nvSpPr>
        <p:spPr>
          <a:xfrm>
            <a:off x="4590288" y="3474720"/>
            <a:ext cx="502920" cy="502920"/>
          </a:xfrm>
          <a:prstGeom prst="ellipse">
            <a:avLst/>
          </a:prstGeom>
          <a:solidFill>
            <a:srgbClr val="0B3D2E"/>
          </a:solidFill>
          <a:ln w="12700">
            <a:solidFill>
              <a:srgbClr val="0B3D2E"/>
            </a:solidFill>
            <a:prstDash val="solid"/>
          </a:ln>
        </p:spPr>
        <p:txBody>
          <a:bodyPr/>
          <a:lstStyle/>
          <a:p>
            <a:endParaRPr lang="it-IT"/>
          </a:p>
        </p:txBody>
      </p:sp>
      <p:pic>
        <p:nvPicPr>
          <p:cNvPr id="34" name="Image 5" descr="ClipboardCheck icon"/>
          <p:cNvPicPr>
            <a:picLocks noChangeAspect="1"/>
          </p:cNvPicPr>
          <p:nvPr/>
        </p:nvPicPr>
        <p:blipFill>
          <a:blip r:embed="rId8"/>
          <a:stretch>
            <a:fillRect/>
          </a:stretch>
        </p:blipFill>
        <p:spPr>
          <a:xfrm>
            <a:off x="4726076" y="3610508"/>
            <a:ext cx="231343" cy="231343"/>
          </a:xfrm>
          <a:prstGeom prst="rect">
            <a:avLst/>
          </a:prstGeom>
        </p:spPr>
      </p:pic>
      <p:sp>
        <p:nvSpPr>
          <p:cNvPr id="35" name="Text 26"/>
          <p:cNvSpPr txBox="1"/>
          <p:nvPr/>
        </p:nvSpPr>
        <p:spPr>
          <a:xfrm>
            <a:off x="5212080" y="3383280"/>
            <a:ext cx="3017520" cy="731520"/>
          </a:xfrm>
          <a:prstGeom prst="rect">
            <a:avLst/>
          </a:prstGeom>
          <a:noFill/>
          <a:ln/>
        </p:spPr>
        <p:txBody>
          <a:bodyPr wrap="square" lIns="0" tIns="0" rIns="0" bIns="0" rtlCol="0" anchor="ctr"/>
          <a:lstStyle/>
          <a:p>
            <a:pPr marL="0" indent="0">
              <a:buNone/>
            </a:pPr>
            <a:r>
              <a:rPr lang="en-US" sz="1200" b="1" dirty="0">
                <a:solidFill>
                  <a:schemeClr val="tx2"/>
                </a:solidFill>
              </a:rPr>
              <a:t>Final exam </a:t>
            </a:r>
            <a:endParaRPr lang="en-US" sz="1200" dirty="0"/>
          </a:p>
          <a:p>
            <a:pPr marL="0" indent="0">
              <a:buNone/>
            </a:pPr>
            <a:r>
              <a:rPr lang="en-US" sz="1200" dirty="0">
                <a:solidFill>
                  <a:schemeClr val="tx1"/>
                </a:solidFill>
              </a:rPr>
              <a:t>tested on data it never saw, so it can't just memorise</a:t>
            </a:r>
            <a:endParaRPr lang="en-US" sz="1200" dirty="0"/>
          </a:p>
        </p:txBody>
      </p:sp>
      <p:sp>
        <p:nvSpPr>
          <p:cNvPr id="36"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37" name="Image 6" descr="idea icon"/>
          <p:cNvPicPr>
            <a:picLocks noChangeAspect="1"/>
          </p:cNvPicPr>
          <p:nvPr/>
        </p:nvPicPr>
        <p:blipFill>
          <a:blip r:embed="rId9"/>
          <a:stretch>
            <a:fillRect/>
          </a:stretch>
        </p:blipFill>
        <p:spPr>
          <a:xfrm>
            <a:off x="594360" y="4462272"/>
            <a:ext cx="274320" cy="274320"/>
          </a:xfrm>
          <a:prstGeom prst="rect">
            <a:avLst/>
          </a:prstGeom>
        </p:spPr>
      </p:pic>
      <p:sp>
        <p:nvSpPr>
          <p:cNvPr id="38" name="Text 28"/>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like a student doing practice tests: guess, check the answer, learn from the mistake, repeat.</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HOW THE AI WORKS</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Two AI “brains” working as a team</a:t>
            </a:r>
            <a:endParaRPr lang="en-US" sz="2800" dirty="0"/>
          </a:p>
        </p:txBody>
      </p:sp>
      <p:sp>
        <p:nvSpPr>
          <p:cNvPr id="5" name="icon circle FaTree"/>
          <p:cNvSpPr/>
          <p:nvPr/>
        </p:nvSpPr>
        <p:spPr>
          <a:xfrm>
            <a:off x="457200" y="1280160"/>
            <a:ext cx="502920" cy="502920"/>
          </a:xfrm>
          <a:prstGeom prst="ellipse">
            <a:avLst/>
          </a:prstGeom>
          <a:solidFill>
            <a:srgbClr val="1E9E62"/>
          </a:solidFill>
          <a:ln w="12700">
            <a:solidFill>
              <a:srgbClr val="1E9E62"/>
            </a:solidFill>
            <a:prstDash val="solid"/>
          </a:ln>
        </p:spPr>
        <p:txBody>
          <a:bodyPr/>
          <a:lstStyle/>
          <a:p>
            <a:endParaRPr lang="it-IT"/>
          </a:p>
        </p:txBody>
      </p:sp>
      <p:pic>
        <p:nvPicPr>
          <p:cNvPr id="6" name="Image 0" descr="Tree icon"/>
          <p:cNvPicPr>
            <a:picLocks noChangeAspect="1"/>
          </p:cNvPicPr>
          <p:nvPr/>
        </p:nvPicPr>
        <p:blipFill>
          <a:blip r:embed="rId3"/>
          <a:stretch>
            <a:fillRect/>
          </a:stretch>
        </p:blipFill>
        <p:spPr>
          <a:xfrm>
            <a:off x="592988" y="1415948"/>
            <a:ext cx="231343" cy="231343"/>
          </a:xfrm>
          <a:prstGeom prst="rect">
            <a:avLst/>
          </a:prstGeom>
        </p:spPr>
      </p:pic>
      <p:sp>
        <p:nvSpPr>
          <p:cNvPr id="7" name="Text 3"/>
          <p:cNvSpPr txBox="1"/>
          <p:nvPr/>
        </p:nvSpPr>
        <p:spPr>
          <a:xfrm>
            <a:off x="1097280" y="1280160"/>
            <a:ext cx="2743200" cy="274320"/>
          </a:xfrm>
          <a:prstGeom prst="rect">
            <a:avLst/>
          </a:prstGeom>
          <a:noFill/>
          <a:ln/>
        </p:spPr>
        <p:txBody>
          <a:bodyPr wrap="square" lIns="0" tIns="0" rIns="0" bIns="0" rtlCol="0" anchor="t"/>
          <a:lstStyle/>
          <a:p>
            <a:pPr marL="0" indent="0">
              <a:buNone/>
            </a:pPr>
            <a:r>
              <a:rPr lang="en-US" sz="1500" b="1" dirty="0">
                <a:solidFill>
                  <a:schemeClr val="tx2"/>
                </a:solidFill>
              </a:rPr>
              <a:t>LightGBM (decision trees)</a:t>
            </a:r>
            <a:endParaRPr lang="en-US" sz="1500" dirty="0"/>
          </a:p>
        </p:txBody>
      </p:sp>
      <p:sp>
        <p:nvSpPr>
          <p:cNvPr id="8" name="Text 4"/>
          <p:cNvSpPr txBox="1"/>
          <p:nvPr/>
        </p:nvSpPr>
        <p:spPr>
          <a:xfrm>
            <a:off x="1097280" y="1572768"/>
            <a:ext cx="2743200" cy="411480"/>
          </a:xfrm>
          <a:prstGeom prst="rect">
            <a:avLst/>
          </a:prstGeom>
          <a:noFill/>
          <a:ln/>
        </p:spPr>
        <p:txBody>
          <a:bodyPr wrap="square" lIns="0" tIns="0" rIns="0" bIns="0" rtlCol="0" anchor="t"/>
          <a:lstStyle/>
          <a:p>
            <a:pPr marL="0" indent="0">
              <a:buNone/>
            </a:pPr>
            <a:r>
              <a:rPr lang="en-US" sz="1200" dirty="0">
                <a:solidFill>
                  <a:schemeClr val="tx1"/>
                </a:solidFill>
              </a:rPr>
              <a:t>Hundreds of small trees ask yes/no questions, like “20 questions”.</a:t>
            </a:r>
            <a:endParaRPr lang="en-US" sz="1200" dirty="0"/>
          </a:p>
        </p:txBody>
      </p:sp>
      <p:sp>
        <p:nvSpPr>
          <p:cNvPr id="9" name="Text 5"/>
          <p:cNvSpPr txBox="1"/>
          <p:nvPr/>
        </p:nvSpPr>
        <p:spPr>
          <a:xfrm>
            <a:off x="1097280" y="1993392"/>
            <a:ext cx="2743200" cy="411480"/>
          </a:xfrm>
          <a:prstGeom prst="rect">
            <a:avLst/>
          </a:prstGeom>
          <a:noFill/>
          <a:ln/>
        </p:spPr>
        <p:txBody>
          <a:bodyPr wrap="square" lIns="0" tIns="0" rIns="0" bIns="0" rtlCol="0" anchor="t"/>
          <a:lstStyle/>
          <a:p>
            <a:pPr marL="0" indent="0">
              <a:buNone/>
            </a:pPr>
            <a:r>
              <a:rPr lang="en-US" sz="1100" i="1" dirty="0">
                <a:solidFill>
                  <a:schemeClr val="accent6"/>
                </a:solidFill>
              </a:rPr>
              <a:t>e.g. Store &gt; 1,000 m²? Yes → Dense town? Yes → about 800 bottles/day</a:t>
            </a:r>
            <a:endParaRPr lang="en-US" sz="1100" dirty="0"/>
          </a:p>
        </p:txBody>
      </p:sp>
      <p:sp>
        <p:nvSpPr>
          <p:cNvPr id="10" name="icon circle FaBrain"/>
          <p:cNvSpPr/>
          <p:nvPr/>
        </p:nvSpPr>
        <p:spPr>
          <a:xfrm>
            <a:off x="457200" y="2560320"/>
            <a:ext cx="502920" cy="502920"/>
          </a:xfrm>
          <a:prstGeom prst="ellipse">
            <a:avLst/>
          </a:prstGeom>
          <a:solidFill>
            <a:srgbClr val="7B5EA7"/>
          </a:solidFill>
          <a:ln w="12700">
            <a:solidFill>
              <a:srgbClr val="7B5EA7"/>
            </a:solidFill>
            <a:prstDash val="solid"/>
          </a:ln>
        </p:spPr>
        <p:txBody>
          <a:bodyPr/>
          <a:lstStyle/>
          <a:p>
            <a:endParaRPr lang="it-IT"/>
          </a:p>
        </p:txBody>
      </p:sp>
      <p:pic>
        <p:nvPicPr>
          <p:cNvPr id="11" name="Image 1" descr="Brain icon"/>
          <p:cNvPicPr>
            <a:picLocks noChangeAspect="1"/>
          </p:cNvPicPr>
          <p:nvPr/>
        </p:nvPicPr>
        <p:blipFill>
          <a:blip r:embed="rId4"/>
          <a:stretch>
            <a:fillRect/>
          </a:stretch>
        </p:blipFill>
        <p:spPr>
          <a:xfrm>
            <a:off x="592988" y="2696108"/>
            <a:ext cx="231343" cy="231343"/>
          </a:xfrm>
          <a:prstGeom prst="rect">
            <a:avLst/>
          </a:prstGeom>
        </p:spPr>
      </p:pic>
      <p:sp>
        <p:nvSpPr>
          <p:cNvPr id="12" name="Text 7"/>
          <p:cNvSpPr txBox="1"/>
          <p:nvPr/>
        </p:nvSpPr>
        <p:spPr>
          <a:xfrm>
            <a:off x="1097280" y="2560320"/>
            <a:ext cx="2743200" cy="274320"/>
          </a:xfrm>
          <a:prstGeom prst="rect">
            <a:avLst/>
          </a:prstGeom>
          <a:noFill/>
          <a:ln/>
        </p:spPr>
        <p:txBody>
          <a:bodyPr wrap="square" lIns="0" tIns="0" rIns="0" bIns="0" rtlCol="0" anchor="t"/>
          <a:lstStyle/>
          <a:p>
            <a:pPr marL="0" indent="0">
              <a:buNone/>
            </a:pPr>
            <a:r>
              <a:rPr lang="en-US" sz="1500" b="1" dirty="0">
                <a:solidFill>
                  <a:schemeClr val="tx2"/>
                </a:solidFill>
              </a:rPr>
              <a:t>Neural network</a:t>
            </a:r>
            <a:endParaRPr lang="en-US" sz="1500" dirty="0"/>
          </a:p>
        </p:txBody>
      </p:sp>
      <p:sp>
        <p:nvSpPr>
          <p:cNvPr id="13" name="Text 8"/>
          <p:cNvSpPr txBox="1"/>
          <p:nvPr/>
        </p:nvSpPr>
        <p:spPr>
          <a:xfrm>
            <a:off x="1097280" y="2852928"/>
            <a:ext cx="2743200" cy="411480"/>
          </a:xfrm>
          <a:prstGeom prst="rect">
            <a:avLst/>
          </a:prstGeom>
          <a:noFill/>
          <a:ln/>
        </p:spPr>
        <p:txBody>
          <a:bodyPr wrap="square" lIns="0" tIns="0" rIns="0" bIns="0" rtlCol="0" anchor="t"/>
          <a:lstStyle/>
          <a:p>
            <a:pPr marL="0" indent="0">
              <a:buNone/>
            </a:pPr>
            <a:r>
              <a:rPr lang="en-US" sz="1200" dirty="0">
                <a:solidFill>
                  <a:schemeClr val="tx1"/>
                </a:solidFill>
              </a:rPr>
              <a:t>Loosely inspired by the brain. Spots subtle mixes of factors.</a:t>
            </a:r>
            <a:endParaRPr lang="en-US" sz="1200" dirty="0"/>
          </a:p>
        </p:txBody>
      </p:sp>
      <p:sp>
        <p:nvSpPr>
          <p:cNvPr id="14" name="Text 9"/>
          <p:cNvSpPr txBox="1"/>
          <p:nvPr/>
        </p:nvSpPr>
        <p:spPr>
          <a:xfrm>
            <a:off x="1097280" y="3273552"/>
            <a:ext cx="2743200" cy="274320"/>
          </a:xfrm>
          <a:prstGeom prst="rect">
            <a:avLst/>
          </a:prstGeom>
          <a:noFill/>
          <a:ln/>
        </p:spPr>
        <p:txBody>
          <a:bodyPr wrap="square" lIns="0" tIns="0" rIns="0" bIns="0" rtlCol="0" anchor="t"/>
          <a:lstStyle/>
          <a:p>
            <a:pPr marL="0" indent="0">
              <a:buNone/>
            </a:pPr>
            <a:r>
              <a:rPr lang="en-US" sz="1100" i="1" dirty="0">
                <a:solidFill>
                  <a:schemeClr val="accent6"/>
                </a:solidFill>
              </a:rPr>
              <a:t>e.g. this brand + big city + summer = extra visitors</a:t>
            </a:r>
            <a:endParaRPr lang="en-US" sz="1100" dirty="0"/>
          </a:p>
        </p:txBody>
      </p:sp>
      <p:sp>
        <p:nvSpPr>
          <p:cNvPr id="15" name="Text 10"/>
          <p:cNvSpPr txBox="1"/>
          <p:nvPr/>
        </p:nvSpPr>
        <p:spPr>
          <a:xfrm>
            <a:off x="457200" y="3703320"/>
            <a:ext cx="3383280" cy="457200"/>
          </a:xfrm>
          <a:prstGeom prst="rect">
            <a:avLst/>
          </a:prstGeom>
          <a:noFill/>
          <a:ln/>
        </p:spPr>
        <p:txBody>
          <a:bodyPr wrap="square" lIns="0" tIns="0" rIns="0" bIns="0" rtlCol="0" anchor="t"/>
          <a:lstStyle/>
          <a:p>
            <a:pPr marL="0" indent="0">
              <a:buNone/>
            </a:pPr>
            <a:r>
              <a:rPr lang="en-US" sz="1200" b="1" dirty="0">
                <a:solidFill>
                  <a:schemeClr val="tx2"/>
                </a:solidFill>
              </a:rPr>
              <a:t>Why mix them? </a:t>
            </a:r>
            <a:r>
              <a:rPr lang="en-US" sz="1200" dirty="0">
                <a:solidFill>
                  <a:schemeClr val="tx1"/>
                </a:solidFill>
              </a:rPr>
              <a:t>They make different mistakes, so blending cancels some out.</a:t>
            </a:r>
            <a:endParaRPr lang="en-US" sz="1200" dirty="0"/>
          </a:p>
        </p:txBody>
      </p:sp>
      <p:graphicFrame>
        <p:nvGraphicFramePr>
          <p:cNvPr id="16" name="Chart 0"/>
          <p:cNvGraphicFramePr/>
          <p:nvPr/>
        </p:nvGraphicFramePr>
        <p:xfrm>
          <a:off x="4023360" y="1234440"/>
          <a:ext cx="4297680" cy="3017520"/>
        </p:xfrm>
        <a:graphic>
          <a:graphicData uri="http://schemas.openxmlformats.org/drawingml/2006/chart">
            <c:chart xmlns:c="http://schemas.openxmlformats.org/drawingml/2006/chart" xmlns:r="http://schemas.openxmlformats.org/officeDocument/2006/relationships" r:id="rId5"/>
          </a:graphicData>
        </a:graphic>
      </p:graphicFrame>
      <p:sp>
        <p:nvSpPr>
          <p:cNvPr id="17"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18" name="Image 2" descr="idea icon"/>
          <p:cNvPicPr>
            <a:picLocks noChangeAspect="1"/>
          </p:cNvPicPr>
          <p:nvPr/>
        </p:nvPicPr>
        <p:blipFill>
          <a:blip r:embed="rId6"/>
          <a:stretch>
            <a:fillRect/>
          </a:stretch>
        </p:blipFill>
        <p:spPr>
          <a:xfrm>
            <a:off x="594360" y="4462272"/>
            <a:ext cx="274320" cy="274320"/>
          </a:xfrm>
          <a:prstGeom prst="rect">
            <a:avLst/>
          </a:prstGeom>
        </p:spPr>
      </p:pic>
      <p:sp>
        <p:nvSpPr>
          <p:cNvPr id="19" name="Text 12"/>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two experts give their opinion, and we combine them with the weights that proved most accurate.</a:t>
            </a:r>
            <a:endParaRPr lang="en-US" sz="13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HOW THE AI WORKS</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Learning without being fooled by strange days</a:t>
            </a:r>
            <a:endParaRPr lang="en-US" sz="2800" dirty="0"/>
          </a:p>
        </p:txBody>
      </p:sp>
      <p:sp>
        <p:nvSpPr>
          <p:cNvPr id="5" name="card"/>
          <p:cNvSpPr/>
          <p:nvPr/>
        </p:nvSpPr>
        <p:spPr>
          <a:xfrm>
            <a:off x="457200" y="1280160"/>
            <a:ext cx="3383280" cy="2880360"/>
          </a:xfrm>
          <a:prstGeom prst="roundRect">
            <a:avLst>
              <a:gd name="adj" fmla="val 2540"/>
            </a:avLst>
          </a:prstGeom>
          <a:solidFill>
            <a:srgbClr val="FCECEC"/>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6" name="Text 3"/>
          <p:cNvSpPr txBox="1"/>
          <p:nvPr/>
        </p:nvSpPr>
        <p:spPr>
          <a:xfrm>
            <a:off x="640080" y="1389888"/>
            <a:ext cx="3017520" cy="320040"/>
          </a:xfrm>
          <a:prstGeom prst="rect">
            <a:avLst/>
          </a:prstGeom>
          <a:noFill/>
          <a:ln/>
        </p:spPr>
        <p:txBody>
          <a:bodyPr wrap="square" lIns="0" tIns="0" rIns="0" bIns="0" rtlCol="0" anchor="t"/>
          <a:lstStyle/>
          <a:p>
            <a:pPr marL="0" indent="0">
              <a:buNone/>
            </a:pPr>
            <a:r>
              <a:rPr lang="en-US" sz="1500" b="1" dirty="0">
                <a:solidFill>
                  <a:schemeClr val="accent4"/>
                </a:solidFill>
              </a:rPr>
              <a:t>The problem: strange days</a:t>
            </a:r>
            <a:endParaRPr lang="en-US" sz="1500" dirty="0"/>
          </a:p>
        </p:txBody>
      </p:sp>
      <p:sp>
        <p:nvSpPr>
          <p:cNvPr id="7" name="icon circle FaBolt"/>
          <p:cNvSpPr/>
          <p:nvPr/>
        </p:nvSpPr>
        <p:spPr>
          <a:xfrm>
            <a:off x="640080" y="1828800"/>
            <a:ext cx="457200" cy="457200"/>
          </a:xfrm>
          <a:prstGeom prst="ellipse">
            <a:avLst/>
          </a:prstGeom>
          <a:solidFill>
            <a:srgbClr val="E89A0C"/>
          </a:solidFill>
          <a:ln w="12700">
            <a:solidFill>
              <a:srgbClr val="E89A0C"/>
            </a:solidFill>
            <a:prstDash val="solid"/>
          </a:ln>
        </p:spPr>
        <p:txBody>
          <a:bodyPr/>
          <a:lstStyle/>
          <a:p>
            <a:endParaRPr lang="it-IT"/>
          </a:p>
        </p:txBody>
      </p:sp>
      <p:pic>
        <p:nvPicPr>
          <p:cNvPr id="8" name="Image 0" descr="Bolt icon"/>
          <p:cNvPicPr>
            <a:picLocks noChangeAspect="1"/>
          </p:cNvPicPr>
          <p:nvPr/>
        </p:nvPicPr>
        <p:blipFill>
          <a:blip r:embed="rId3"/>
          <a:stretch>
            <a:fillRect/>
          </a:stretch>
        </p:blipFill>
        <p:spPr>
          <a:xfrm>
            <a:off x="763524" y="1952244"/>
            <a:ext cx="210312" cy="210312"/>
          </a:xfrm>
          <a:prstGeom prst="rect">
            <a:avLst/>
          </a:prstGeom>
        </p:spPr>
      </p:pic>
      <p:sp>
        <p:nvSpPr>
          <p:cNvPr id="9" name="Text 5"/>
          <p:cNvSpPr txBox="1"/>
          <p:nvPr/>
        </p:nvSpPr>
        <p:spPr>
          <a:xfrm>
            <a:off x="1207008" y="1828800"/>
            <a:ext cx="2468880" cy="548640"/>
          </a:xfrm>
          <a:prstGeom prst="rect">
            <a:avLst/>
          </a:prstGeom>
          <a:noFill/>
          <a:ln/>
        </p:spPr>
        <p:txBody>
          <a:bodyPr wrap="square" lIns="0" tIns="0" rIns="0" bIns="0" rtlCol="0" anchor="ctr"/>
          <a:lstStyle/>
          <a:p>
            <a:pPr marL="0" indent="0">
              <a:buNone/>
            </a:pPr>
            <a:r>
              <a:rPr lang="en-US" sz="1300" dirty="0">
                <a:solidFill>
                  <a:schemeClr val="tx1"/>
                </a:solidFill>
              </a:rPr>
              <a:t>A restaurant drops off 8,000 bottles in one day</a:t>
            </a:r>
            <a:endParaRPr lang="en-US" sz="1300" dirty="0"/>
          </a:p>
        </p:txBody>
      </p:sp>
      <p:sp>
        <p:nvSpPr>
          <p:cNvPr id="10" name="icon circle FaPowerOff"/>
          <p:cNvSpPr/>
          <p:nvPr/>
        </p:nvSpPr>
        <p:spPr>
          <a:xfrm>
            <a:off x="640080" y="2542032"/>
            <a:ext cx="457200" cy="457200"/>
          </a:xfrm>
          <a:prstGeom prst="ellipse">
            <a:avLst/>
          </a:prstGeom>
          <a:solidFill>
            <a:srgbClr val="D64545"/>
          </a:solidFill>
          <a:ln w="12700">
            <a:solidFill>
              <a:srgbClr val="D64545"/>
            </a:solidFill>
            <a:prstDash val="solid"/>
          </a:ln>
        </p:spPr>
        <p:txBody>
          <a:bodyPr/>
          <a:lstStyle/>
          <a:p>
            <a:endParaRPr lang="it-IT"/>
          </a:p>
        </p:txBody>
      </p:sp>
      <p:pic>
        <p:nvPicPr>
          <p:cNvPr id="11" name="Image 1" descr="PowerOff icon"/>
          <p:cNvPicPr>
            <a:picLocks noChangeAspect="1"/>
          </p:cNvPicPr>
          <p:nvPr/>
        </p:nvPicPr>
        <p:blipFill>
          <a:blip r:embed="rId4"/>
          <a:stretch>
            <a:fillRect/>
          </a:stretch>
        </p:blipFill>
        <p:spPr>
          <a:xfrm>
            <a:off x="763524" y="2665476"/>
            <a:ext cx="210312" cy="210312"/>
          </a:xfrm>
          <a:prstGeom prst="rect">
            <a:avLst/>
          </a:prstGeom>
        </p:spPr>
      </p:pic>
      <p:sp>
        <p:nvSpPr>
          <p:cNvPr id="12" name="Text 7"/>
          <p:cNvSpPr txBox="1"/>
          <p:nvPr/>
        </p:nvSpPr>
        <p:spPr>
          <a:xfrm>
            <a:off x="1207008" y="2542032"/>
            <a:ext cx="2468880" cy="548640"/>
          </a:xfrm>
          <a:prstGeom prst="rect">
            <a:avLst/>
          </a:prstGeom>
          <a:noFill/>
          <a:ln/>
        </p:spPr>
        <p:txBody>
          <a:bodyPr wrap="square" lIns="0" tIns="0" rIns="0" bIns="0" rtlCol="0" anchor="ctr"/>
          <a:lstStyle/>
          <a:p>
            <a:pPr marL="0" indent="0">
              <a:buNone/>
            </a:pPr>
            <a:r>
              <a:rPr lang="en-US" sz="1300" dirty="0">
                <a:solidFill>
                  <a:schemeClr val="tx1"/>
                </a:solidFill>
              </a:rPr>
              <a:t>A broken machine collects 0 bottles for days</a:t>
            </a:r>
            <a:endParaRPr lang="en-US" sz="1300" dirty="0"/>
          </a:p>
        </p:txBody>
      </p:sp>
      <p:sp>
        <p:nvSpPr>
          <p:cNvPr id="13" name="Text 8"/>
          <p:cNvSpPr txBox="1"/>
          <p:nvPr/>
        </p:nvSpPr>
        <p:spPr>
          <a:xfrm>
            <a:off x="640080" y="3337560"/>
            <a:ext cx="3017520" cy="685800"/>
          </a:xfrm>
          <a:prstGeom prst="rect">
            <a:avLst/>
          </a:prstGeom>
          <a:noFill/>
          <a:ln/>
        </p:spPr>
        <p:txBody>
          <a:bodyPr wrap="square" lIns="0" tIns="0" rIns="0" bIns="0" rtlCol="0" anchor="t"/>
          <a:lstStyle/>
          <a:p>
            <a:pPr marL="0" indent="0">
              <a:buNone/>
            </a:pPr>
            <a:r>
              <a:rPr lang="en-US" sz="1200" i="1" dirty="0">
                <a:solidFill>
                  <a:schemeClr val="tx2"/>
                </a:solidFill>
              </a:rPr>
              <a:t>If the AI copied these days, its forecasts for normal days would be wrong.</a:t>
            </a:r>
            <a:endParaRPr lang="en-US" sz="1200" dirty="0"/>
          </a:p>
        </p:txBody>
      </p:sp>
      <p:sp>
        <p:nvSpPr>
          <p:cNvPr id="14" name="arrow"/>
          <p:cNvSpPr/>
          <p:nvPr/>
        </p:nvSpPr>
        <p:spPr>
          <a:xfrm>
            <a:off x="3931920" y="2560320"/>
            <a:ext cx="320040" cy="365760"/>
          </a:xfrm>
          <a:prstGeom prst="rightArrow">
            <a:avLst/>
          </a:prstGeom>
          <a:solidFill>
            <a:schemeClr val="accent1"/>
          </a:solidFill>
          <a:ln w="12700">
            <a:solidFill>
              <a:schemeClr val="accent1"/>
            </a:solidFill>
            <a:prstDash val="solid"/>
          </a:ln>
        </p:spPr>
        <p:txBody>
          <a:bodyPr/>
          <a:lstStyle/>
          <a:p>
            <a:endParaRPr lang="it-IT"/>
          </a:p>
        </p:txBody>
      </p:sp>
      <p:sp>
        <p:nvSpPr>
          <p:cNvPr id="15" name="Text 10"/>
          <p:cNvSpPr txBox="1"/>
          <p:nvPr/>
        </p:nvSpPr>
        <p:spPr>
          <a:xfrm>
            <a:off x="4434840" y="1325880"/>
            <a:ext cx="3840480" cy="320040"/>
          </a:xfrm>
          <a:prstGeom prst="rect">
            <a:avLst/>
          </a:prstGeom>
          <a:noFill/>
          <a:ln/>
        </p:spPr>
        <p:txBody>
          <a:bodyPr wrap="square" lIns="0" tIns="0" rIns="0" bIns="0" rtlCol="0" anchor="t"/>
          <a:lstStyle/>
          <a:p>
            <a:pPr marL="0" indent="0">
              <a:buNone/>
            </a:pPr>
            <a:r>
              <a:rPr lang="en-US" sz="1500" b="1" dirty="0">
                <a:solidFill>
                  <a:schemeClr val="accent1"/>
                </a:solidFill>
              </a:rPr>
              <a:t>How the AI stays calm</a:t>
            </a:r>
            <a:endParaRPr lang="en-US" sz="1500" dirty="0"/>
          </a:p>
        </p:txBody>
      </p:sp>
      <p:sp>
        <p:nvSpPr>
          <p:cNvPr id="16" name="card"/>
          <p:cNvSpPr/>
          <p:nvPr/>
        </p:nvSpPr>
        <p:spPr>
          <a:xfrm>
            <a:off x="4434840" y="1737360"/>
            <a:ext cx="3886200" cy="713232"/>
          </a:xfrm>
          <a:prstGeom prst="roundRect">
            <a:avLst>
              <a:gd name="adj" fmla="val 10256"/>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7" name="icon circle FaShieldAlt"/>
          <p:cNvSpPr/>
          <p:nvPr/>
        </p:nvSpPr>
        <p:spPr>
          <a:xfrm>
            <a:off x="4544568" y="1865376"/>
            <a:ext cx="457200" cy="457200"/>
          </a:xfrm>
          <a:prstGeom prst="ellipse">
            <a:avLst/>
          </a:prstGeom>
          <a:solidFill>
            <a:srgbClr val="1E9E62"/>
          </a:solidFill>
          <a:ln w="12700">
            <a:solidFill>
              <a:srgbClr val="1E9E62"/>
            </a:solidFill>
            <a:prstDash val="solid"/>
          </a:ln>
        </p:spPr>
        <p:txBody>
          <a:bodyPr/>
          <a:lstStyle/>
          <a:p>
            <a:endParaRPr lang="it-IT"/>
          </a:p>
        </p:txBody>
      </p:sp>
      <p:pic>
        <p:nvPicPr>
          <p:cNvPr id="18" name="Image 2" descr="ShieldAlt icon"/>
          <p:cNvPicPr>
            <a:picLocks noChangeAspect="1"/>
          </p:cNvPicPr>
          <p:nvPr/>
        </p:nvPicPr>
        <p:blipFill>
          <a:blip r:embed="rId5"/>
          <a:stretch>
            <a:fillRect/>
          </a:stretch>
        </p:blipFill>
        <p:spPr>
          <a:xfrm>
            <a:off x="4668012" y="1988820"/>
            <a:ext cx="210312" cy="210312"/>
          </a:xfrm>
          <a:prstGeom prst="rect">
            <a:avLst/>
          </a:prstGeom>
        </p:spPr>
      </p:pic>
      <p:sp>
        <p:nvSpPr>
          <p:cNvPr id="19" name="Text 13"/>
          <p:cNvSpPr txBox="1"/>
          <p:nvPr/>
        </p:nvSpPr>
        <p:spPr>
          <a:xfrm>
            <a:off x="5120640" y="1773936"/>
            <a:ext cx="3154680" cy="640080"/>
          </a:xfrm>
          <a:prstGeom prst="rect">
            <a:avLst/>
          </a:prstGeom>
          <a:noFill/>
          <a:ln/>
        </p:spPr>
        <p:txBody>
          <a:bodyPr wrap="square" lIns="0" tIns="0" rIns="0" bIns="0" rtlCol="0" anchor="ctr"/>
          <a:lstStyle/>
          <a:p>
            <a:pPr marL="0" indent="0">
              <a:buNone/>
            </a:pPr>
            <a:r>
              <a:rPr lang="en-US" sz="1400" b="1" dirty="0">
                <a:solidFill>
                  <a:schemeClr val="tx2"/>
                </a:solidFill>
              </a:rPr>
              <a:t>Big surprises count less</a:t>
            </a:r>
            <a:endParaRPr lang="en-US" sz="1200" dirty="0"/>
          </a:p>
          <a:p>
            <a:pPr marL="0" indent="0">
              <a:buNone/>
            </a:pPr>
            <a:r>
              <a:rPr lang="en-US" sz="1200" dirty="0">
                <a:solidFill>
                  <a:schemeClr val="tx1"/>
                </a:solidFill>
              </a:rPr>
              <a:t>One extreme day can only nudge the AI a little.</a:t>
            </a:r>
            <a:endParaRPr lang="en-US" sz="1200" dirty="0"/>
          </a:p>
        </p:txBody>
      </p:sp>
      <p:sp>
        <p:nvSpPr>
          <p:cNvPr id="20" name="card"/>
          <p:cNvSpPr/>
          <p:nvPr/>
        </p:nvSpPr>
        <p:spPr>
          <a:xfrm>
            <a:off x="4434840" y="2560320"/>
            <a:ext cx="3886200" cy="713232"/>
          </a:xfrm>
          <a:prstGeom prst="roundRect">
            <a:avLst>
              <a:gd name="adj" fmla="val 10256"/>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1" name="icon circle FaPercent"/>
          <p:cNvSpPr/>
          <p:nvPr/>
        </p:nvSpPr>
        <p:spPr>
          <a:xfrm>
            <a:off x="4544568" y="2688336"/>
            <a:ext cx="457200" cy="457200"/>
          </a:xfrm>
          <a:prstGeom prst="ellipse">
            <a:avLst/>
          </a:prstGeom>
          <a:solidFill>
            <a:srgbClr val="2C7DA0"/>
          </a:solidFill>
          <a:ln w="12700">
            <a:solidFill>
              <a:srgbClr val="2C7DA0"/>
            </a:solidFill>
            <a:prstDash val="solid"/>
          </a:ln>
        </p:spPr>
        <p:txBody>
          <a:bodyPr/>
          <a:lstStyle/>
          <a:p>
            <a:endParaRPr lang="it-IT"/>
          </a:p>
        </p:txBody>
      </p:sp>
      <p:pic>
        <p:nvPicPr>
          <p:cNvPr id="22" name="Image 3" descr="Percent icon"/>
          <p:cNvPicPr>
            <a:picLocks noChangeAspect="1"/>
          </p:cNvPicPr>
          <p:nvPr/>
        </p:nvPicPr>
        <p:blipFill>
          <a:blip r:embed="rId6"/>
          <a:stretch>
            <a:fillRect/>
          </a:stretch>
        </p:blipFill>
        <p:spPr>
          <a:xfrm>
            <a:off x="4668012" y="2811780"/>
            <a:ext cx="210312" cy="210312"/>
          </a:xfrm>
          <a:prstGeom prst="rect">
            <a:avLst/>
          </a:prstGeom>
        </p:spPr>
      </p:pic>
      <p:sp>
        <p:nvSpPr>
          <p:cNvPr id="23" name="Text 16"/>
          <p:cNvSpPr txBox="1"/>
          <p:nvPr/>
        </p:nvSpPr>
        <p:spPr>
          <a:xfrm>
            <a:off x="5120640" y="2596896"/>
            <a:ext cx="3154680" cy="640080"/>
          </a:xfrm>
          <a:prstGeom prst="rect">
            <a:avLst/>
          </a:prstGeom>
          <a:noFill/>
          <a:ln/>
        </p:spPr>
        <p:txBody>
          <a:bodyPr wrap="square" lIns="0" tIns="0" rIns="0" bIns="0" rtlCol="0" anchor="ctr"/>
          <a:lstStyle/>
          <a:p>
            <a:pPr marL="0" indent="0">
              <a:buNone/>
            </a:pPr>
            <a:r>
              <a:rPr lang="en-US" sz="1400" b="1" dirty="0">
                <a:solidFill>
                  <a:schemeClr val="tx2"/>
                </a:solidFill>
              </a:rPr>
              <a:t>Changes are seen in %</a:t>
            </a:r>
            <a:endParaRPr lang="en-US" sz="1200" dirty="0"/>
          </a:p>
          <a:p>
            <a:pPr marL="0" indent="0">
              <a:buNone/>
            </a:pPr>
            <a:r>
              <a:rPr lang="en-US" sz="1200" dirty="0">
                <a:solidFill>
                  <a:schemeClr val="tx1"/>
                </a:solidFill>
              </a:rPr>
              <a:t>100 → 200 bottles counts like 1,000 → 2,000.</a:t>
            </a:r>
            <a:endParaRPr lang="en-US" sz="1200" dirty="0"/>
          </a:p>
        </p:txBody>
      </p:sp>
      <p:sp>
        <p:nvSpPr>
          <p:cNvPr id="24" name="card"/>
          <p:cNvSpPr/>
          <p:nvPr/>
        </p:nvSpPr>
        <p:spPr>
          <a:xfrm>
            <a:off x="4434840" y="3383280"/>
            <a:ext cx="3886200" cy="713232"/>
          </a:xfrm>
          <a:prstGeom prst="roundRect">
            <a:avLst>
              <a:gd name="adj" fmla="val 10256"/>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5" name="icon circle FaTools"/>
          <p:cNvSpPr/>
          <p:nvPr/>
        </p:nvSpPr>
        <p:spPr>
          <a:xfrm>
            <a:off x="4544568" y="3511296"/>
            <a:ext cx="457200" cy="457200"/>
          </a:xfrm>
          <a:prstGeom prst="ellipse">
            <a:avLst/>
          </a:prstGeom>
          <a:solidFill>
            <a:srgbClr val="D64545"/>
          </a:solidFill>
          <a:ln w="12700">
            <a:solidFill>
              <a:srgbClr val="D64545"/>
            </a:solidFill>
            <a:prstDash val="solid"/>
          </a:ln>
        </p:spPr>
        <p:txBody>
          <a:bodyPr/>
          <a:lstStyle/>
          <a:p>
            <a:endParaRPr lang="it-IT"/>
          </a:p>
        </p:txBody>
      </p:sp>
      <p:pic>
        <p:nvPicPr>
          <p:cNvPr id="26" name="Image 4" descr="Tools icon"/>
          <p:cNvPicPr>
            <a:picLocks noChangeAspect="1"/>
          </p:cNvPicPr>
          <p:nvPr/>
        </p:nvPicPr>
        <p:blipFill>
          <a:blip r:embed="rId7"/>
          <a:stretch>
            <a:fillRect/>
          </a:stretch>
        </p:blipFill>
        <p:spPr>
          <a:xfrm>
            <a:off x="4668012" y="3634740"/>
            <a:ext cx="210312" cy="210312"/>
          </a:xfrm>
          <a:prstGeom prst="rect">
            <a:avLst/>
          </a:prstGeom>
        </p:spPr>
      </p:pic>
      <p:sp>
        <p:nvSpPr>
          <p:cNvPr id="27" name="Text 19"/>
          <p:cNvSpPr txBox="1"/>
          <p:nvPr/>
        </p:nvSpPr>
        <p:spPr>
          <a:xfrm>
            <a:off x="5120640" y="3419856"/>
            <a:ext cx="3154680" cy="640080"/>
          </a:xfrm>
          <a:prstGeom prst="rect">
            <a:avLst/>
          </a:prstGeom>
          <a:noFill/>
          <a:ln/>
        </p:spPr>
        <p:txBody>
          <a:bodyPr wrap="square" lIns="0" tIns="0" rIns="0" bIns="0" rtlCol="0" anchor="ctr"/>
          <a:lstStyle/>
          <a:p>
            <a:pPr marL="0" indent="0">
              <a:buNone/>
            </a:pPr>
            <a:r>
              <a:rPr lang="en-US" sz="1400" b="1" dirty="0">
                <a:solidFill>
                  <a:schemeClr val="tx2"/>
                </a:solidFill>
              </a:rPr>
              <a:t>Broken machines count less</a:t>
            </a:r>
            <a:endParaRPr lang="en-US" sz="1200" dirty="0"/>
          </a:p>
          <a:p>
            <a:pPr marL="0" indent="0">
              <a:buNone/>
            </a:pPr>
            <a:r>
              <a:rPr lang="en-US" sz="1200" dirty="0">
                <a:solidFill>
                  <a:schemeClr val="tx1"/>
                </a:solidFill>
              </a:rPr>
              <a:t>About ¼ as much as a normal machine.</a:t>
            </a:r>
            <a:endParaRPr lang="en-US" sz="1200" dirty="0"/>
          </a:p>
        </p:txBody>
      </p:sp>
      <p:sp>
        <p:nvSpPr>
          <p:cNvPr id="28"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29" name="Image 5" descr="idea icon"/>
          <p:cNvPicPr>
            <a:picLocks noChangeAspect="1"/>
          </p:cNvPicPr>
          <p:nvPr/>
        </p:nvPicPr>
        <p:blipFill>
          <a:blip r:embed="rId8"/>
          <a:stretch>
            <a:fillRect/>
          </a:stretch>
        </p:blipFill>
        <p:spPr>
          <a:xfrm>
            <a:off x="594360" y="4462272"/>
            <a:ext cx="274320" cy="274320"/>
          </a:xfrm>
          <a:prstGeom prst="rect">
            <a:avLst/>
          </a:prstGeom>
        </p:spPr>
      </p:pic>
      <p:sp>
        <p:nvSpPr>
          <p:cNvPr id="30" name="Text 21"/>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like a good teacher who does not judge a student on one strange exam day.</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HOW THE AI WORKS</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Example: one strange day</a:t>
            </a:r>
            <a:endParaRPr lang="en-US" sz="2800" dirty="0"/>
          </a:p>
        </p:txBody>
      </p:sp>
      <p:sp>
        <p:nvSpPr>
          <p:cNvPr id="5" name="card"/>
          <p:cNvSpPr/>
          <p:nvPr/>
        </p:nvSpPr>
        <p:spPr>
          <a:xfrm>
            <a:off x="457200" y="1234440"/>
            <a:ext cx="7863840" cy="502920"/>
          </a:xfrm>
          <a:prstGeom prst="roundRect">
            <a:avLst>
              <a:gd name="adj" fmla="val 14545"/>
            </a:avLst>
          </a:prstGeom>
          <a:solidFill>
            <a:schemeClr val="bg2"/>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6" name="icon circle FaBolt"/>
          <p:cNvSpPr/>
          <p:nvPr/>
        </p:nvSpPr>
        <p:spPr>
          <a:xfrm>
            <a:off x="548640" y="1280160"/>
            <a:ext cx="411480" cy="411480"/>
          </a:xfrm>
          <a:prstGeom prst="ellipse">
            <a:avLst/>
          </a:prstGeom>
          <a:solidFill>
            <a:srgbClr val="E89A0C"/>
          </a:solidFill>
          <a:ln w="12700">
            <a:solidFill>
              <a:srgbClr val="E89A0C"/>
            </a:solidFill>
            <a:prstDash val="solid"/>
          </a:ln>
        </p:spPr>
        <p:txBody>
          <a:bodyPr/>
          <a:lstStyle/>
          <a:p>
            <a:endParaRPr lang="it-IT"/>
          </a:p>
        </p:txBody>
      </p:sp>
      <p:pic>
        <p:nvPicPr>
          <p:cNvPr id="7" name="Image 0" descr="Bolt icon"/>
          <p:cNvPicPr>
            <a:picLocks noChangeAspect="1"/>
          </p:cNvPicPr>
          <p:nvPr/>
        </p:nvPicPr>
        <p:blipFill>
          <a:blip r:embed="rId3"/>
          <a:stretch>
            <a:fillRect/>
          </a:stretch>
        </p:blipFill>
        <p:spPr>
          <a:xfrm>
            <a:off x="659740" y="1391260"/>
            <a:ext cx="189281" cy="189281"/>
          </a:xfrm>
          <a:prstGeom prst="rect">
            <a:avLst/>
          </a:prstGeom>
        </p:spPr>
      </p:pic>
      <p:sp>
        <p:nvSpPr>
          <p:cNvPr id="8" name="Text 4"/>
          <p:cNvSpPr txBox="1"/>
          <p:nvPr/>
        </p:nvSpPr>
        <p:spPr>
          <a:xfrm>
            <a:off x="1097280" y="1234440"/>
            <a:ext cx="7132320" cy="502920"/>
          </a:xfrm>
          <a:prstGeom prst="rect">
            <a:avLst/>
          </a:prstGeom>
          <a:noFill/>
          <a:ln/>
        </p:spPr>
        <p:txBody>
          <a:bodyPr wrap="square" lIns="0" tIns="0" rIns="0" bIns="0" rtlCol="0" anchor="ctr"/>
          <a:lstStyle/>
          <a:p>
            <a:pPr marL="0" indent="0">
              <a:buNone/>
            </a:pPr>
            <a:r>
              <a:rPr lang="en-US" sz="1300" b="1" dirty="0">
                <a:solidFill>
                  <a:schemeClr val="tx2"/>
                </a:solidFill>
              </a:rPr>
              <a:t>Example: </a:t>
            </a:r>
            <a:r>
              <a:rPr lang="en-US" sz="1300" dirty="0">
                <a:solidFill>
                  <a:schemeClr val="tx1"/>
                </a:solidFill>
              </a:rPr>
              <a:t>a store normally collects about 800 bottles a day. One day a restaurant drops off 8,000.</a:t>
            </a:r>
            <a:endParaRPr lang="en-US" sz="1300" dirty="0"/>
          </a:p>
        </p:txBody>
      </p:sp>
      <p:sp>
        <p:nvSpPr>
          <p:cNvPr id="9" name="step number"/>
          <p:cNvSpPr/>
          <p:nvPr/>
        </p:nvSpPr>
        <p:spPr>
          <a:xfrm>
            <a:off x="457200" y="1984248"/>
            <a:ext cx="457200" cy="457200"/>
          </a:xfrm>
          <a:prstGeom prst="ellipse">
            <a:avLst/>
          </a:prstGeom>
          <a:solidFill>
            <a:srgbClr val="2C7DA0"/>
          </a:solidFill>
          <a:ln w="12700">
            <a:solidFill>
              <a:srgbClr val="2C7DA0"/>
            </a:solidFill>
            <a:prstDash val="solid"/>
          </a:ln>
        </p:spPr>
        <p:txBody>
          <a:bodyPr/>
          <a:lstStyle/>
          <a:p>
            <a:endParaRPr lang="it-IT"/>
          </a:p>
        </p:txBody>
      </p:sp>
      <p:sp>
        <p:nvSpPr>
          <p:cNvPr id="10" name="Text 6"/>
          <p:cNvSpPr txBox="1"/>
          <p:nvPr/>
        </p:nvSpPr>
        <p:spPr>
          <a:xfrm>
            <a:off x="457200" y="19842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1" name="Text 7"/>
          <p:cNvSpPr txBox="1"/>
          <p:nvPr/>
        </p:nvSpPr>
        <p:spPr>
          <a:xfrm>
            <a:off x="1051560" y="1892808"/>
            <a:ext cx="3749040" cy="640080"/>
          </a:xfrm>
          <a:prstGeom prst="rect">
            <a:avLst/>
          </a:prstGeom>
          <a:noFill/>
          <a:ln/>
        </p:spPr>
        <p:txBody>
          <a:bodyPr wrap="square" lIns="0" tIns="0" rIns="0" bIns="0" rtlCol="0" anchor="ctr"/>
          <a:lstStyle/>
          <a:p>
            <a:pPr marL="0" indent="0">
              <a:buNone/>
            </a:pPr>
            <a:r>
              <a:rPr lang="en-US" sz="1400" b="1" dirty="0">
                <a:solidFill>
                  <a:schemeClr val="tx2"/>
                </a:solidFill>
              </a:rPr>
              <a:t>Shrink the jump</a:t>
            </a:r>
            <a:endParaRPr lang="en-US" sz="1200" dirty="0"/>
          </a:p>
          <a:p>
            <a:pPr marL="0" indent="0">
              <a:buNone/>
            </a:pPr>
            <a:r>
              <a:rPr lang="en-US" sz="1200" dirty="0">
                <a:solidFill>
                  <a:schemeClr val="tx1"/>
                </a:solidFill>
              </a:rPr>
              <a:t>The AI looks at changes in %, so a 10× jump feels much smaller.</a:t>
            </a:r>
            <a:endParaRPr lang="en-US" sz="1200" dirty="0"/>
          </a:p>
        </p:txBody>
      </p:sp>
      <p:sp>
        <p:nvSpPr>
          <p:cNvPr id="12" name="step number"/>
          <p:cNvSpPr/>
          <p:nvPr/>
        </p:nvSpPr>
        <p:spPr>
          <a:xfrm>
            <a:off x="457200" y="2743200"/>
            <a:ext cx="457200" cy="457200"/>
          </a:xfrm>
          <a:prstGeom prst="ellipse">
            <a:avLst/>
          </a:prstGeom>
          <a:solidFill>
            <a:srgbClr val="1E9E62"/>
          </a:solidFill>
          <a:ln w="12700">
            <a:solidFill>
              <a:srgbClr val="1E9E62"/>
            </a:solidFill>
            <a:prstDash val="solid"/>
          </a:ln>
        </p:spPr>
        <p:txBody>
          <a:bodyPr/>
          <a:lstStyle/>
          <a:p>
            <a:endParaRPr lang="it-IT"/>
          </a:p>
        </p:txBody>
      </p:sp>
      <p:sp>
        <p:nvSpPr>
          <p:cNvPr id="13" name="Text 9"/>
          <p:cNvSpPr txBox="1"/>
          <p:nvPr/>
        </p:nvSpPr>
        <p:spPr>
          <a:xfrm>
            <a:off x="457200" y="27432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4" name="Text 10"/>
          <p:cNvSpPr txBox="1"/>
          <p:nvPr/>
        </p:nvSpPr>
        <p:spPr>
          <a:xfrm>
            <a:off x="1051560" y="2651760"/>
            <a:ext cx="3749040" cy="640080"/>
          </a:xfrm>
          <a:prstGeom prst="rect">
            <a:avLst/>
          </a:prstGeom>
          <a:noFill/>
          <a:ln/>
        </p:spPr>
        <p:txBody>
          <a:bodyPr wrap="square" lIns="0" tIns="0" rIns="0" bIns="0" rtlCol="0" anchor="ctr"/>
          <a:lstStyle/>
          <a:p>
            <a:pPr marL="0" indent="0">
              <a:buNone/>
            </a:pPr>
            <a:r>
              <a:rPr lang="en-US" sz="1400" b="1" dirty="0">
                <a:solidFill>
                  <a:schemeClr val="tx2"/>
                </a:solidFill>
              </a:rPr>
              <a:t>Limit the push</a:t>
            </a:r>
            <a:endParaRPr lang="en-US" sz="1200" dirty="0"/>
          </a:p>
          <a:p>
            <a:pPr marL="0" indent="0">
              <a:buNone/>
            </a:pPr>
            <a:r>
              <a:rPr lang="en-US" sz="1200" dirty="0">
                <a:solidFill>
                  <a:schemeClr val="tx1"/>
                </a:solidFill>
              </a:rPr>
              <a:t>No single day can change the AI more than a set limit.</a:t>
            </a:r>
            <a:endParaRPr lang="en-US" sz="1200" dirty="0"/>
          </a:p>
        </p:txBody>
      </p:sp>
      <p:sp>
        <p:nvSpPr>
          <p:cNvPr id="15" name="step number"/>
          <p:cNvSpPr/>
          <p:nvPr/>
        </p:nvSpPr>
        <p:spPr>
          <a:xfrm>
            <a:off x="457200" y="3502152"/>
            <a:ext cx="457200" cy="457200"/>
          </a:xfrm>
          <a:prstGeom prst="ellipse">
            <a:avLst/>
          </a:prstGeom>
          <a:solidFill>
            <a:srgbClr val="D64545"/>
          </a:solidFill>
          <a:ln w="12700">
            <a:solidFill>
              <a:srgbClr val="D64545"/>
            </a:solidFill>
            <a:prstDash val="solid"/>
          </a:ln>
        </p:spPr>
        <p:txBody>
          <a:bodyPr/>
          <a:lstStyle/>
          <a:p>
            <a:endParaRPr lang="it-IT"/>
          </a:p>
        </p:txBody>
      </p:sp>
      <p:sp>
        <p:nvSpPr>
          <p:cNvPr id="16" name="Text 12"/>
          <p:cNvSpPr txBox="1"/>
          <p:nvPr/>
        </p:nvSpPr>
        <p:spPr>
          <a:xfrm>
            <a:off x="457200" y="350215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7" name="Text 13"/>
          <p:cNvSpPr txBox="1"/>
          <p:nvPr/>
        </p:nvSpPr>
        <p:spPr>
          <a:xfrm>
            <a:off x="1051560" y="3410712"/>
            <a:ext cx="3749040" cy="640080"/>
          </a:xfrm>
          <a:prstGeom prst="rect">
            <a:avLst/>
          </a:prstGeom>
          <a:noFill/>
          <a:ln/>
        </p:spPr>
        <p:txBody>
          <a:bodyPr wrap="square" lIns="0" tIns="0" rIns="0" bIns="0" rtlCol="0" anchor="ctr"/>
          <a:lstStyle/>
          <a:p>
            <a:pPr marL="0" indent="0">
              <a:buNone/>
            </a:pPr>
            <a:r>
              <a:rPr lang="en-US" sz="1400" b="1" dirty="0">
                <a:solidFill>
                  <a:schemeClr val="tx2"/>
                </a:solidFill>
              </a:rPr>
              <a:t>Trust broken machines less</a:t>
            </a:r>
            <a:endParaRPr lang="en-US" sz="1200" dirty="0"/>
          </a:p>
          <a:p>
            <a:pPr marL="0" indent="0">
              <a:buNone/>
            </a:pPr>
            <a:r>
              <a:rPr lang="en-US" sz="1200" dirty="0">
                <a:solidFill>
                  <a:schemeClr val="tx1"/>
                </a:solidFill>
              </a:rPr>
              <a:t>If the machine is known to be faulty, the day counts only ¼.</a:t>
            </a:r>
            <a:endParaRPr lang="en-US" sz="1200" dirty="0"/>
          </a:p>
        </p:txBody>
      </p:sp>
      <p:graphicFrame>
        <p:nvGraphicFramePr>
          <p:cNvPr id="18" name="Chart 0"/>
          <p:cNvGraphicFramePr/>
          <p:nvPr/>
        </p:nvGraphicFramePr>
        <p:xfrm>
          <a:off x="5029200" y="1828800"/>
          <a:ext cx="3291840" cy="1965960"/>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 14"/>
          <p:cNvSpPr txBox="1"/>
          <p:nvPr/>
        </p:nvSpPr>
        <p:spPr>
          <a:xfrm>
            <a:off x="5074920" y="3822192"/>
            <a:ext cx="3246120" cy="411480"/>
          </a:xfrm>
          <a:prstGeom prst="rect">
            <a:avLst/>
          </a:prstGeom>
          <a:noFill/>
          <a:ln/>
        </p:spPr>
        <p:txBody>
          <a:bodyPr wrap="square" lIns="0" tIns="0" rIns="0" bIns="0" rtlCol="0" anchor="t"/>
          <a:lstStyle/>
          <a:p>
            <a:pPr marL="0" indent="0">
              <a:buNone/>
            </a:pPr>
            <a:r>
              <a:rPr lang="en-US" sz="1200" b="1" dirty="0">
                <a:solidFill>
                  <a:schemeClr val="accent1"/>
                </a:solidFill>
              </a:rPr>
              <a:t>Result: </a:t>
            </a:r>
            <a:r>
              <a:rPr lang="en-US" sz="1200" dirty="0">
                <a:solidFill>
                  <a:schemeClr val="tx1"/>
                </a:solidFill>
              </a:rPr>
              <a:t>the AI notices the day, but its forecast only moves a little.</a:t>
            </a:r>
            <a:endParaRPr lang="en-US" sz="1200" dirty="0"/>
          </a:p>
        </p:txBody>
      </p:sp>
      <p:sp>
        <p:nvSpPr>
          <p:cNvPr id="20"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21" name="Image 1" descr="idea icon"/>
          <p:cNvPicPr>
            <a:picLocks noChangeAspect="1"/>
          </p:cNvPicPr>
          <p:nvPr/>
        </p:nvPicPr>
        <p:blipFill>
          <a:blip r:embed="rId5"/>
          <a:stretch>
            <a:fillRect/>
          </a:stretch>
        </p:blipFill>
        <p:spPr>
          <a:xfrm>
            <a:off x="594360" y="4462272"/>
            <a:ext cx="274320" cy="274320"/>
          </a:xfrm>
          <a:prstGeom prst="rect">
            <a:avLst/>
          </a:prstGeom>
        </p:spPr>
      </p:pic>
      <p:sp>
        <p:nvSpPr>
          <p:cNvPr id="22" name="Text 16"/>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one strange day is noticed, but it cannot change the forecast much.</a:t>
            </a:r>
            <a:endParaRPr lang="en-US" sz="13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RESULTS · RISK</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How risky is this investment?</a:t>
            </a:r>
            <a:endParaRPr lang="en-US" sz="2800" dirty="0"/>
          </a:p>
        </p:txBody>
      </p:sp>
      <p:sp>
        <p:nvSpPr>
          <p:cNvPr id="5" name="range line"/>
          <p:cNvSpPr/>
          <p:nvPr/>
        </p:nvSpPr>
        <p:spPr>
          <a:xfrm>
            <a:off x="731520" y="2148840"/>
            <a:ext cx="7315200" cy="0"/>
          </a:xfrm>
          <a:prstGeom prst="line">
            <a:avLst/>
          </a:prstGeom>
          <a:noFill/>
          <a:ln w="25400">
            <a:solidFill>
              <a:srgbClr val="6B7C74"/>
            </a:solidFill>
            <a:prstDash val="solid"/>
          </a:ln>
        </p:spPr>
        <p:txBody>
          <a:bodyPr/>
          <a:lstStyle/>
          <a:p>
            <a:endParaRPr lang="it-IT"/>
          </a:p>
        </p:txBody>
      </p:sp>
      <p:sp>
        <p:nvSpPr>
          <p:cNvPr id="6" name="likely range band"/>
          <p:cNvSpPr/>
          <p:nvPr/>
        </p:nvSpPr>
        <p:spPr>
          <a:xfrm>
            <a:off x="2011680" y="2011680"/>
            <a:ext cx="4754880" cy="274320"/>
          </a:xfrm>
          <a:prstGeom prst="rect">
            <a:avLst/>
          </a:prstGeom>
          <a:solidFill>
            <a:srgbClr val="1E9E62">
              <a:alpha val="30000"/>
            </a:srgbClr>
          </a:solidFill>
          <a:ln w="12700">
            <a:solidFill>
              <a:srgbClr val="1E9E62">
                <a:alpha val="30000"/>
              </a:srgbClr>
            </a:solidFill>
            <a:prstDash val="solid"/>
          </a:ln>
        </p:spPr>
        <p:txBody>
          <a:bodyPr/>
          <a:lstStyle/>
          <a:p>
            <a:endParaRPr lang="it-IT"/>
          </a:p>
        </p:txBody>
      </p:sp>
      <p:sp>
        <p:nvSpPr>
          <p:cNvPr id="7" name="marker"/>
          <p:cNvSpPr/>
          <p:nvPr/>
        </p:nvSpPr>
        <p:spPr>
          <a:xfrm>
            <a:off x="1892808" y="2029968"/>
            <a:ext cx="237744" cy="237744"/>
          </a:xfrm>
          <a:prstGeom prst="ellipse">
            <a:avLst/>
          </a:prstGeom>
          <a:solidFill>
            <a:srgbClr val="E89A0C"/>
          </a:solidFill>
          <a:ln w="19050">
            <a:solidFill>
              <a:srgbClr val="FFFFFF"/>
            </a:solidFill>
            <a:prstDash val="solid"/>
          </a:ln>
        </p:spPr>
        <p:txBody>
          <a:bodyPr/>
          <a:lstStyle/>
          <a:p>
            <a:endParaRPr lang="it-IT"/>
          </a:p>
        </p:txBody>
      </p:sp>
      <p:sp>
        <p:nvSpPr>
          <p:cNvPr id="8" name="Text 5"/>
          <p:cNvSpPr txBox="1"/>
          <p:nvPr/>
        </p:nvSpPr>
        <p:spPr>
          <a:xfrm>
            <a:off x="1188720" y="1417320"/>
            <a:ext cx="1645920" cy="274320"/>
          </a:xfrm>
          <a:prstGeom prst="rect">
            <a:avLst/>
          </a:prstGeom>
          <a:noFill/>
          <a:ln/>
        </p:spPr>
        <p:txBody>
          <a:bodyPr wrap="square" lIns="0" tIns="0" rIns="0" bIns="0" rtlCol="0" anchor="t"/>
          <a:lstStyle/>
          <a:p>
            <a:pPr marL="0" indent="0" algn="ctr">
              <a:buNone/>
            </a:pPr>
            <a:r>
              <a:rPr lang="en-US" sz="1400" b="1" dirty="0">
                <a:solidFill>
                  <a:schemeClr val="tx2"/>
                </a:solidFill>
              </a:rPr>
              <a:t>P10 floor</a:t>
            </a:r>
            <a:endParaRPr lang="en-US" sz="1400" dirty="0"/>
          </a:p>
        </p:txBody>
      </p:sp>
      <p:sp>
        <p:nvSpPr>
          <p:cNvPr id="9" name="Text 6"/>
          <p:cNvSpPr txBox="1"/>
          <p:nvPr/>
        </p:nvSpPr>
        <p:spPr>
          <a:xfrm>
            <a:off x="1188720" y="1673352"/>
            <a:ext cx="1645920" cy="256032"/>
          </a:xfrm>
          <a:prstGeom prst="rect">
            <a:avLst/>
          </a:prstGeom>
          <a:noFill/>
          <a:ln/>
        </p:spPr>
        <p:txBody>
          <a:bodyPr wrap="square" lIns="0" tIns="0" rIns="0" bIns="0" rtlCol="0" anchor="t"/>
          <a:lstStyle/>
          <a:p>
            <a:pPr marL="0" indent="0" algn="ctr">
              <a:buNone/>
            </a:pPr>
            <a:r>
              <a:rPr lang="en-US" sz="1100" dirty="0">
                <a:solidFill>
                  <a:schemeClr val="accent6"/>
                </a:solidFill>
              </a:rPr>
              <a:t>beaten 9 days in 10</a:t>
            </a:r>
            <a:endParaRPr lang="en-US" sz="1100" dirty="0"/>
          </a:p>
        </p:txBody>
      </p:sp>
      <p:sp>
        <p:nvSpPr>
          <p:cNvPr id="10" name="marker"/>
          <p:cNvSpPr/>
          <p:nvPr/>
        </p:nvSpPr>
        <p:spPr>
          <a:xfrm>
            <a:off x="4270248" y="2029968"/>
            <a:ext cx="237744" cy="237744"/>
          </a:xfrm>
          <a:prstGeom prst="ellipse">
            <a:avLst/>
          </a:prstGeom>
          <a:solidFill>
            <a:srgbClr val="1E9E62"/>
          </a:solidFill>
          <a:ln w="19050">
            <a:solidFill>
              <a:srgbClr val="FFFFFF"/>
            </a:solidFill>
            <a:prstDash val="solid"/>
          </a:ln>
        </p:spPr>
        <p:txBody>
          <a:bodyPr/>
          <a:lstStyle/>
          <a:p>
            <a:endParaRPr lang="it-IT"/>
          </a:p>
        </p:txBody>
      </p:sp>
      <p:sp>
        <p:nvSpPr>
          <p:cNvPr id="11" name="Text 8"/>
          <p:cNvSpPr txBox="1"/>
          <p:nvPr/>
        </p:nvSpPr>
        <p:spPr>
          <a:xfrm>
            <a:off x="3566160" y="1417320"/>
            <a:ext cx="1645920" cy="274320"/>
          </a:xfrm>
          <a:prstGeom prst="rect">
            <a:avLst/>
          </a:prstGeom>
          <a:noFill/>
          <a:ln/>
        </p:spPr>
        <p:txBody>
          <a:bodyPr wrap="square" lIns="0" tIns="0" rIns="0" bIns="0" rtlCol="0" anchor="t"/>
          <a:lstStyle/>
          <a:p>
            <a:pPr marL="0" indent="0" algn="ctr">
              <a:buNone/>
            </a:pPr>
            <a:r>
              <a:rPr lang="en-US" sz="1400" b="1" dirty="0">
                <a:solidFill>
                  <a:schemeClr val="tx2"/>
                </a:solidFill>
              </a:rPr>
              <a:t>Typical day</a:t>
            </a:r>
            <a:endParaRPr lang="en-US" sz="1400" dirty="0"/>
          </a:p>
        </p:txBody>
      </p:sp>
      <p:sp>
        <p:nvSpPr>
          <p:cNvPr id="12" name="Text 9"/>
          <p:cNvSpPr txBox="1"/>
          <p:nvPr/>
        </p:nvSpPr>
        <p:spPr>
          <a:xfrm>
            <a:off x="3566160" y="1673352"/>
            <a:ext cx="1645920" cy="256032"/>
          </a:xfrm>
          <a:prstGeom prst="rect">
            <a:avLst/>
          </a:prstGeom>
          <a:noFill/>
          <a:ln/>
        </p:spPr>
        <p:txBody>
          <a:bodyPr wrap="square" lIns="0" tIns="0" rIns="0" bIns="0" rtlCol="0" anchor="t"/>
          <a:lstStyle/>
          <a:p>
            <a:pPr marL="0" indent="0" algn="ctr">
              <a:buNone/>
            </a:pPr>
            <a:r>
              <a:rPr lang="en-US" sz="1100" dirty="0">
                <a:solidFill>
                  <a:schemeClr val="accent6"/>
                </a:solidFill>
              </a:rPr>
              <a:t>P50</a:t>
            </a:r>
            <a:endParaRPr lang="en-US" sz="1100" dirty="0"/>
          </a:p>
        </p:txBody>
      </p:sp>
      <p:sp>
        <p:nvSpPr>
          <p:cNvPr id="13" name="marker"/>
          <p:cNvSpPr/>
          <p:nvPr/>
        </p:nvSpPr>
        <p:spPr>
          <a:xfrm>
            <a:off x="6647688" y="2029968"/>
            <a:ext cx="237744" cy="237744"/>
          </a:xfrm>
          <a:prstGeom prst="ellipse">
            <a:avLst/>
          </a:prstGeom>
          <a:solidFill>
            <a:srgbClr val="0B3D2E"/>
          </a:solidFill>
          <a:ln w="19050">
            <a:solidFill>
              <a:srgbClr val="FFFFFF"/>
            </a:solidFill>
            <a:prstDash val="solid"/>
          </a:ln>
        </p:spPr>
        <p:txBody>
          <a:bodyPr/>
          <a:lstStyle/>
          <a:p>
            <a:endParaRPr lang="it-IT"/>
          </a:p>
        </p:txBody>
      </p:sp>
      <p:sp>
        <p:nvSpPr>
          <p:cNvPr id="14" name="Text 11"/>
          <p:cNvSpPr txBox="1"/>
          <p:nvPr/>
        </p:nvSpPr>
        <p:spPr>
          <a:xfrm>
            <a:off x="5943600" y="1417320"/>
            <a:ext cx="1645920" cy="274320"/>
          </a:xfrm>
          <a:prstGeom prst="rect">
            <a:avLst/>
          </a:prstGeom>
          <a:noFill/>
          <a:ln/>
        </p:spPr>
        <p:txBody>
          <a:bodyPr wrap="square" lIns="0" tIns="0" rIns="0" bIns="0" rtlCol="0" anchor="t"/>
          <a:lstStyle/>
          <a:p>
            <a:pPr marL="0" indent="0" algn="ctr">
              <a:buNone/>
            </a:pPr>
            <a:r>
              <a:rPr lang="en-US" sz="1400" b="1" dirty="0">
                <a:solidFill>
                  <a:schemeClr val="tx2"/>
                </a:solidFill>
              </a:rPr>
              <a:t>P90 ceiling</a:t>
            </a:r>
            <a:endParaRPr lang="en-US" sz="1400" dirty="0"/>
          </a:p>
        </p:txBody>
      </p:sp>
      <p:sp>
        <p:nvSpPr>
          <p:cNvPr id="15" name="Text 12"/>
          <p:cNvSpPr txBox="1"/>
          <p:nvPr/>
        </p:nvSpPr>
        <p:spPr>
          <a:xfrm>
            <a:off x="5943600" y="1673352"/>
            <a:ext cx="1645920" cy="256032"/>
          </a:xfrm>
          <a:prstGeom prst="rect">
            <a:avLst/>
          </a:prstGeom>
          <a:noFill/>
          <a:ln/>
        </p:spPr>
        <p:txBody>
          <a:bodyPr wrap="square" lIns="0" tIns="0" rIns="0" bIns="0" rtlCol="0" anchor="t"/>
          <a:lstStyle/>
          <a:p>
            <a:pPr marL="0" indent="0" algn="ctr">
              <a:buNone/>
            </a:pPr>
            <a:r>
              <a:rPr lang="en-US" sz="1100" dirty="0">
                <a:solidFill>
                  <a:schemeClr val="accent6"/>
                </a:solidFill>
              </a:rPr>
              <a:t>best 10% of days</a:t>
            </a:r>
            <a:endParaRPr lang="en-US" sz="1100" dirty="0"/>
          </a:p>
        </p:txBody>
      </p:sp>
      <p:sp>
        <p:nvSpPr>
          <p:cNvPr id="16" name="Text 13"/>
          <p:cNvSpPr txBox="1"/>
          <p:nvPr/>
        </p:nvSpPr>
        <p:spPr>
          <a:xfrm>
            <a:off x="731520" y="2331720"/>
            <a:ext cx="1280160" cy="228600"/>
          </a:xfrm>
          <a:prstGeom prst="rect">
            <a:avLst/>
          </a:prstGeom>
          <a:noFill/>
          <a:ln/>
        </p:spPr>
        <p:txBody>
          <a:bodyPr wrap="square" lIns="0" tIns="0" rIns="0" bIns="0" rtlCol="0" anchor="t"/>
          <a:lstStyle/>
          <a:p>
            <a:pPr marL="0" indent="0">
              <a:buNone/>
            </a:pPr>
            <a:r>
              <a:rPr lang="en-US" sz="1000" dirty="0">
                <a:solidFill>
                  <a:schemeClr val="accent6"/>
                </a:solidFill>
              </a:rPr>
              <a:t>fewer bottles</a:t>
            </a:r>
            <a:endParaRPr lang="en-US" sz="1000" dirty="0"/>
          </a:p>
        </p:txBody>
      </p:sp>
      <p:sp>
        <p:nvSpPr>
          <p:cNvPr id="17" name="Text 14"/>
          <p:cNvSpPr txBox="1"/>
          <p:nvPr/>
        </p:nvSpPr>
        <p:spPr>
          <a:xfrm>
            <a:off x="6766560" y="2331720"/>
            <a:ext cx="1280160" cy="228600"/>
          </a:xfrm>
          <a:prstGeom prst="rect">
            <a:avLst/>
          </a:prstGeom>
          <a:noFill/>
          <a:ln/>
        </p:spPr>
        <p:txBody>
          <a:bodyPr wrap="square" lIns="0" tIns="0" rIns="0" bIns="0" rtlCol="0" anchor="t"/>
          <a:lstStyle/>
          <a:p>
            <a:pPr marL="0" indent="0" algn="r">
              <a:buNone/>
            </a:pPr>
            <a:r>
              <a:rPr lang="en-US" sz="1000" dirty="0">
                <a:solidFill>
                  <a:schemeClr val="accent6"/>
                </a:solidFill>
              </a:rPr>
              <a:t>more bottles</a:t>
            </a:r>
            <a:endParaRPr lang="en-US" sz="1000" dirty="0"/>
          </a:p>
        </p:txBody>
      </p:sp>
      <p:sp>
        <p:nvSpPr>
          <p:cNvPr id="18" name="card"/>
          <p:cNvSpPr/>
          <p:nvPr/>
        </p:nvSpPr>
        <p:spPr>
          <a:xfrm>
            <a:off x="457200" y="2743200"/>
            <a:ext cx="2514600" cy="1417320"/>
          </a:xfrm>
          <a:prstGeom prst="roundRect">
            <a:avLst>
              <a:gd name="adj" fmla="val 516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9" name="icon circle FaShieldAlt"/>
          <p:cNvSpPr/>
          <p:nvPr/>
        </p:nvSpPr>
        <p:spPr>
          <a:xfrm>
            <a:off x="594360" y="2880360"/>
            <a:ext cx="457200" cy="457200"/>
          </a:xfrm>
          <a:prstGeom prst="ellipse">
            <a:avLst/>
          </a:prstGeom>
          <a:solidFill>
            <a:srgbClr val="1E9E62"/>
          </a:solidFill>
          <a:ln w="12700">
            <a:solidFill>
              <a:srgbClr val="1E9E62"/>
            </a:solidFill>
            <a:prstDash val="solid"/>
          </a:ln>
        </p:spPr>
        <p:txBody>
          <a:bodyPr/>
          <a:lstStyle/>
          <a:p>
            <a:endParaRPr lang="it-IT"/>
          </a:p>
        </p:txBody>
      </p:sp>
      <p:pic>
        <p:nvPicPr>
          <p:cNvPr id="20" name="Image 0" descr="ShieldAlt icon"/>
          <p:cNvPicPr>
            <a:picLocks noChangeAspect="1"/>
          </p:cNvPicPr>
          <p:nvPr/>
        </p:nvPicPr>
        <p:blipFill>
          <a:blip r:embed="rId3"/>
          <a:stretch>
            <a:fillRect/>
          </a:stretch>
        </p:blipFill>
        <p:spPr>
          <a:xfrm>
            <a:off x="717804" y="3003804"/>
            <a:ext cx="210312" cy="210312"/>
          </a:xfrm>
          <a:prstGeom prst="rect">
            <a:avLst/>
          </a:prstGeom>
        </p:spPr>
      </p:pic>
      <p:sp>
        <p:nvSpPr>
          <p:cNvPr id="21" name="Text 17"/>
          <p:cNvSpPr txBox="1"/>
          <p:nvPr/>
        </p:nvSpPr>
        <p:spPr>
          <a:xfrm>
            <a:off x="1188720" y="2926080"/>
            <a:ext cx="1691640" cy="365760"/>
          </a:xfrm>
          <a:prstGeom prst="rect">
            <a:avLst/>
          </a:prstGeom>
          <a:noFill/>
          <a:ln/>
        </p:spPr>
        <p:txBody>
          <a:bodyPr wrap="square" lIns="0" tIns="0" rIns="0" bIns="0" rtlCol="0" anchor="ctr"/>
          <a:lstStyle/>
          <a:p>
            <a:pPr marL="0" indent="0">
              <a:buNone/>
            </a:pPr>
            <a:r>
              <a:rPr lang="en-US" sz="1400" b="1" dirty="0">
                <a:solidFill>
                  <a:schemeClr val="tx2"/>
                </a:solidFill>
              </a:rPr>
              <a:t>Capital safety</a:t>
            </a:r>
            <a:endParaRPr lang="en-US" sz="1400" dirty="0"/>
          </a:p>
        </p:txBody>
      </p:sp>
      <p:sp>
        <p:nvSpPr>
          <p:cNvPr id="22" name="Text 18"/>
          <p:cNvSpPr txBox="1"/>
          <p:nvPr/>
        </p:nvSpPr>
        <p:spPr>
          <a:xfrm>
            <a:off x="640080" y="3429000"/>
            <a:ext cx="2194560" cy="685800"/>
          </a:xfrm>
          <a:prstGeom prst="rect">
            <a:avLst/>
          </a:prstGeom>
          <a:noFill/>
          <a:ln/>
        </p:spPr>
        <p:txBody>
          <a:bodyPr wrap="square" lIns="0" tIns="0" rIns="0" bIns="0" rtlCol="0" anchor="t"/>
          <a:lstStyle/>
          <a:p>
            <a:pPr marL="0" indent="0">
              <a:buNone/>
            </a:pPr>
            <a:r>
              <a:rPr lang="en-US" sz="1200" dirty="0">
                <a:solidFill>
                  <a:schemeClr val="tx1"/>
                </a:solidFill>
              </a:rPr>
              <a:t>Chance of beating 250 bottles/day breakeven</a:t>
            </a:r>
            <a:endParaRPr lang="en-US" sz="1200" dirty="0"/>
          </a:p>
        </p:txBody>
      </p:sp>
      <p:sp>
        <p:nvSpPr>
          <p:cNvPr id="23" name="card"/>
          <p:cNvSpPr/>
          <p:nvPr/>
        </p:nvSpPr>
        <p:spPr>
          <a:xfrm>
            <a:off x="3154680" y="2743200"/>
            <a:ext cx="2514600" cy="1417320"/>
          </a:xfrm>
          <a:prstGeom prst="roundRect">
            <a:avLst>
              <a:gd name="adj" fmla="val 516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4" name="icon circle FaExclamationTriangle"/>
          <p:cNvSpPr/>
          <p:nvPr/>
        </p:nvSpPr>
        <p:spPr>
          <a:xfrm>
            <a:off x="3291840" y="2880360"/>
            <a:ext cx="457200" cy="457200"/>
          </a:xfrm>
          <a:prstGeom prst="ellipse">
            <a:avLst/>
          </a:prstGeom>
          <a:solidFill>
            <a:srgbClr val="D64545"/>
          </a:solidFill>
          <a:ln w="12700">
            <a:solidFill>
              <a:srgbClr val="D64545"/>
            </a:solidFill>
            <a:prstDash val="solid"/>
          </a:ln>
        </p:spPr>
        <p:txBody>
          <a:bodyPr/>
          <a:lstStyle/>
          <a:p>
            <a:endParaRPr lang="it-IT"/>
          </a:p>
        </p:txBody>
      </p:sp>
      <p:pic>
        <p:nvPicPr>
          <p:cNvPr id="25" name="Image 1" descr="ExclamationTriangle icon"/>
          <p:cNvPicPr>
            <a:picLocks noChangeAspect="1"/>
          </p:cNvPicPr>
          <p:nvPr/>
        </p:nvPicPr>
        <p:blipFill>
          <a:blip r:embed="rId4"/>
          <a:stretch>
            <a:fillRect/>
          </a:stretch>
        </p:blipFill>
        <p:spPr>
          <a:xfrm>
            <a:off x="3415284" y="3003804"/>
            <a:ext cx="210312" cy="210312"/>
          </a:xfrm>
          <a:prstGeom prst="rect">
            <a:avLst/>
          </a:prstGeom>
        </p:spPr>
      </p:pic>
      <p:sp>
        <p:nvSpPr>
          <p:cNvPr id="26" name="Text 21"/>
          <p:cNvSpPr txBox="1"/>
          <p:nvPr/>
        </p:nvSpPr>
        <p:spPr>
          <a:xfrm>
            <a:off x="3886200" y="2926080"/>
            <a:ext cx="1691640" cy="365760"/>
          </a:xfrm>
          <a:prstGeom prst="rect">
            <a:avLst/>
          </a:prstGeom>
          <a:noFill/>
          <a:ln/>
        </p:spPr>
        <p:txBody>
          <a:bodyPr wrap="square" lIns="0" tIns="0" rIns="0" bIns="0" rtlCol="0" anchor="ctr"/>
          <a:lstStyle/>
          <a:p>
            <a:pPr marL="0" indent="0">
              <a:buNone/>
            </a:pPr>
            <a:r>
              <a:rPr lang="en-US" sz="1400" b="1" dirty="0">
                <a:solidFill>
                  <a:schemeClr val="tx2"/>
                </a:solidFill>
              </a:rPr>
              <a:t>Capacity check</a:t>
            </a:r>
            <a:endParaRPr lang="en-US" sz="1400" dirty="0"/>
          </a:p>
        </p:txBody>
      </p:sp>
      <p:sp>
        <p:nvSpPr>
          <p:cNvPr id="27" name="Text 22"/>
          <p:cNvSpPr txBox="1"/>
          <p:nvPr/>
        </p:nvSpPr>
        <p:spPr>
          <a:xfrm>
            <a:off x="3337560" y="3429000"/>
            <a:ext cx="2194560" cy="685800"/>
          </a:xfrm>
          <a:prstGeom prst="rect">
            <a:avLst/>
          </a:prstGeom>
          <a:noFill/>
          <a:ln/>
        </p:spPr>
        <p:txBody>
          <a:bodyPr wrap="square" lIns="0" tIns="0" rIns="0" bIns="0" rtlCol="0" anchor="t"/>
          <a:lstStyle/>
          <a:p>
            <a:pPr marL="0" indent="0">
              <a:buNone/>
            </a:pPr>
            <a:r>
              <a:rPr lang="en-US" sz="1200" dirty="0">
                <a:solidFill>
                  <a:schemeClr val="tx1"/>
                </a:solidFill>
              </a:rPr>
              <a:t>Overflow risk &gt; 20% → warning to upgrade machine</a:t>
            </a:r>
            <a:endParaRPr lang="en-US" sz="1200" dirty="0"/>
          </a:p>
        </p:txBody>
      </p:sp>
      <p:sp>
        <p:nvSpPr>
          <p:cNvPr id="28" name="card"/>
          <p:cNvSpPr/>
          <p:nvPr/>
        </p:nvSpPr>
        <p:spPr>
          <a:xfrm>
            <a:off x="5852160" y="2743200"/>
            <a:ext cx="2514600" cy="1417320"/>
          </a:xfrm>
          <a:prstGeom prst="roundRect">
            <a:avLst>
              <a:gd name="adj" fmla="val 516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9" name="icon circle FaHistory"/>
          <p:cNvSpPr/>
          <p:nvPr/>
        </p:nvSpPr>
        <p:spPr>
          <a:xfrm>
            <a:off x="5989320" y="2880360"/>
            <a:ext cx="457200" cy="457200"/>
          </a:xfrm>
          <a:prstGeom prst="ellipse">
            <a:avLst/>
          </a:prstGeom>
          <a:solidFill>
            <a:srgbClr val="2C7DA0"/>
          </a:solidFill>
          <a:ln w="12700">
            <a:solidFill>
              <a:srgbClr val="2C7DA0"/>
            </a:solidFill>
            <a:prstDash val="solid"/>
          </a:ln>
        </p:spPr>
        <p:txBody>
          <a:bodyPr/>
          <a:lstStyle/>
          <a:p>
            <a:endParaRPr lang="it-IT"/>
          </a:p>
        </p:txBody>
      </p:sp>
      <p:pic>
        <p:nvPicPr>
          <p:cNvPr id="30" name="Image 2" descr="History icon"/>
          <p:cNvPicPr>
            <a:picLocks noChangeAspect="1"/>
          </p:cNvPicPr>
          <p:nvPr/>
        </p:nvPicPr>
        <p:blipFill>
          <a:blip r:embed="rId5"/>
          <a:stretch>
            <a:fillRect/>
          </a:stretch>
        </p:blipFill>
        <p:spPr>
          <a:xfrm>
            <a:off x="6112764" y="3003804"/>
            <a:ext cx="210312" cy="210312"/>
          </a:xfrm>
          <a:prstGeom prst="rect">
            <a:avLst/>
          </a:prstGeom>
        </p:spPr>
      </p:pic>
      <p:sp>
        <p:nvSpPr>
          <p:cNvPr id="31" name="Text 25"/>
          <p:cNvSpPr txBox="1"/>
          <p:nvPr/>
        </p:nvSpPr>
        <p:spPr>
          <a:xfrm>
            <a:off x="6583680" y="2926080"/>
            <a:ext cx="1691640" cy="365760"/>
          </a:xfrm>
          <a:prstGeom prst="rect">
            <a:avLst/>
          </a:prstGeom>
          <a:noFill/>
          <a:ln/>
        </p:spPr>
        <p:txBody>
          <a:bodyPr wrap="square" lIns="0" tIns="0" rIns="0" bIns="0" rtlCol="0" anchor="ctr"/>
          <a:lstStyle/>
          <a:p>
            <a:pPr marL="0" indent="0">
              <a:buNone/>
            </a:pPr>
            <a:r>
              <a:rPr lang="en-US" sz="1400" b="1" dirty="0">
                <a:solidFill>
                  <a:schemeClr val="tx2"/>
                </a:solidFill>
              </a:rPr>
              <a:t>Past vs forecast</a:t>
            </a:r>
            <a:endParaRPr lang="en-US" sz="1400" dirty="0"/>
          </a:p>
        </p:txBody>
      </p:sp>
      <p:sp>
        <p:nvSpPr>
          <p:cNvPr id="32" name="Text 26"/>
          <p:cNvSpPr txBox="1"/>
          <p:nvPr/>
        </p:nvSpPr>
        <p:spPr>
          <a:xfrm>
            <a:off x="6035040" y="3429000"/>
            <a:ext cx="2194560" cy="685800"/>
          </a:xfrm>
          <a:prstGeom prst="rect">
            <a:avLst/>
          </a:prstGeom>
          <a:noFill/>
          <a:ln/>
        </p:spPr>
        <p:txBody>
          <a:bodyPr wrap="square" lIns="0" tIns="0" rIns="0" bIns="0" rtlCol="0" anchor="t"/>
          <a:lstStyle/>
          <a:p>
            <a:pPr marL="0" indent="0">
              <a:buNone/>
            </a:pPr>
            <a:r>
              <a:rPr lang="en-US" sz="1200" dirty="0">
                <a:solidFill>
                  <a:schemeClr val="tx1"/>
                </a:solidFill>
              </a:rPr>
              <a:t>Installed machines: 24 months of real data vs 12 months forecast</a:t>
            </a:r>
            <a:endParaRPr lang="en-US" sz="1200" dirty="0"/>
          </a:p>
        </p:txBody>
      </p:sp>
      <p:sp>
        <p:nvSpPr>
          <p:cNvPr id="33"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34" name="Image 3" descr="idea icon"/>
          <p:cNvPicPr>
            <a:picLocks noChangeAspect="1"/>
          </p:cNvPicPr>
          <p:nvPr/>
        </p:nvPicPr>
        <p:blipFill>
          <a:blip r:embed="rId6"/>
          <a:stretch>
            <a:fillRect/>
          </a:stretch>
        </p:blipFill>
        <p:spPr>
          <a:xfrm>
            <a:off x="594360" y="4462272"/>
            <a:ext cx="274320" cy="274320"/>
          </a:xfrm>
          <a:prstGeom prst="rect">
            <a:avLst/>
          </a:prstGeom>
        </p:spPr>
      </p:pic>
      <p:sp>
        <p:nvSpPr>
          <p:cNvPr id="35" name="Text 28"/>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we show the bad case, the typical case and the great case, plus the odds of making money.</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RESULTS · SAFETY GATES</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Six safety gates before saying “yes”</a:t>
            </a:r>
            <a:endParaRPr lang="en-US" sz="2800" dirty="0"/>
          </a:p>
        </p:txBody>
      </p:sp>
      <p:sp>
        <p:nvSpPr>
          <p:cNvPr id="5" name="card"/>
          <p:cNvSpPr/>
          <p:nvPr/>
        </p:nvSpPr>
        <p:spPr>
          <a:xfrm>
            <a:off x="457200" y="1280160"/>
            <a:ext cx="2514600" cy="868680"/>
          </a:xfrm>
          <a:prstGeom prst="roundRect">
            <a:avLst>
              <a:gd name="adj" fmla="val 84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6" name="icon circle FaMapMarkerAlt"/>
          <p:cNvSpPr/>
          <p:nvPr/>
        </p:nvSpPr>
        <p:spPr>
          <a:xfrm>
            <a:off x="566928" y="1463040"/>
            <a:ext cx="502920" cy="502920"/>
          </a:xfrm>
          <a:prstGeom prst="ellipse">
            <a:avLst/>
          </a:prstGeom>
          <a:solidFill>
            <a:srgbClr val="0B3D2E"/>
          </a:solidFill>
          <a:ln w="12700">
            <a:solidFill>
              <a:srgbClr val="0B3D2E"/>
            </a:solidFill>
            <a:prstDash val="solid"/>
          </a:ln>
        </p:spPr>
        <p:txBody>
          <a:bodyPr/>
          <a:lstStyle/>
          <a:p>
            <a:endParaRPr lang="it-IT"/>
          </a:p>
        </p:txBody>
      </p:sp>
      <p:pic>
        <p:nvPicPr>
          <p:cNvPr id="7" name="Image 0" descr="MapMarkerAlt icon"/>
          <p:cNvPicPr>
            <a:picLocks noChangeAspect="1"/>
          </p:cNvPicPr>
          <p:nvPr/>
        </p:nvPicPr>
        <p:blipFill>
          <a:blip r:embed="rId3"/>
          <a:stretch>
            <a:fillRect/>
          </a:stretch>
        </p:blipFill>
        <p:spPr>
          <a:xfrm>
            <a:off x="702716" y="1598828"/>
            <a:ext cx="231343" cy="231343"/>
          </a:xfrm>
          <a:prstGeom prst="rect">
            <a:avLst/>
          </a:prstGeom>
        </p:spPr>
      </p:pic>
      <p:sp>
        <p:nvSpPr>
          <p:cNvPr id="8" name="Text 4"/>
          <p:cNvSpPr txBox="1"/>
          <p:nvPr/>
        </p:nvSpPr>
        <p:spPr>
          <a:xfrm>
            <a:off x="1188720" y="1399032"/>
            <a:ext cx="1737360" cy="320040"/>
          </a:xfrm>
          <a:prstGeom prst="rect">
            <a:avLst/>
          </a:prstGeom>
          <a:noFill/>
          <a:ln/>
        </p:spPr>
        <p:txBody>
          <a:bodyPr wrap="square" lIns="0" tIns="0" rIns="0" bIns="0" rtlCol="0" anchor="t"/>
          <a:lstStyle/>
          <a:p>
            <a:pPr marL="0" indent="0">
              <a:buNone/>
            </a:pPr>
            <a:r>
              <a:rPr lang="en-US" sz="1300" b="1" dirty="0">
                <a:solidFill>
                  <a:schemeClr val="tx2"/>
                </a:solidFill>
              </a:rPr>
              <a:t>1. No machine too close</a:t>
            </a:r>
            <a:endParaRPr lang="en-US" sz="1300" dirty="0"/>
          </a:p>
        </p:txBody>
      </p:sp>
      <p:sp>
        <p:nvSpPr>
          <p:cNvPr id="9" name="Text 5"/>
          <p:cNvSpPr txBox="1"/>
          <p:nvPr/>
        </p:nvSpPr>
        <p:spPr>
          <a:xfrm>
            <a:off x="1188720" y="1719072"/>
            <a:ext cx="1737360" cy="365760"/>
          </a:xfrm>
          <a:prstGeom prst="rect">
            <a:avLst/>
          </a:prstGeom>
          <a:noFill/>
          <a:ln/>
        </p:spPr>
        <p:txBody>
          <a:bodyPr wrap="square" lIns="0" tIns="0" rIns="0" bIns="0" rtlCol="0" anchor="t"/>
          <a:lstStyle/>
          <a:p>
            <a:pPr marL="0" indent="0">
              <a:buNone/>
            </a:pPr>
            <a:r>
              <a:rPr lang="en-US" sz="1100" dirty="0">
                <a:solidFill>
                  <a:schemeClr val="tx1"/>
                </a:solidFill>
              </a:rPr>
              <a:t>Warn &lt; 750 m, fail &lt; 250 m</a:t>
            </a:r>
            <a:endParaRPr lang="en-US" sz="1100" dirty="0"/>
          </a:p>
        </p:txBody>
      </p:sp>
      <p:sp>
        <p:nvSpPr>
          <p:cNvPr id="10" name="card"/>
          <p:cNvSpPr/>
          <p:nvPr/>
        </p:nvSpPr>
        <p:spPr>
          <a:xfrm>
            <a:off x="3154680" y="1280160"/>
            <a:ext cx="2514600" cy="868680"/>
          </a:xfrm>
          <a:prstGeom prst="roundRect">
            <a:avLst>
              <a:gd name="adj" fmla="val 84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1" name="icon circle FaMoneyBillWave"/>
          <p:cNvSpPr/>
          <p:nvPr/>
        </p:nvSpPr>
        <p:spPr>
          <a:xfrm>
            <a:off x="3264408" y="1463040"/>
            <a:ext cx="502920" cy="502920"/>
          </a:xfrm>
          <a:prstGeom prst="ellipse">
            <a:avLst/>
          </a:prstGeom>
          <a:solidFill>
            <a:srgbClr val="0B3D2E"/>
          </a:solidFill>
          <a:ln w="12700">
            <a:solidFill>
              <a:srgbClr val="0B3D2E"/>
            </a:solidFill>
            <a:prstDash val="solid"/>
          </a:ln>
        </p:spPr>
        <p:txBody>
          <a:bodyPr/>
          <a:lstStyle/>
          <a:p>
            <a:endParaRPr lang="it-IT"/>
          </a:p>
        </p:txBody>
      </p:sp>
      <p:pic>
        <p:nvPicPr>
          <p:cNvPr id="12" name="Image 1" descr="MoneyBillWave icon"/>
          <p:cNvPicPr>
            <a:picLocks noChangeAspect="1"/>
          </p:cNvPicPr>
          <p:nvPr/>
        </p:nvPicPr>
        <p:blipFill>
          <a:blip r:embed="rId4"/>
          <a:stretch>
            <a:fillRect/>
          </a:stretch>
        </p:blipFill>
        <p:spPr>
          <a:xfrm>
            <a:off x="3400196" y="1598828"/>
            <a:ext cx="231343" cy="231343"/>
          </a:xfrm>
          <a:prstGeom prst="rect">
            <a:avLst/>
          </a:prstGeom>
        </p:spPr>
      </p:pic>
      <p:sp>
        <p:nvSpPr>
          <p:cNvPr id="13" name="Text 8"/>
          <p:cNvSpPr txBox="1"/>
          <p:nvPr/>
        </p:nvSpPr>
        <p:spPr>
          <a:xfrm>
            <a:off x="3886200" y="1399032"/>
            <a:ext cx="1737360" cy="320040"/>
          </a:xfrm>
          <a:prstGeom prst="rect">
            <a:avLst/>
          </a:prstGeom>
          <a:noFill/>
          <a:ln/>
        </p:spPr>
        <p:txBody>
          <a:bodyPr wrap="square" lIns="0" tIns="0" rIns="0" bIns="0" rtlCol="0" anchor="t"/>
          <a:lstStyle/>
          <a:p>
            <a:pPr marL="0" indent="0">
              <a:buNone/>
            </a:pPr>
            <a:r>
              <a:rPr lang="en-US" sz="1300" b="1" dirty="0">
                <a:solidFill>
                  <a:schemeClr val="tx2"/>
                </a:solidFill>
              </a:rPr>
              <a:t>2. Breaks even</a:t>
            </a:r>
            <a:endParaRPr lang="en-US" sz="1300" dirty="0"/>
          </a:p>
        </p:txBody>
      </p:sp>
      <p:sp>
        <p:nvSpPr>
          <p:cNvPr id="14" name="Text 9"/>
          <p:cNvSpPr txBox="1"/>
          <p:nvPr/>
        </p:nvSpPr>
        <p:spPr>
          <a:xfrm>
            <a:off x="3886200" y="1719072"/>
            <a:ext cx="1737360" cy="365760"/>
          </a:xfrm>
          <a:prstGeom prst="rect">
            <a:avLst/>
          </a:prstGeom>
          <a:noFill/>
          <a:ln/>
        </p:spPr>
        <p:txBody>
          <a:bodyPr wrap="square" lIns="0" tIns="0" rIns="0" bIns="0" rtlCol="0" anchor="t"/>
          <a:lstStyle/>
          <a:p>
            <a:pPr marL="0" indent="0">
              <a:buNone/>
            </a:pPr>
            <a:r>
              <a:rPr lang="en-US" sz="1100" dirty="0">
                <a:solidFill>
                  <a:schemeClr val="tx1"/>
                </a:solidFill>
              </a:rPr>
              <a:t>At least 250 bottles per day</a:t>
            </a:r>
            <a:endParaRPr lang="en-US" sz="1100" dirty="0"/>
          </a:p>
        </p:txBody>
      </p:sp>
      <p:sp>
        <p:nvSpPr>
          <p:cNvPr id="15" name="card"/>
          <p:cNvSpPr/>
          <p:nvPr/>
        </p:nvSpPr>
        <p:spPr>
          <a:xfrm>
            <a:off x="5852160" y="1280160"/>
            <a:ext cx="2514600" cy="868680"/>
          </a:xfrm>
          <a:prstGeom prst="roundRect">
            <a:avLst>
              <a:gd name="adj" fmla="val 84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6" name="icon circle FaStore"/>
          <p:cNvSpPr/>
          <p:nvPr/>
        </p:nvSpPr>
        <p:spPr>
          <a:xfrm>
            <a:off x="5961888" y="1463040"/>
            <a:ext cx="502920" cy="502920"/>
          </a:xfrm>
          <a:prstGeom prst="ellipse">
            <a:avLst/>
          </a:prstGeom>
          <a:solidFill>
            <a:srgbClr val="0B3D2E"/>
          </a:solidFill>
          <a:ln w="12700">
            <a:solidFill>
              <a:srgbClr val="0B3D2E"/>
            </a:solidFill>
            <a:prstDash val="solid"/>
          </a:ln>
        </p:spPr>
        <p:txBody>
          <a:bodyPr/>
          <a:lstStyle/>
          <a:p>
            <a:endParaRPr lang="it-IT"/>
          </a:p>
        </p:txBody>
      </p:sp>
      <p:pic>
        <p:nvPicPr>
          <p:cNvPr id="17" name="Image 2" descr="Store icon"/>
          <p:cNvPicPr>
            <a:picLocks noChangeAspect="1"/>
          </p:cNvPicPr>
          <p:nvPr/>
        </p:nvPicPr>
        <p:blipFill>
          <a:blip r:embed="rId5"/>
          <a:stretch>
            <a:fillRect/>
          </a:stretch>
        </p:blipFill>
        <p:spPr>
          <a:xfrm>
            <a:off x="6097676" y="1598828"/>
            <a:ext cx="231343" cy="231343"/>
          </a:xfrm>
          <a:prstGeom prst="rect">
            <a:avLst/>
          </a:prstGeom>
        </p:spPr>
      </p:pic>
      <p:sp>
        <p:nvSpPr>
          <p:cNvPr id="18" name="Text 12"/>
          <p:cNvSpPr txBox="1"/>
          <p:nvPr/>
        </p:nvSpPr>
        <p:spPr>
          <a:xfrm>
            <a:off x="6583680" y="1399032"/>
            <a:ext cx="1737360" cy="320040"/>
          </a:xfrm>
          <a:prstGeom prst="rect">
            <a:avLst/>
          </a:prstGeom>
          <a:noFill/>
          <a:ln/>
        </p:spPr>
        <p:txBody>
          <a:bodyPr wrap="square" lIns="0" tIns="0" rIns="0" bIns="0" rtlCol="0" anchor="t"/>
          <a:lstStyle/>
          <a:p>
            <a:pPr marL="0" indent="0">
              <a:buNone/>
            </a:pPr>
            <a:r>
              <a:rPr lang="en-US" sz="1300" b="1" dirty="0">
                <a:solidFill>
                  <a:schemeClr val="tx2"/>
                </a:solidFill>
              </a:rPr>
              <a:t>3. Store big enough</a:t>
            </a:r>
            <a:endParaRPr lang="en-US" sz="1300" dirty="0"/>
          </a:p>
        </p:txBody>
      </p:sp>
      <p:sp>
        <p:nvSpPr>
          <p:cNvPr id="19" name="Text 13"/>
          <p:cNvSpPr txBox="1"/>
          <p:nvPr/>
        </p:nvSpPr>
        <p:spPr>
          <a:xfrm>
            <a:off x="6583680" y="1719072"/>
            <a:ext cx="1737360" cy="365760"/>
          </a:xfrm>
          <a:prstGeom prst="rect">
            <a:avLst/>
          </a:prstGeom>
          <a:noFill/>
          <a:ln/>
        </p:spPr>
        <p:txBody>
          <a:bodyPr wrap="square" lIns="0" tIns="0" rIns="0" bIns="0" rtlCol="0" anchor="t"/>
          <a:lstStyle/>
          <a:p>
            <a:pPr marL="0" indent="0">
              <a:buNone/>
            </a:pPr>
            <a:r>
              <a:rPr lang="en-US" sz="1100" dirty="0">
                <a:solidFill>
                  <a:schemeClr val="tx1"/>
                </a:solidFill>
              </a:rPr>
              <a:t>≥ 300 m² and ≥ 3 checkouts</a:t>
            </a:r>
            <a:endParaRPr lang="en-US" sz="1100" dirty="0"/>
          </a:p>
        </p:txBody>
      </p:sp>
      <p:sp>
        <p:nvSpPr>
          <p:cNvPr id="20" name="card"/>
          <p:cNvSpPr/>
          <p:nvPr/>
        </p:nvSpPr>
        <p:spPr>
          <a:xfrm>
            <a:off x="457200" y="2286000"/>
            <a:ext cx="2514600" cy="868680"/>
          </a:xfrm>
          <a:prstGeom prst="roundRect">
            <a:avLst>
              <a:gd name="adj" fmla="val 84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1" name="icon circle FaUsers"/>
          <p:cNvSpPr/>
          <p:nvPr/>
        </p:nvSpPr>
        <p:spPr>
          <a:xfrm>
            <a:off x="566928" y="2468880"/>
            <a:ext cx="502920" cy="502920"/>
          </a:xfrm>
          <a:prstGeom prst="ellipse">
            <a:avLst/>
          </a:prstGeom>
          <a:solidFill>
            <a:srgbClr val="0B3D2E"/>
          </a:solidFill>
          <a:ln w="12700">
            <a:solidFill>
              <a:srgbClr val="0B3D2E"/>
            </a:solidFill>
            <a:prstDash val="solid"/>
          </a:ln>
        </p:spPr>
        <p:txBody>
          <a:bodyPr/>
          <a:lstStyle/>
          <a:p>
            <a:endParaRPr lang="it-IT"/>
          </a:p>
        </p:txBody>
      </p:sp>
      <p:pic>
        <p:nvPicPr>
          <p:cNvPr id="22" name="Image 3" descr="Users icon"/>
          <p:cNvPicPr>
            <a:picLocks noChangeAspect="1"/>
          </p:cNvPicPr>
          <p:nvPr/>
        </p:nvPicPr>
        <p:blipFill>
          <a:blip r:embed="rId6"/>
          <a:stretch>
            <a:fillRect/>
          </a:stretch>
        </p:blipFill>
        <p:spPr>
          <a:xfrm>
            <a:off x="702716" y="2604668"/>
            <a:ext cx="231343" cy="231343"/>
          </a:xfrm>
          <a:prstGeom prst="rect">
            <a:avLst/>
          </a:prstGeom>
        </p:spPr>
      </p:pic>
      <p:sp>
        <p:nvSpPr>
          <p:cNvPr id="23" name="Text 16"/>
          <p:cNvSpPr txBox="1"/>
          <p:nvPr/>
        </p:nvSpPr>
        <p:spPr>
          <a:xfrm>
            <a:off x="1188720" y="2404872"/>
            <a:ext cx="1737360" cy="320040"/>
          </a:xfrm>
          <a:prstGeom prst="rect">
            <a:avLst/>
          </a:prstGeom>
          <a:noFill/>
          <a:ln/>
        </p:spPr>
        <p:txBody>
          <a:bodyPr wrap="square" lIns="0" tIns="0" rIns="0" bIns="0" rtlCol="0" anchor="t"/>
          <a:lstStyle/>
          <a:p>
            <a:pPr marL="0" indent="0">
              <a:buNone/>
            </a:pPr>
            <a:r>
              <a:rPr lang="en-US" sz="1300" b="1" dirty="0">
                <a:solidFill>
                  <a:schemeClr val="tx2"/>
                </a:solidFill>
              </a:rPr>
              <a:t>4. Enough people</a:t>
            </a:r>
            <a:endParaRPr lang="en-US" sz="1300" dirty="0"/>
          </a:p>
        </p:txBody>
      </p:sp>
      <p:sp>
        <p:nvSpPr>
          <p:cNvPr id="24" name="Text 17"/>
          <p:cNvSpPr txBox="1"/>
          <p:nvPr/>
        </p:nvSpPr>
        <p:spPr>
          <a:xfrm>
            <a:off x="1188720" y="2724912"/>
            <a:ext cx="1737360" cy="365760"/>
          </a:xfrm>
          <a:prstGeom prst="rect">
            <a:avLst/>
          </a:prstGeom>
          <a:noFill/>
          <a:ln/>
        </p:spPr>
        <p:txBody>
          <a:bodyPr wrap="square" lIns="0" tIns="0" rIns="0" bIns="0" rtlCol="0" anchor="t"/>
          <a:lstStyle/>
          <a:p>
            <a:pPr marL="0" indent="0">
              <a:buNone/>
            </a:pPr>
            <a:r>
              <a:rPr lang="en-US" sz="1100" dirty="0">
                <a:solidFill>
                  <a:schemeClr val="tx1"/>
                </a:solidFill>
              </a:rPr>
              <a:t>≥ 5,000 residents, ≥ 150 per km²</a:t>
            </a:r>
            <a:endParaRPr lang="en-US" sz="1100" dirty="0"/>
          </a:p>
        </p:txBody>
      </p:sp>
      <p:sp>
        <p:nvSpPr>
          <p:cNvPr id="25" name="card"/>
          <p:cNvSpPr/>
          <p:nvPr/>
        </p:nvSpPr>
        <p:spPr>
          <a:xfrm>
            <a:off x="3154680" y="2286000"/>
            <a:ext cx="2514600" cy="868680"/>
          </a:xfrm>
          <a:prstGeom prst="roundRect">
            <a:avLst>
              <a:gd name="adj" fmla="val 84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6" name="icon circle FaCube"/>
          <p:cNvSpPr/>
          <p:nvPr/>
        </p:nvSpPr>
        <p:spPr>
          <a:xfrm>
            <a:off x="3264408" y="2468880"/>
            <a:ext cx="502920" cy="502920"/>
          </a:xfrm>
          <a:prstGeom prst="ellipse">
            <a:avLst/>
          </a:prstGeom>
          <a:solidFill>
            <a:srgbClr val="0B3D2E"/>
          </a:solidFill>
          <a:ln w="12700">
            <a:solidFill>
              <a:srgbClr val="0B3D2E"/>
            </a:solidFill>
            <a:prstDash val="solid"/>
          </a:ln>
        </p:spPr>
        <p:txBody>
          <a:bodyPr/>
          <a:lstStyle/>
          <a:p>
            <a:endParaRPr lang="it-IT"/>
          </a:p>
        </p:txBody>
      </p:sp>
      <p:pic>
        <p:nvPicPr>
          <p:cNvPr id="27" name="Image 4" descr="Cube icon"/>
          <p:cNvPicPr>
            <a:picLocks noChangeAspect="1"/>
          </p:cNvPicPr>
          <p:nvPr/>
        </p:nvPicPr>
        <p:blipFill>
          <a:blip r:embed="rId7"/>
          <a:stretch>
            <a:fillRect/>
          </a:stretch>
        </p:blipFill>
        <p:spPr>
          <a:xfrm>
            <a:off x="3400196" y="2604668"/>
            <a:ext cx="231343" cy="231343"/>
          </a:xfrm>
          <a:prstGeom prst="rect">
            <a:avLst/>
          </a:prstGeom>
        </p:spPr>
      </p:pic>
      <p:sp>
        <p:nvSpPr>
          <p:cNvPr id="28" name="Text 20"/>
          <p:cNvSpPr txBox="1"/>
          <p:nvPr/>
        </p:nvSpPr>
        <p:spPr>
          <a:xfrm>
            <a:off x="3886200" y="2404872"/>
            <a:ext cx="1737360" cy="320040"/>
          </a:xfrm>
          <a:prstGeom prst="rect">
            <a:avLst/>
          </a:prstGeom>
          <a:noFill/>
          <a:ln/>
        </p:spPr>
        <p:txBody>
          <a:bodyPr wrap="square" lIns="0" tIns="0" rIns="0" bIns="0" rtlCol="0" anchor="t"/>
          <a:lstStyle/>
          <a:p>
            <a:pPr marL="0" indent="0">
              <a:buNone/>
            </a:pPr>
            <a:r>
              <a:rPr lang="en-US" sz="1300" b="1" dirty="0">
                <a:solidFill>
                  <a:schemeClr val="tx2"/>
                </a:solidFill>
              </a:rPr>
              <a:t>5. Right-sized machine</a:t>
            </a:r>
            <a:endParaRPr lang="en-US" sz="1300" dirty="0"/>
          </a:p>
        </p:txBody>
      </p:sp>
      <p:sp>
        <p:nvSpPr>
          <p:cNvPr id="29" name="Text 21"/>
          <p:cNvSpPr txBox="1"/>
          <p:nvPr/>
        </p:nvSpPr>
        <p:spPr>
          <a:xfrm>
            <a:off x="3886200" y="2724912"/>
            <a:ext cx="1737360" cy="365760"/>
          </a:xfrm>
          <a:prstGeom prst="rect">
            <a:avLst/>
          </a:prstGeom>
          <a:noFill/>
          <a:ln/>
        </p:spPr>
        <p:txBody>
          <a:bodyPr wrap="square" lIns="0" tIns="0" rIns="0" bIns="0" rtlCol="0" anchor="t"/>
          <a:lstStyle/>
          <a:p>
            <a:pPr marL="0" indent="0">
              <a:buNone/>
            </a:pPr>
            <a:r>
              <a:rPr lang="en-US" sz="1100" dirty="0">
                <a:solidFill>
                  <a:schemeClr val="tx1"/>
                </a:solidFill>
              </a:rPr>
              <a:t>Not too small, not oversized</a:t>
            </a:r>
            <a:endParaRPr lang="en-US" sz="1100" dirty="0"/>
          </a:p>
        </p:txBody>
      </p:sp>
      <p:sp>
        <p:nvSpPr>
          <p:cNvPr id="30" name="card"/>
          <p:cNvSpPr/>
          <p:nvPr/>
        </p:nvSpPr>
        <p:spPr>
          <a:xfrm>
            <a:off x="5852160" y="2286000"/>
            <a:ext cx="2514600" cy="868680"/>
          </a:xfrm>
          <a:prstGeom prst="roundRect">
            <a:avLst>
              <a:gd name="adj" fmla="val 8421"/>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31" name="icon circle FaTruck"/>
          <p:cNvSpPr/>
          <p:nvPr/>
        </p:nvSpPr>
        <p:spPr>
          <a:xfrm>
            <a:off x="5961888" y="2468880"/>
            <a:ext cx="502920" cy="502920"/>
          </a:xfrm>
          <a:prstGeom prst="ellipse">
            <a:avLst/>
          </a:prstGeom>
          <a:solidFill>
            <a:srgbClr val="0B3D2E"/>
          </a:solidFill>
          <a:ln w="12700">
            <a:solidFill>
              <a:srgbClr val="0B3D2E"/>
            </a:solidFill>
            <a:prstDash val="solid"/>
          </a:ln>
        </p:spPr>
        <p:txBody>
          <a:bodyPr/>
          <a:lstStyle/>
          <a:p>
            <a:endParaRPr lang="it-IT"/>
          </a:p>
        </p:txBody>
      </p:sp>
      <p:pic>
        <p:nvPicPr>
          <p:cNvPr id="32" name="Image 5" descr="Truck icon"/>
          <p:cNvPicPr>
            <a:picLocks noChangeAspect="1"/>
          </p:cNvPicPr>
          <p:nvPr/>
        </p:nvPicPr>
        <p:blipFill>
          <a:blip r:embed="rId8"/>
          <a:stretch>
            <a:fillRect/>
          </a:stretch>
        </p:blipFill>
        <p:spPr>
          <a:xfrm>
            <a:off x="6097676" y="2604668"/>
            <a:ext cx="231343" cy="231343"/>
          </a:xfrm>
          <a:prstGeom prst="rect">
            <a:avLst/>
          </a:prstGeom>
        </p:spPr>
      </p:pic>
      <p:sp>
        <p:nvSpPr>
          <p:cNvPr id="33" name="Text 24"/>
          <p:cNvSpPr txBox="1"/>
          <p:nvPr/>
        </p:nvSpPr>
        <p:spPr>
          <a:xfrm>
            <a:off x="6583680" y="2404872"/>
            <a:ext cx="1737360" cy="320040"/>
          </a:xfrm>
          <a:prstGeom prst="rect">
            <a:avLst/>
          </a:prstGeom>
          <a:noFill/>
          <a:ln/>
        </p:spPr>
        <p:txBody>
          <a:bodyPr wrap="square" lIns="0" tIns="0" rIns="0" bIns="0" rtlCol="0" anchor="t"/>
          <a:lstStyle/>
          <a:p>
            <a:pPr marL="0" indent="0">
              <a:buNone/>
            </a:pPr>
            <a:r>
              <a:rPr lang="en-US" sz="1300" b="1" dirty="0">
                <a:solidFill>
                  <a:schemeClr val="tx2"/>
                </a:solidFill>
              </a:rPr>
              <a:t>6. Easy to service</a:t>
            </a:r>
            <a:endParaRPr lang="en-US" sz="1300" dirty="0"/>
          </a:p>
        </p:txBody>
      </p:sp>
      <p:sp>
        <p:nvSpPr>
          <p:cNvPr id="34" name="Text 25"/>
          <p:cNvSpPr txBox="1"/>
          <p:nvPr/>
        </p:nvSpPr>
        <p:spPr>
          <a:xfrm>
            <a:off x="6583680" y="2724912"/>
            <a:ext cx="1737360" cy="365760"/>
          </a:xfrm>
          <a:prstGeom prst="rect">
            <a:avLst/>
          </a:prstGeom>
          <a:noFill/>
          <a:ln/>
        </p:spPr>
        <p:txBody>
          <a:bodyPr wrap="square" lIns="0" tIns="0" rIns="0" bIns="0" rtlCol="0" anchor="t"/>
          <a:lstStyle/>
          <a:p>
            <a:pPr marL="0" indent="0">
              <a:buNone/>
            </a:pPr>
            <a:r>
              <a:rPr lang="en-US" sz="1100" dirty="0">
                <a:solidFill>
                  <a:schemeClr val="tx1"/>
                </a:solidFill>
              </a:rPr>
              <a:t>Within ~25 km of a depot</a:t>
            </a:r>
            <a:endParaRPr lang="en-US" sz="1100" dirty="0"/>
          </a:p>
        </p:txBody>
      </p:sp>
      <p:sp>
        <p:nvSpPr>
          <p:cNvPr id="35" name="verdict"/>
          <p:cNvSpPr/>
          <p:nvPr/>
        </p:nvSpPr>
        <p:spPr>
          <a:xfrm>
            <a:off x="457200" y="3383280"/>
            <a:ext cx="2514600" cy="777240"/>
          </a:xfrm>
          <a:prstGeom prst="roundRect">
            <a:avLst>
              <a:gd name="adj" fmla="val 9412"/>
            </a:avLst>
          </a:prstGeom>
          <a:solidFill>
            <a:srgbClr val="1E9E62"/>
          </a:solidFill>
          <a:ln w="12700">
            <a:solidFill>
              <a:srgbClr val="1E9E62"/>
            </a:solidFill>
            <a:prstDash val="solid"/>
          </a:ln>
        </p:spPr>
        <p:txBody>
          <a:bodyPr/>
          <a:lstStyle/>
          <a:p>
            <a:endParaRPr lang="it-IT"/>
          </a:p>
        </p:txBody>
      </p:sp>
      <p:sp>
        <p:nvSpPr>
          <p:cNvPr id="36" name="Text 27"/>
          <p:cNvSpPr txBox="1"/>
          <p:nvPr/>
        </p:nvSpPr>
        <p:spPr>
          <a:xfrm>
            <a:off x="594360" y="3383280"/>
            <a:ext cx="2240280" cy="777240"/>
          </a:xfrm>
          <a:prstGeom prst="rect">
            <a:avLst/>
          </a:prstGeom>
          <a:noFill/>
          <a:ln/>
        </p:spPr>
        <p:txBody>
          <a:bodyPr wrap="square" lIns="0" tIns="0" rIns="0" bIns="0" rtlCol="0" anchor="ctr"/>
          <a:lstStyle/>
          <a:p>
            <a:pPr marL="0" indent="0" algn="ctr">
              <a:buNone/>
            </a:pPr>
            <a:r>
              <a:rPr lang="en-US" sz="1400" b="1" dirty="0">
                <a:solidFill>
                  <a:schemeClr val="bg1"/>
                </a:solidFill>
              </a:rPr>
              <a:t>All pass</a:t>
            </a:r>
            <a:endParaRPr lang="en-US" sz="1400" dirty="0"/>
          </a:p>
          <a:p>
            <a:pPr marL="0" indent="0" algn="ctr">
              <a:buNone/>
            </a:pPr>
            <a:r>
              <a:rPr lang="en-US" sz="1200" dirty="0">
                <a:solidFill>
                  <a:schemeClr val="bg1"/>
                </a:solidFill>
              </a:rPr>
              <a:t>Fully approved</a:t>
            </a:r>
            <a:endParaRPr lang="en-US" sz="1400" dirty="0"/>
          </a:p>
        </p:txBody>
      </p:sp>
      <p:sp>
        <p:nvSpPr>
          <p:cNvPr id="37" name="verdict"/>
          <p:cNvSpPr/>
          <p:nvPr/>
        </p:nvSpPr>
        <p:spPr>
          <a:xfrm>
            <a:off x="3154680" y="3383280"/>
            <a:ext cx="2514600" cy="777240"/>
          </a:xfrm>
          <a:prstGeom prst="roundRect">
            <a:avLst>
              <a:gd name="adj" fmla="val 9412"/>
            </a:avLst>
          </a:prstGeom>
          <a:solidFill>
            <a:srgbClr val="E89A0C"/>
          </a:solidFill>
          <a:ln w="12700">
            <a:solidFill>
              <a:srgbClr val="E89A0C"/>
            </a:solidFill>
            <a:prstDash val="solid"/>
          </a:ln>
        </p:spPr>
        <p:txBody>
          <a:bodyPr/>
          <a:lstStyle/>
          <a:p>
            <a:endParaRPr lang="it-IT"/>
          </a:p>
        </p:txBody>
      </p:sp>
      <p:sp>
        <p:nvSpPr>
          <p:cNvPr id="38" name="Text 29"/>
          <p:cNvSpPr txBox="1"/>
          <p:nvPr/>
        </p:nvSpPr>
        <p:spPr>
          <a:xfrm>
            <a:off x="3291840" y="3383280"/>
            <a:ext cx="2240280" cy="777240"/>
          </a:xfrm>
          <a:prstGeom prst="rect">
            <a:avLst/>
          </a:prstGeom>
          <a:noFill/>
          <a:ln/>
        </p:spPr>
        <p:txBody>
          <a:bodyPr wrap="square" lIns="0" tIns="0" rIns="0" bIns="0" rtlCol="0" anchor="ctr"/>
          <a:lstStyle/>
          <a:p>
            <a:pPr marL="0" indent="0" algn="ctr">
              <a:buNone/>
            </a:pPr>
            <a:r>
              <a:rPr lang="en-US" sz="1400" b="1" dirty="0">
                <a:solidFill>
                  <a:schemeClr val="bg1"/>
                </a:solidFill>
              </a:rPr>
              <a:t>Some warnings</a:t>
            </a:r>
            <a:endParaRPr lang="en-US" sz="1400" dirty="0"/>
          </a:p>
          <a:p>
            <a:pPr marL="0" indent="0" algn="ctr">
              <a:buNone/>
            </a:pPr>
            <a:r>
              <a:rPr lang="en-US" sz="1200" dirty="0">
                <a:solidFill>
                  <a:schemeClr val="bg1"/>
                </a:solidFill>
              </a:rPr>
              <a:t>Conditional: optimise first</a:t>
            </a:r>
            <a:endParaRPr lang="en-US" sz="1400" dirty="0"/>
          </a:p>
        </p:txBody>
      </p:sp>
      <p:sp>
        <p:nvSpPr>
          <p:cNvPr id="39" name="verdict"/>
          <p:cNvSpPr/>
          <p:nvPr/>
        </p:nvSpPr>
        <p:spPr>
          <a:xfrm>
            <a:off x="5852160" y="3383280"/>
            <a:ext cx="2514600" cy="777240"/>
          </a:xfrm>
          <a:prstGeom prst="roundRect">
            <a:avLst>
              <a:gd name="adj" fmla="val 9412"/>
            </a:avLst>
          </a:prstGeom>
          <a:solidFill>
            <a:srgbClr val="D64545"/>
          </a:solidFill>
          <a:ln w="12700">
            <a:solidFill>
              <a:srgbClr val="D64545"/>
            </a:solidFill>
            <a:prstDash val="solid"/>
          </a:ln>
        </p:spPr>
        <p:txBody>
          <a:bodyPr/>
          <a:lstStyle/>
          <a:p>
            <a:endParaRPr lang="it-IT"/>
          </a:p>
        </p:txBody>
      </p:sp>
      <p:sp>
        <p:nvSpPr>
          <p:cNvPr id="40" name="Text 31"/>
          <p:cNvSpPr txBox="1"/>
          <p:nvPr/>
        </p:nvSpPr>
        <p:spPr>
          <a:xfrm>
            <a:off x="5989320" y="3383280"/>
            <a:ext cx="2240280" cy="777240"/>
          </a:xfrm>
          <a:prstGeom prst="rect">
            <a:avLst/>
          </a:prstGeom>
          <a:noFill/>
          <a:ln/>
        </p:spPr>
        <p:txBody>
          <a:bodyPr wrap="square" lIns="0" tIns="0" rIns="0" bIns="0" rtlCol="0" anchor="ctr"/>
          <a:lstStyle/>
          <a:p>
            <a:pPr marL="0" indent="0" algn="ctr">
              <a:buNone/>
            </a:pPr>
            <a:r>
              <a:rPr lang="en-US" sz="1400" b="1" dirty="0">
                <a:solidFill>
                  <a:schemeClr val="bg1"/>
                </a:solidFill>
              </a:rPr>
              <a:t>A gate fails</a:t>
            </a:r>
            <a:endParaRPr lang="en-US" sz="1400" dirty="0"/>
          </a:p>
          <a:p>
            <a:pPr marL="0" indent="0" algn="ctr">
              <a:buNone/>
            </a:pPr>
            <a:r>
              <a:rPr lang="en-US" sz="1200" dirty="0">
                <a:solidFill>
                  <a:schemeClr val="bg1"/>
                </a:solidFill>
              </a:rPr>
              <a:t>Conditional / rejected</a:t>
            </a:r>
            <a:endParaRPr lang="en-US" sz="1400" dirty="0"/>
          </a:p>
        </p:txBody>
      </p:sp>
      <p:sp>
        <p:nvSpPr>
          <p:cNvPr id="41"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42" name="Image 6" descr="idea icon"/>
          <p:cNvPicPr>
            <a:picLocks noChangeAspect="1"/>
          </p:cNvPicPr>
          <p:nvPr/>
        </p:nvPicPr>
        <p:blipFill>
          <a:blip r:embed="rId9"/>
          <a:stretch>
            <a:fillRect/>
          </a:stretch>
        </p:blipFill>
        <p:spPr>
          <a:xfrm>
            <a:off x="594360" y="4462272"/>
            <a:ext cx="274320" cy="274320"/>
          </a:xfrm>
          <a:prstGeom prst="rect">
            <a:avLst/>
          </a:prstGeom>
        </p:spPr>
      </p:pic>
      <p:sp>
        <p:nvSpPr>
          <p:cNvPr id="43" name="Text 33"/>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a checklist like an airport security gate; green means go, amber means fix first, red means stop.</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TABS 2 &amp; 3</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SPL and POT: live lists of candidate stores</a:t>
            </a:r>
            <a:endParaRPr lang="en-US" sz="2800" dirty="0"/>
          </a:p>
        </p:txBody>
      </p:sp>
      <p:sp>
        <p:nvSpPr>
          <p:cNvPr id="5" name="card"/>
          <p:cNvSpPr/>
          <p:nvPr/>
        </p:nvSpPr>
        <p:spPr>
          <a:xfrm>
            <a:off x="457200" y="1325880"/>
            <a:ext cx="2194560" cy="1691640"/>
          </a:xfrm>
          <a:prstGeom prst="roundRect">
            <a:avLst>
              <a:gd name="adj" fmla="val 4324"/>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6" name="icon circle FaClipboardCheck"/>
          <p:cNvSpPr/>
          <p:nvPr/>
        </p:nvSpPr>
        <p:spPr>
          <a:xfrm>
            <a:off x="640080" y="1463040"/>
            <a:ext cx="502920" cy="502920"/>
          </a:xfrm>
          <a:prstGeom prst="ellipse">
            <a:avLst/>
          </a:prstGeom>
          <a:solidFill>
            <a:srgbClr val="1E9E62"/>
          </a:solidFill>
          <a:ln w="12700">
            <a:solidFill>
              <a:srgbClr val="1E9E62"/>
            </a:solidFill>
            <a:prstDash val="solid"/>
          </a:ln>
        </p:spPr>
        <p:txBody>
          <a:bodyPr/>
          <a:lstStyle/>
          <a:p>
            <a:endParaRPr lang="it-IT"/>
          </a:p>
        </p:txBody>
      </p:sp>
      <p:pic>
        <p:nvPicPr>
          <p:cNvPr id="7" name="Image 0" descr="ClipboardCheck icon"/>
          <p:cNvPicPr>
            <a:picLocks noChangeAspect="1"/>
          </p:cNvPicPr>
          <p:nvPr/>
        </p:nvPicPr>
        <p:blipFill>
          <a:blip r:embed="rId3"/>
          <a:stretch>
            <a:fillRect/>
          </a:stretch>
        </p:blipFill>
        <p:spPr>
          <a:xfrm>
            <a:off x="775868" y="1598828"/>
            <a:ext cx="231343" cy="231343"/>
          </a:xfrm>
          <a:prstGeom prst="rect">
            <a:avLst/>
          </a:prstGeom>
        </p:spPr>
      </p:pic>
      <p:sp>
        <p:nvSpPr>
          <p:cNvPr id="8" name="Text 4"/>
          <p:cNvSpPr txBox="1"/>
          <p:nvPr/>
        </p:nvSpPr>
        <p:spPr>
          <a:xfrm>
            <a:off x="640080" y="2057400"/>
            <a:ext cx="1920240" cy="274320"/>
          </a:xfrm>
          <a:prstGeom prst="rect">
            <a:avLst/>
          </a:prstGeom>
          <a:noFill/>
          <a:ln/>
        </p:spPr>
        <p:txBody>
          <a:bodyPr wrap="square" lIns="0" tIns="0" rIns="0" bIns="0" rtlCol="0" anchor="t"/>
          <a:lstStyle/>
          <a:p>
            <a:pPr marL="0" indent="0">
              <a:buNone/>
            </a:pPr>
            <a:r>
              <a:rPr lang="en-US" sz="1500" b="1" dirty="0">
                <a:solidFill>
                  <a:schemeClr val="tx2"/>
                </a:solidFill>
              </a:rPr>
              <a:t>SPL Machines</a:t>
            </a:r>
            <a:endParaRPr lang="en-US" sz="1500" dirty="0"/>
          </a:p>
        </p:txBody>
      </p:sp>
      <p:sp>
        <p:nvSpPr>
          <p:cNvPr id="9" name="Text 5"/>
          <p:cNvSpPr txBox="1"/>
          <p:nvPr/>
        </p:nvSpPr>
        <p:spPr>
          <a:xfrm>
            <a:off x="640080" y="2359152"/>
            <a:ext cx="1874520" cy="640080"/>
          </a:xfrm>
          <a:prstGeom prst="rect">
            <a:avLst/>
          </a:prstGeom>
          <a:noFill/>
          <a:ln/>
        </p:spPr>
        <p:txBody>
          <a:bodyPr wrap="square" lIns="0" tIns="0" rIns="0" bIns="0" rtlCol="0" anchor="t"/>
          <a:lstStyle/>
          <a:p>
            <a:pPr marL="0" indent="0">
              <a:buNone/>
            </a:pPr>
            <a:r>
              <a:rPr lang="en-US" sz="1200" dirty="0">
                <a:solidFill>
                  <a:schemeClr val="tx1"/>
                </a:solidFill>
              </a:rPr>
              <a:t>61 stores inspected on site. Ready for deployment planning.</a:t>
            </a:r>
            <a:endParaRPr lang="en-US" sz="1200" dirty="0"/>
          </a:p>
        </p:txBody>
      </p:sp>
      <p:sp>
        <p:nvSpPr>
          <p:cNvPr id="10" name="card"/>
          <p:cNvSpPr/>
          <p:nvPr/>
        </p:nvSpPr>
        <p:spPr>
          <a:xfrm>
            <a:off x="2834640" y="1325880"/>
            <a:ext cx="2194560" cy="1691640"/>
          </a:xfrm>
          <a:prstGeom prst="roundRect">
            <a:avLst>
              <a:gd name="adj" fmla="val 4324"/>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1" name="icon circle FaRegLightbulb"/>
          <p:cNvSpPr/>
          <p:nvPr/>
        </p:nvSpPr>
        <p:spPr>
          <a:xfrm>
            <a:off x="3017520" y="1463040"/>
            <a:ext cx="502920" cy="502920"/>
          </a:xfrm>
          <a:prstGeom prst="ellipse">
            <a:avLst/>
          </a:prstGeom>
          <a:solidFill>
            <a:srgbClr val="E89A0C"/>
          </a:solidFill>
          <a:ln w="12700">
            <a:solidFill>
              <a:srgbClr val="E89A0C"/>
            </a:solidFill>
            <a:prstDash val="solid"/>
          </a:ln>
        </p:spPr>
        <p:txBody>
          <a:bodyPr/>
          <a:lstStyle/>
          <a:p>
            <a:endParaRPr lang="it-IT"/>
          </a:p>
        </p:txBody>
      </p:sp>
      <p:pic>
        <p:nvPicPr>
          <p:cNvPr id="12" name="Image 1" descr="RegLightbulb icon"/>
          <p:cNvPicPr>
            <a:picLocks noChangeAspect="1"/>
          </p:cNvPicPr>
          <p:nvPr/>
        </p:nvPicPr>
        <p:blipFill>
          <a:blip r:embed="rId4"/>
          <a:stretch>
            <a:fillRect/>
          </a:stretch>
        </p:blipFill>
        <p:spPr>
          <a:xfrm>
            <a:off x="3153308" y="1598828"/>
            <a:ext cx="231343" cy="231343"/>
          </a:xfrm>
          <a:prstGeom prst="rect">
            <a:avLst/>
          </a:prstGeom>
        </p:spPr>
      </p:pic>
      <p:sp>
        <p:nvSpPr>
          <p:cNvPr id="13" name="Text 8"/>
          <p:cNvSpPr txBox="1"/>
          <p:nvPr/>
        </p:nvSpPr>
        <p:spPr>
          <a:xfrm>
            <a:off x="3017520" y="2057400"/>
            <a:ext cx="1920240" cy="274320"/>
          </a:xfrm>
          <a:prstGeom prst="rect">
            <a:avLst/>
          </a:prstGeom>
          <a:noFill/>
          <a:ln/>
        </p:spPr>
        <p:txBody>
          <a:bodyPr wrap="square" lIns="0" tIns="0" rIns="0" bIns="0" rtlCol="0" anchor="t"/>
          <a:lstStyle/>
          <a:p>
            <a:pPr marL="0" indent="0">
              <a:buNone/>
            </a:pPr>
            <a:r>
              <a:rPr lang="en-US" sz="1500" b="1" dirty="0">
                <a:solidFill>
                  <a:schemeClr val="tx2"/>
                </a:solidFill>
              </a:rPr>
              <a:t>POT Machines</a:t>
            </a:r>
            <a:endParaRPr lang="en-US" sz="1500" dirty="0"/>
          </a:p>
        </p:txBody>
      </p:sp>
      <p:sp>
        <p:nvSpPr>
          <p:cNvPr id="14" name="Text 9"/>
          <p:cNvSpPr txBox="1"/>
          <p:nvPr/>
        </p:nvSpPr>
        <p:spPr>
          <a:xfrm>
            <a:off x="3017520" y="2359152"/>
            <a:ext cx="1874520" cy="640080"/>
          </a:xfrm>
          <a:prstGeom prst="rect">
            <a:avLst/>
          </a:prstGeom>
          <a:noFill/>
          <a:ln/>
        </p:spPr>
        <p:txBody>
          <a:bodyPr wrap="square" lIns="0" tIns="0" rIns="0" bIns="0" rtlCol="0" anchor="t"/>
          <a:lstStyle/>
          <a:p>
            <a:pPr marL="0" indent="0">
              <a:buNone/>
            </a:pPr>
            <a:r>
              <a:rPr lang="en-US" sz="1200" dirty="0">
                <a:solidFill>
                  <a:schemeClr val="tx1"/>
                </a:solidFill>
              </a:rPr>
              <a:t>331 potential sites. Paper screening before an inspection visit.</a:t>
            </a:r>
            <a:endParaRPr lang="en-US" sz="1200" dirty="0"/>
          </a:p>
        </p:txBody>
      </p:sp>
      <p:sp>
        <p:nvSpPr>
          <p:cNvPr id="15" name="icon circle FaDatabase"/>
          <p:cNvSpPr/>
          <p:nvPr/>
        </p:nvSpPr>
        <p:spPr>
          <a:xfrm>
            <a:off x="457200" y="3246120"/>
            <a:ext cx="384048" cy="384048"/>
          </a:xfrm>
          <a:prstGeom prst="ellipse">
            <a:avLst/>
          </a:prstGeom>
          <a:solidFill>
            <a:srgbClr val="2C7DA0"/>
          </a:solidFill>
          <a:ln w="12700">
            <a:solidFill>
              <a:srgbClr val="2C7DA0"/>
            </a:solidFill>
            <a:prstDash val="solid"/>
          </a:ln>
        </p:spPr>
        <p:txBody>
          <a:bodyPr/>
          <a:lstStyle/>
          <a:p>
            <a:endParaRPr lang="it-IT"/>
          </a:p>
        </p:txBody>
      </p:sp>
      <p:pic>
        <p:nvPicPr>
          <p:cNvPr id="16" name="Image 2" descr="Database icon"/>
          <p:cNvPicPr>
            <a:picLocks noChangeAspect="1"/>
          </p:cNvPicPr>
          <p:nvPr/>
        </p:nvPicPr>
        <p:blipFill>
          <a:blip r:embed="rId5"/>
          <a:stretch>
            <a:fillRect/>
          </a:stretch>
        </p:blipFill>
        <p:spPr>
          <a:xfrm>
            <a:off x="560893" y="3349813"/>
            <a:ext cx="176662" cy="176662"/>
          </a:xfrm>
          <a:prstGeom prst="rect">
            <a:avLst/>
          </a:prstGeom>
        </p:spPr>
      </p:pic>
      <p:sp>
        <p:nvSpPr>
          <p:cNvPr id="17" name="Text 11"/>
          <p:cNvSpPr txBox="1"/>
          <p:nvPr/>
        </p:nvSpPr>
        <p:spPr>
          <a:xfrm>
            <a:off x="960120" y="3246120"/>
            <a:ext cx="3657600" cy="384048"/>
          </a:xfrm>
          <a:prstGeom prst="rect">
            <a:avLst/>
          </a:prstGeom>
          <a:noFill/>
          <a:ln/>
        </p:spPr>
        <p:txBody>
          <a:bodyPr wrap="square" lIns="0" tIns="0" rIns="0" bIns="0" rtlCol="0" anchor="ctr"/>
          <a:lstStyle/>
          <a:p>
            <a:pPr marL="0" indent="0">
              <a:buNone/>
            </a:pPr>
            <a:r>
              <a:rPr lang="en-US" sz="1300" dirty="0">
                <a:solidFill>
                  <a:schemeClr val="tx1"/>
                </a:solidFill>
              </a:rPr>
              <a:t>Live data from Coripet's system, with a backup copy</a:t>
            </a:r>
            <a:endParaRPr lang="en-US" sz="1300" dirty="0"/>
          </a:p>
        </p:txBody>
      </p:sp>
      <p:sp>
        <p:nvSpPr>
          <p:cNvPr id="18" name="icon circle FaFilter"/>
          <p:cNvSpPr/>
          <p:nvPr/>
        </p:nvSpPr>
        <p:spPr>
          <a:xfrm>
            <a:off x="457200" y="3749040"/>
            <a:ext cx="384048" cy="384048"/>
          </a:xfrm>
          <a:prstGeom prst="ellipse">
            <a:avLst/>
          </a:prstGeom>
          <a:solidFill>
            <a:srgbClr val="2C7DA0"/>
          </a:solidFill>
          <a:ln w="12700">
            <a:solidFill>
              <a:srgbClr val="2C7DA0"/>
            </a:solidFill>
            <a:prstDash val="solid"/>
          </a:ln>
        </p:spPr>
        <p:txBody>
          <a:bodyPr/>
          <a:lstStyle/>
          <a:p>
            <a:endParaRPr lang="it-IT"/>
          </a:p>
        </p:txBody>
      </p:sp>
      <p:pic>
        <p:nvPicPr>
          <p:cNvPr id="19" name="Image 3" descr="Filter icon"/>
          <p:cNvPicPr>
            <a:picLocks noChangeAspect="1"/>
          </p:cNvPicPr>
          <p:nvPr/>
        </p:nvPicPr>
        <p:blipFill>
          <a:blip r:embed="rId6"/>
          <a:stretch>
            <a:fillRect/>
          </a:stretch>
        </p:blipFill>
        <p:spPr>
          <a:xfrm>
            <a:off x="560893" y="3852733"/>
            <a:ext cx="176662" cy="176662"/>
          </a:xfrm>
          <a:prstGeom prst="rect">
            <a:avLst/>
          </a:prstGeom>
        </p:spPr>
      </p:pic>
      <p:sp>
        <p:nvSpPr>
          <p:cNvPr id="20" name="Text 13"/>
          <p:cNvSpPr txBox="1"/>
          <p:nvPr/>
        </p:nvSpPr>
        <p:spPr>
          <a:xfrm>
            <a:off x="960120" y="3749040"/>
            <a:ext cx="3657600" cy="384048"/>
          </a:xfrm>
          <a:prstGeom prst="rect">
            <a:avLst/>
          </a:prstGeom>
          <a:noFill/>
          <a:ln/>
        </p:spPr>
        <p:txBody>
          <a:bodyPr wrap="square" lIns="0" tIns="0" rIns="0" bIns="0" rtlCol="0" anchor="ctr"/>
          <a:lstStyle/>
          <a:p>
            <a:pPr marL="0" indent="0">
              <a:buNone/>
            </a:pPr>
            <a:r>
              <a:rPr lang="en-US" sz="1300" dirty="0">
                <a:solidFill>
                  <a:schemeClr val="tx1"/>
                </a:solidFill>
              </a:rPr>
              <a:t>Only real shops kept (no test sites)</a:t>
            </a:r>
            <a:endParaRPr lang="en-US" sz="1300" dirty="0"/>
          </a:p>
        </p:txBody>
      </p:sp>
      <p:sp>
        <p:nvSpPr>
          <p:cNvPr id="21" name="card"/>
          <p:cNvSpPr/>
          <p:nvPr/>
        </p:nvSpPr>
        <p:spPr>
          <a:xfrm>
            <a:off x="5303520" y="1325880"/>
            <a:ext cx="3017520" cy="2834640"/>
          </a:xfrm>
          <a:prstGeom prst="roundRect">
            <a:avLst>
              <a:gd name="adj" fmla="val 2581"/>
            </a:avLst>
          </a:prstGeom>
          <a:solidFill>
            <a:schemeClr val="bg2"/>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2" name="Text 15"/>
          <p:cNvSpPr txBox="1"/>
          <p:nvPr/>
        </p:nvSpPr>
        <p:spPr>
          <a:xfrm>
            <a:off x="5486400" y="1463040"/>
            <a:ext cx="2743200" cy="320040"/>
          </a:xfrm>
          <a:prstGeom prst="rect">
            <a:avLst/>
          </a:prstGeom>
          <a:noFill/>
          <a:ln/>
        </p:spPr>
        <p:txBody>
          <a:bodyPr wrap="square" lIns="0" tIns="0" rIns="0" bIns="0" rtlCol="0" anchor="t"/>
          <a:lstStyle/>
          <a:p>
            <a:pPr marL="0" indent="0">
              <a:buNone/>
            </a:pPr>
            <a:r>
              <a:rPr lang="en-US" sz="1500" b="1" dirty="0">
                <a:solidFill>
                  <a:schemeClr val="tx2"/>
                </a:solidFill>
              </a:rPr>
              <a:t>Survey recency filter</a:t>
            </a:r>
            <a:endParaRPr lang="en-US" sz="1500" dirty="0"/>
          </a:p>
        </p:txBody>
      </p:sp>
      <p:sp>
        <p:nvSpPr>
          <p:cNvPr id="23" name="filter pill"/>
          <p:cNvSpPr/>
          <p:nvPr/>
        </p:nvSpPr>
        <p:spPr>
          <a:xfrm>
            <a:off x="5486400" y="1920240"/>
            <a:ext cx="2651760" cy="411480"/>
          </a:xfrm>
          <a:prstGeom prst="roundRect">
            <a:avLst>
              <a:gd name="adj" fmla="val 13333"/>
            </a:avLst>
          </a:prstGeom>
          <a:solidFill>
            <a:srgbClr val="1E9E62"/>
          </a:solidFill>
          <a:ln w="12700">
            <a:solidFill>
              <a:srgbClr val="D5E6DB"/>
            </a:solidFill>
            <a:prstDash val="solid"/>
          </a:ln>
        </p:spPr>
        <p:txBody>
          <a:bodyPr/>
          <a:lstStyle/>
          <a:p>
            <a:endParaRPr lang="it-IT"/>
          </a:p>
        </p:txBody>
      </p:sp>
      <p:sp>
        <p:nvSpPr>
          <p:cNvPr id="24" name="Text 17"/>
          <p:cNvSpPr txBox="1"/>
          <p:nvPr/>
        </p:nvSpPr>
        <p:spPr>
          <a:xfrm>
            <a:off x="5623560" y="1920240"/>
            <a:ext cx="2468880" cy="411480"/>
          </a:xfrm>
          <a:prstGeom prst="rect">
            <a:avLst/>
          </a:prstGeom>
          <a:noFill/>
          <a:ln/>
        </p:spPr>
        <p:txBody>
          <a:bodyPr wrap="square" lIns="0" tIns="0" rIns="0" bIns="0" rtlCol="0" anchor="ctr"/>
          <a:lstStyle/>
          <a:p>
            <a:pPr marL="0" indent="0">
              <a:buNone/>
            </a:pPr>
            <a:r>
              <a:rPr lang="en-US" sz="1200" b="1" dirty="0">
                <a:solidFill>
                  <a:schemeClr val="bg1"/>
                </a:solidFill>
              </a:rPr>
              <a:t>Last 5 months (top priority)</a:t>
            </a:r>
            <a:endParaRPr lang="en-US" sz="1200" dirty="0"/>
          </a:p>
        </p:txBody>
      </p:sp>
      <p:sp>
        <p:nvSpPr>
          <p:cNvPr id="25" name="filter pill"/>
          <p:cNvSpPr/>
          <p:nvPr/>
        </p:nvSpPr>
        <p:spPr>
          <a:xfrm>
            <a:off x="5486400" y="2450592"/>
            <a:ext cx="2651760" cy="411480"/>
          </a:xfrm>
          <a:prstGeom prst="roundRect">
            <a:avLst>
              <a:gd name="adj" fmla="val 13333"/>
            </a:avLst>
          </a:prstGeom>
          <a:solidFill>
            <a:srgbClr val="FFFFFF"/>
          </a:solidFill>
          <a:ln w="12700">
            <a:solidFill>
              <a:srgbClr val="D5E6DB"/>
            </a:solidFill>
            <a:prstDash val="solid"/>
          </a:ln>
        </p:spPr>
        <p:txBody>
          <a:bodyPr/>
          <a:lstStyle/>
          <a:p>
            <a:endParaRPr lang="it-IT"/>
          </a:p>
        </p:txBody>
      </p:sp>
      <p:sp>
        <p:nvSpPr>
          <p:cNvPr id="26" name="Text 19"/>
          <p:cNvSpPr txBox="1"/>
          <p:nvPr/>
        </p:nvSpPr>
        <p:spPr>
          <a:xfrm>
            <a:off x="5623560" y="2450592"/>
            <a:ext cx="2468880" cy="411480"/>
          </a:xfrm>
          <a:prstGeom prst="rect">
            <a:avLst/>
          </a:prstGeom>
          <a:noFill/>
          <a:ln/>
        </p:spPr>
        <p:txBody>
          <a:bodyPr wrap="square" lIns="0" tIns="0" rIns="0" bIns="0" rtlCol="0" anchor="ctr"/>
          <a:lstStyle/>
          <a:p>
            <a:pPr marL="0" indent="0">
              <a:buNone/>
            </a:pPr>
            <a:r>
              <a:rPr lang="en-US" sz="1200" dirty="0">
                <a:solidFill>
                  <a:schemeClr val="tx1"/>
                </a:solidFill>
              </a:rPr>
              <a:t>Last 12 months</a:t>
            </a:r>
            <a:endParaRPr lang="en-US" sz="1200" dirty="0"/>
          </a:p>
        </p:txBody>
      </p:sp>
      <p:sp>
        <p:nvSpPr>
          <p:cNvPr id="27" name="filter pill"/>
          <p:cNvSpPr/>
          <p:nvPr/>
        </p:nvSpPr>
        <p:spPr>
          <a:xfrm>
            <a:off x="5486400" y="2980944"/>
            <a:ext cx="2651760" cy="411480"/>
          </a:xfrm>
          <a:prstGeom prst="roundRect">
            <a:avLst>
              <a:gd name="adj" fmla="val 13333"/>
            </a:avLst>
          </a:prstGeom>
          <a:solidFill>
            <a:srgbClr val="FFFFFF"/>
          </a:solidFill>
          <a:ln w="12700">
            <a:solidFill>
              <a:srgbClr val="D5E6DB"/>
            </a:solidFill>
            <a:prstDash val="solid"/>
          </a:ln>
        </p:spPr>
        <p:txBody>
          <a:bodyPr/>
          <a:lstStyle/>
          <a:p>
            <a:endParaRPr lang="it-IT"/>
          </a:p>
        </p:txBody>
      </p:sp>
      <p:sp>
        <p:nvSpPr>
          <p:cNvPr id="28" name="Text 21"/>
          <p:cNvSpPr txBox="1"/>
          <p:nvPr/>
        </p:nvSpPr>
        <p:spPr>
          <a:xfrm>
            <a:off x="5623560" y="2980944"/>
            <a:ext cx="2468880" cy="411480"/>
          </a:xfrm>
          <a:prstGeom prst="rect">
            <a:avLst/>
          </a:prstGeom>
          <a:noFill/>
          <a:ln/>
        </p:spPr>
        <p:txBody>
          <a:bodyPr wrap="square" lIns="0" tIns="0" rIns="0" bIns="0" rtlCol="0" anchor="ctr"/>
          <a:lstStyle/>
          <a:p>
            <a:pPr marL="0" indent="0">
              <a:buNone/>
            </a:pPr>
            <a:r>
              <a:rPr lang="en-US" sz="1200" dirty="0">
                <a:solidFill>
                  <a:schemeClr val="tx1"/>
                </a:solidFill>
              </a:rPr>
              <a:t>Last 24 months</a:t>
            </a:r>
            <a:endParaRPr lang="en-US" sz="1200" dirty="0"/>
          </a:p>
        </p:txBody>
      </p:sp>
      <p:sp>
        <p:nvSpPr>
          <p:cNvPr id="29" name="filter pill"/>
          <p:cNvSpPr/>
          <p:nvPr/>
        </p:nvSpPr>
        <p:spPr>
          <a:xfrm>
            <a:off x="5486400" y="3511296"/>
            <a:ext cx="2651760" cy="411480"/>
          </a:xfrm>
          <a:prstGeom prst="roundRect">
            <a:avLst>
              <a:gd name="adj" fmla="val 13333"/>
            </a:avLst>
          </a:prstGeom>
          <a:solidFill>
            <a:srgbClr val="FFFFFF"/>
          </a:solidFill>
          <a:ln w="12700">
            <a:solidFill>
              <a:srgbClr val="D5E6DB"/>
            </a:solidFill>
            <a:prstDash val="solid"/>
          </a:ln>
        </p:spPr>
        <p:txBody>
          <a:bodyPr/>
          <a:lstStyle/>
          <a:p>
            <a:endParaRPr lang="it-IT"/>
          </a:p>
        </p:txBody>
      </p:sp>
      <p:sp>
        <p:nvSpPr>
          <p:cNvPr id="30" name="Text 23"/>
          <p:cNvSpPr txBox="1"/>
          <p:nvPr/>
        </p:nvSpPr>
        <p:spPr>
          <a:xfrm>
            <a:off x="5623560" y="3511296"/>
            <a:ext cx="2468880" cy="411480"/>
          </a:xfrm>
          <a:prstGeom prst="rect">
            <a:avLst/>
          </a:prstGeom>
          <a:noFill/>
          <a:ln/>
        </p:spPr>
        <p:txBody>
          <a:bodyPr wrap="square" lIns="0" tIns="0" rIns="0" bIns="0" rtlCol="0" anchor="ctr"/>
          <a:lstStyle/>
          <a:p>
            <a:pPr marL="0" indent="0">
              <a:buNone/>
            </a:pPr>
            <a:r>
              <a:rPr lang="en-US" sz="1200" dirty="0">
                <a:solidFill>
                  <a:schemeClr val="tx1"/>
                </a:solidFill>
              </a:rPr>
              <a:t>All sites</a:t>
            </a:r>
            <a:endParaRPr lang="en-US" sz="1200" dirty="0"/>
          </a:p>
        </p:txBody>
      </p:sp>
      <p:sp>
        <p:nvSpPr>
          <p:cNvPr id="31"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32" name="Image 4" descr="idea icon"/>
          <p:cNvPicPr>
            <a:picLocks noChangeAspect="1"/>
          </p:cNvPicPr>
          <p:nvPr/>
        </p:nvPicPr>
        <p:blipFill>
          <a:blip r:embed="rId7"/>
          <a:stretch>
            <a:fillRect/>
          </a:stretch>
        </p:blipFill>
        <p:spPr>
          <a:xfrm>
            <a:off x="594360" y="4462272"/>
            <a:ext cx="274320" cy="274320"/>
          </a:xfrm>
          <a:prstGeom prst="rect">
            <a:avLst/>
          </a:prstGeom>
        </p:spPr>
      </p:pic>
      <p:sp>
        <p:nvSpPr>
          <p:cNvPr id="33" name="Text 25"/>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two to-do lists of possible new stores, always up to date, with the freshest ones first.</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56032"/>
            <a:ext cx="6400800" cy="256032"/>
          </a:xfrm>
          <a:prstGeom prst="rect">
            <a:avLst/>
          </a:prstGeom>
          <a:noFill/>
          <a:ln/>
        </p:spPr>
        <p:txBody>
          <a:bodyPr wrap="square" lIns="0" tIns="0" rIns="0" bIns="0" rtlCol="0"/>
          <a:lstStyle/>
          <a:p>
            <a:pPr marL="0" indent="0">
              <a:buNone/>
            </a:pPr>
            <a:r>
              <a:rPr lang="en-US" sz="1100" b="1" kern="0" spc="200" dirty="0">
                <a:solidFill>
                  <a:schemeClr val="accent1"/>
                </a:solidFill>
              </a:rPr>
              <a:t>TAB 4</a:t>
            </a:r>
            <a:endParaRPr lang="en-US" sz="1100" dirty="0"/>
          </a:p>
        </p:txBody>
      </p:sp>
      <p:sp>
        <p:nvSpPr>
          <p:cNvPr id="3" name="Text 0"/>
          <p:cNvSpPr>
            <a:spLocks noGrp="1"/>
          </p:cNvSpPr>
          <p:nvPr>
            <p:ph type="title" idx="101" hasCustomPrompt="1"/>
          </p:nvPr>
        </p:nvSpPr>
        <p:spPr>
          <a:xfrm>
            <a:off x="457200" y="512064"/>
            <a:ext cx="8229600" cy="566928"/>
          </a:xfrm>
          <a:prstGeom prst="rect">
            <a:avLst/>
          </a:prstGeom>
          <a:noFill/>
          <a:ln/>
        </p:spPr>
        <p:txBody>
          <a:bodyPr wrap="square" lIns="0" tIns="0" rIns="0" bIns="0" rtlCol="0" anchor="t"/>
          <a:lstStyle/>
          <a:p>
            <a:pPr marL="0" indent="0" algn="l">
              <a:buNone/>
            </a:pPr>
            <a:r>
              <a:rPr lang="en-US" sz="2800" b="1" dirty="0">
                <a:solidFill>
                  <a:schemeClr val="tx2"/>
                </a:solidFill>
              </a:rPr>
              <a:t>Spotting machines in trouble</a:t>
            </a:r>
            <a:endParaRPr lang="en-US" sz="2800" dirty="0"/>
          </a:p>
        </p:txBody>
      </p:sp>
      <p:sp>
        <p:nvSpPr>
          <p:cNvPr id="5" name="card"/>
          <p:cNvSpPr/>
          <p:nvPr/>
        </p:nvSpPr>
        <p:spPr>
          <a:xfrm>
            <a:off x="457200" y="1280160"/>
            <a:ext cx="1874520" cy="1371600"/>
          </a:xfrm>
          <a:prstGeom prst="roundRect">
            <a:avLst>
              <a:gd name="adj" fmla="val 533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6" name="icon circle FaPowerOff"/>
          <p:cNvSpPr/>
          <p:nvPr/>
        </p:nvSpPr>
        <p:spPr>
          <a:xfrm>
            <a:off x="566928" y="1399032"/>
            <a:ext cx="411480" cy="411480"/>
          </a:xfrm>
          <a:prstGeom prst="ellipse">
            <a:avLst/>
          </a:prstGeom>
          <a:solidFill>
            <a:srgbClr val="D64545"/>
          </a:solidFill>
          <a:ln w="12700">
            <a:solidFill>
              <a:srgbClr val="D64545"/>
            </a:solidFill>
            <a:prstDash val="solid"/>
          </a:ln>
        </p:spPr>
        <p:txBody>
          <a:bodyPr/>
          <a:lstStyle/>
          <a:p>
            <a:endParaRPr lang="it-IT"/>
          </a:p>
        </p:txBody>
      </p:sp>
      <p:pic>
        <p:nvPicPr>
          <p:cNvPr id="7" name="Image 0" descr="PowerOff icon"/>
          <p:cNvPicPr>
            <a:picLocks noChangeAspect="1"/>
          </p:cNvPicPr>
          <p:nvPr/>
        </p:nvPicPr>
        <p:blipFill>
          <a:blip r:embed="rId3"/>
          <a:stretch>
            <a:fillRect/>
          </a:stretch>
        </p:blipFill>
        <p:spPr>
          <a:xfrm>
            <a:off x="678028" y="1510132"/>
            <a:ext cx="189281" cy="189281"/>
          </a:xfrm>
          <a:prstGeom prst="rect">
            <a:avLst/>
          </a:prstGeom>
        </p:spPr>
      </p:pic>
      <p:sp>
        <p:nvSpPr>
          <p:cNvPr id="8" name="Text 4"/>
          <p:cNvSpPr txBox="1"/>
          <p:nvPr/>
        </p:nvSpPr>
        <p:spPr>
          <a:xfrm>
            <a:off x="1051560" y="1399032"/>
            <a:ext cx="1234440" cy="411480"/>
          </a:xfrm>
          <a:prstGeom prst="rect">
            <a:avLst/>
          </a:prstGeom>
          <a:noFill/>
          <a:ln/>
        </p:spPr>
        <p:txBody>
          <a:bodyPr wrap="square" lIns="0" tIns="0" rIns="0" bIns="0" rtlCol="0" anchor="ctr"/>
          <a:lstStyle/>
          <a:p>
            <a:pPr marL="0" indent="0">
              <a:buNone/>
            </a:pPr>
            <a:r>
              <a:rPr lang="en-US" sz="1300" b="1" dirty="0">
                <a:solidFill>
                  <a:schemeClr val="tx2"/>
                </a:solidFill>
              </a:rPr>
              <a:t>Offline</a:t>
            </a:r>
            <a:endParaRPr lang="en-US" sz="1300" dirty="0"/>
          </a:p>
        </p:txBody>
      </p:sp>
      <p:sp>
        <p:nvSpPr>
          <p:cNvPr id="9" name="Text 5"/>
          <p:cNvSpPr txBox="1"/>
          <p:nvPr/>
        </p:nvSpPr>
        <p:spPr>
          <a:xfrm>
            <a:off x="594360" y="1901952"/>
            <a:ext cx="1645920" cy="365760"/>
          </a:xfrm>
          <a:prstGeom prst="rect">
            <a:avLst/>
          </a:prstGeom>
          <a:noFill/>
          <a:ln/>
        </p:spPr>
        <p:txBody>
          <a:bodyPr wrap="square" lIns="0" tIns="0" rIns="0" bIns="0" rtlCol="0" anchor="t"/>
          <a:lstStyle/>
          <a:p>
            <a:pPr marL="0" indent="0">
              <a:buNone/>
            </a:pPr>
            <a:r>
              <a:rPr lang="en-US" sz="1100" dirty="0">
                <a:solidFill>
                  <a:schemeClr val="tx1"/>
                </a:solidFill>
              </a:rPr>
              <a:t>Zero bottles 7+ days</a:t>
            </a:r>
            <a:endParaRPr lang="en-US" sz="1100" dirty="0"/>
          </a:p>
        </p:txBody>
      </p:sp>
      <p:sp>
        <p:nvSpPr>
          <p:cNvPr id="10" name="Text 6"/>
          <p:cNvSpPr txBox="1"/>
          <p:nvPr/>
        </p:nvSpPr>
        <p:spPr>
          <a:xfrm>
            <a:off x="594360" y="2267712"/>
            <a:ext cx="1645920" cy="274320"/>
          </a:xfrm>
          <a:prstGeom prst="rect">
            <a:avLst/>
          </a:prstGeom>
          <a:noFill/>
          <a:ln/>
        </p:spPr>
        <p:txBody>
          <a:bodyPr wrap="square" lIns="0" tIns="0" rIns="0" bIns="0" rtlCol="0" anchor="t"/>
          <a:lstStyle/>
          <a:p>
            <a:pPr marL="0" indent="0">
              <a:buNone/>
            </a:pPr>
            <a:r>
              <a:rPr lang="en-US" sz="1100" b="1" dirty="0">
                <a:solidFill>
                  <a:schemeClr val="accent1"/>
                </a:solidFill>
              </a:rPr>
              <a:t>→ Send a technician</a:t>
            </a:r>
            <a:endParaRPr lang="en-US" sz="1100" dirty="0"/>
          </a:p>
        </p:txBody>
      </p:sp>
      <p:sp>
        <p:nvSpPr>
          <p:cNvPr id="11" name="card"/>
          <p:cNvSpPr/>
          <p:nvPr/>
        </p:nvSpPr>
        <p:spPr>
          <a:xfrm>
            <a:off x="2468880" y="1280160"/>
            <a:ext cx="1874520" cy="1371600"/>
          </a:xfrm>
          <a:prstGeom prst="roundRect">
            <a:avLst>
              <a:gd name="adj" fmla="val 533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2" name="icon circle FaCube"/>
          <p:cNvSpPr/>
          <p:nvPr/>
        </p:nvSpPr>
        <p:spPr>
          <a:xfrm>
            <a:off x="2578608" y="1399032"/>
            <a:ext cx="411480" cy="411480"/>
          </a:xfrm>
          <a:prstGeom prst="ellipse">
            <a:avLst/>
          </a:prstGeom>
          <a:solidFill>
            <a:srgbClr val="E89A0C"/>
          </a:solidFill>
          <a:ln w="12700">
            <a:solidFill>
              <a:srgbClr val="E89A0C"/>
            </a:solidFill>
            <a:prstDash val="solid"/>
          </a:ln>
        </p:spPr>
        <p:txBody>
          <a:bodyPr/>
          <a:lstStyle/>
          <a:p>
            <a:endParaRPr lang="it-IT"/>
          </a:p>
        </p:txBody>
      </p:sp>
      <p:pic>
        <p:nvPicPr>
          <p:cNvPr id="13" name="Image 1" descr="Cube icon"/>
          <p:cNvPicPr>
            <a:picLocks noChangeAspect="1"/>
          </p:cNvPicPr>
          <p:nvPr/>
        </p:nvPicPr>
        <p:blipFill>
          <a:blip r:embed="rId4"/>
          <a:stretch>
            <a:fillRect/>
          </a:stretch>
        </p:blipFill>
        <p:spPr>
          <a:xfrm>
            <a:off x="2689708" y="1510132"/>
            <a:ext cx="189281" cy="189281"/>
          </a:xfrm>
          <a:prstGeom prst="rect">
            <a:avLst/>
          </a:prstGeom>
        </p:spPr>
      </p:pic>
      <p:sp>
        <p:nvSpPr>
          <p:cNvPr id="14" name="Text 9"/>
          <p:cNvSpPr txBox="1"/>
          <p:nvPr/>
        </p:nvSpPr>
        <p:spPr>
          <a:xfrm>
            <a:off x="3063240" y="1399032"/>
            <a:ext cx="1234440" cy="411480"/>
          </a:xfrm>
          <a:prstGeom prst="rect">
            <a:avLst/>
          </a:prstGeom>
          <a:noFill/>
          <a:ln/>
        </p:spPr>
        <p:txBody>
          <a:bodyPr wrap="square" lIns="0" tIns="0" rIns="0" bIns="0" rtlCol="0" anchor="ctr"/>
          <a:lstStyle/>
          <a:p>
            <a:pPr marL="0" indent="0">
              <a:buNone/>
            </a:pPr>
            <a:r>
              <a:rPr lang="en-US" sz="1300" b="1" dirty="0">
                <a:solidFill>
                  <a:schemeClr val="tx2"/>
                </a:solidFill>
              </a:rPr>
              <a:t>Bin full</a:t>
            </a:r>
            <a:endParaRPr lang="en-US" sz="1300" dirty="0"/>
          </a:p>
        </p:txBody>
      </p:sp>
      <p:sp>
        <p:nvSpPr>
          <p:cNvPr id="15" name="Text 10"/>
          <p:cNvSpPr txBox="1"/>
          <p:nvPr/>
        </p:nvSpPr>
        <p:spPr>
          <a:xfrm>
            <a:off x="2606040" y="1901952"/>
            <a:ext cx="1645920" cy="365760"/>
          </a:xfrm>
          <a:prstGeom prst="rect">
            <a:avLst/>
          </a:prstGeom>
          <a:noFill/>
          <a:ln/>
        </p:spPr>
        <p:txBody>
          <a:bodyPr wrap="square" lIns="0" tIns="0" rIns="0" bIns="0" rtlCol="0" anchor="t"/>
          <a:lstStyle/>
          <a:p>
            <a:pPr marL="0" indent="0">
              <a:buNone/>
            </a:pPr>
            <a:r>
              <a:rPr lang="en-US" sz="1100" dirty="0">
                <a:solidFill>
                  <a:schemeClr val="tx1"/>
                </a:solidFill>
              </a:rPr>
              <a:t>Visitors normal, bottles low</a:t>
            </a:r>
            <a:endParaRPr lang="en-US" sz="1100" dirty="0"/>
          </a:p>
        </p:txBody>
      </p:sp>
      <p:sp>
        <p:nvSpPr>
          <p:cNvPr id="16" name="Text 11"/>
          <p:cNvSpPr txBox="1"/>
          <p:nvPr/>
        </p:nvSpPr>
        <p:spPr>
          <a:xfrm>
            <a:off x="2606040" y="2267712"/>
            <a:ext cx="1645920" cy="274320"/>
          </a:xfrm>
          <a:prstGeom prst="rect">
            <a:avLst/>
          </a:prstGeom>
          <a:noFill/>
          <a:ln/>
        </p:spPr>
        <p:txBody>
          <a:bodyPr wrap="square" lIns="0" tIns="0" rIns="0" bIns="0" rtlCol="0" anchor="t"/>
          <a:lstStyle/>
          <a:p>
            <a:pPr marL="0" indent="0">
              <a:buNone/>
            </a:pPr>
            <a:r>
              <a:rPr lang="en-US" sz="1100" b="1" dirty="0">
                <a:solidFill>
                  <a:schemeClr val="accent1"/>
                </a:solidFill>
              </a:rPr>
              <a:t>→ Empty bags twice a day</a:t>
            </a:r>
            <a:endParaRPr lang="en-US" sz="1100" dirty="0"/>
          </a:p>
        </p:txBody>
      </p:sp>
      <p:sp>
        <p:nvSpPr>
          <p:cNvPr id="17" name="card"/>
          <p:cNvSpPr/>
          <p:nvPr/>
        </p:nvSpPr>
        <p:spPr>
          <a:xfrm>
            <a:off x="4480560" y="1280160"/>
            <a:ext cx="1874520" cy="1371600"/>
          </a:xfrm>
          <a:prstGeom prst="roundRect">
            <a:avLst>
              <a:gd name="adj" fmla="val 533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18" name="icon circle FaChartLine"/>
          <p:cNvSpPr/>
          <p:nvPr/>
        </p:nvSpPr>
        <p:spPr>
          <a:xfrm>
            <a:off x="4590288" y="1399032"/>
            <a:ext cx="411480" cy="411480"/>
          </a:xfrm>
          <a:prstGeom prst="ellipse">
            <a:avLst/>
          </a:prstGeom>
          <a:solidFill>
            <a:srgbClr val="7B5EA7"/>
          </a:solidFill>
          <a:ln w="12700">
            <a:solidFill>
              <a:srgbClr val="7B5EA7"/>
            </a:solidFill>
            <a:prstDash val="solid"/>
          </a:ln>
        </p:spPr>
        <p:txBody>
          <a:bodyPr/>
          <a:lstStyle/>
          <a:p>
            <a:endParaRPr lang="it-IT"/>
          </a:p>
        </p:txBody>
      </p:sp>
      <p:pic>
        <p:nvPicPr>
          <p:cNvPr id="19" name="Image 2" descr="ChartLine icon"/>
          <p:cNvPicPr>
            <a:picLocks noChangeAspect="1"/>
          </p:cNvPicPr>
          <p:nvPr/>
        </p:nvPicPr>
        <p:blipFill>
          <a:blip r:embed="rId5"/>
          <a:stretch>
            <a:fillRect/>
          </a:stretch>
        </p:blipFill>
        <p:spPr>
          <a:xfrm>
            <a:off x="4701388" y="1510132"/>
            <a:ext cx="189281" cy="189281"/>
          </a:xfrm>
          <a:prstGeom prst="rect">
            <a:avLst/>
          </a:prstGeom>
        </p:spPr>
      </p:pic>
      <p:sp>
        <p:nvSpPr>
          <p:cNvPr id="20" name="Text 14"/>
          <p:cNvSpPr txBox="1"/>
          <p:nvPr/>
        </p:nvSpPr>
        <p:spPr>
          <a:xfrm>
            <a:off x="5074920" y="1399032"/>
            <a:ext cx="1234440" cy="411480"/>
          </a:xfrm>
          <a:prstGeom prst="rect">
            <a:avLst/>
          </a:prstGeom>
          <a:noFill/>
          <a:ln/>
        </p:spPr>
        <p:txBody>
          <a:bodyPr wrap="square" lIns="0" tIns="0" rIns="0" bIns="0" rtlCol="0" anchor="ctr"/>
          <a:lstStyle/>
          <a:p>
            <a:pPr marL="0" indent="0">
              <a:buNone/>
            </a:pPr>
            <a:r>
              <a:rPr lang="en-US" sz="1300" b="1" dirty="0">
                <a:solidFill>
                  <a:schemeClr val="tx2"/>
                </a:solidFill>
              </a:rPr>
              <a:t>Up &amp; down</a:t>
            </a:r>
            <a:endParaRPr lang="en-US" sz="1300" dirty="0"/>
          </a:p>
        </p:txBody>
      </p:sp>
      <p:sp>
        <p:nvSpPr>
          <p:cNvPr id="21" name="Text 15"/>
          <p:cNvSpPr txBox="1"/>
          <p:nvPr/>
        </p:nvSpPr>
        <p:spPr>
          <a:xfrm>
            <a:off x="4617720" y="1901952"/>
            <a:ext cx="1645920" cy="365760"/>
          </a:xfrm>
          <a:prstGeom prst="rect">
            <a:avLst/>
          </a:prstGeom>
          <a:noFill/>
          <a:ln/>
        </p:spPr>
        <p:txBody>
          <a:bodyPr wrap="square" lIns="0" tIns="0" rIns="0" bIns="0" rtlCol="0" anchor="t"/>
          <a:lstStyle/>
          <a:p>
            <a:pPr marL="0" indent="0">
              <a:buNone/>
            </a:pPr>
            <a:r>
              <a:rPr lang="en-US" sz="1100" dirty="0">
                <a:solidFill>
                  <a:schemeClr val="tx1"/>
                </a:solidFill>
              </a:rPr>
              <a:t>Big jump, then a crash</a:t>
            </a:r>
            <a:endParaRPr lang="en-US" sz="1100" dirty="0"/>
          </a:p>
        </p:txBody>
      </p:sp>
      <p:sp>
        <p:nvSpPr>
          <p:cNvPr id="22" name="Text 16"/>
          <p:cNvSpPr txBox="1"/>
          <p:nvPr/>
        </p:nvSpPr>
        <p:spPr>
          <a:xfrm>
            <a:off x="4617720" y="2267712"/>
            <a:ext cx="1645920" cy="274320"/>
          </a:xfrm>
          <a:prstGeom prst="rect">
            <a:avLst/>
          </a:prstGeom>
          <a:noFill/>
          <a:ln/>
        </p:spPr>
        <p:txBody>
          <a:bodyPr wrap="square" lIns="0" tIns="0" rIns="0" bIns="0" rtlCol="0" anchor="t"/>
          <a:lstStyle/>
          <a:p>
            <a:pPr marL="0" indent="0">
              <a:buNone/>
            </a:pPr>
            <a:r>
              <a:rPr lang="en-US" sz="1100" b="1" dirty="0">
                <a:solidFill>
                  <a:schemeClr val="accent1"/>
                </a:solidFill>
              </a:rPr>
              <a:t>→ Check expired promotion</a:t>
            </a:r>
            <a:endParaRPr lang="en-US" sz="1100" dirty="0"/>
          </a:p>
        </p:txBody>
      </p:sp>
      <p:sp>
        <p:nvSpPr>
          <p:cNvPr id="23" name="card"/>
          <p:cNvSpPr/>
          <p:nvPr/>
        </p:nvSpPr>
        <p:spPr>
          <a:xfrm>
            <a:off x="6492240" y="1280160"/>
            <a:ext cx="1874520" cy="1371600"/>
          </a:xfrm>
          <a:prstGeom prst="roundRect">
            <a:avLst>
              <a:gd name="adj" fmla="val 533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24" name="icon circle FaBolt"/>
          <p:cNvSpPr/>
          <p:nvPr/>
        </p:nvSpPr>
        <p:spPr>
          <a:xfrm>
            <a:off x="6601968" y="1399032"/>
            <a:ext cx="411480" cy="411480"/>
          </a:xfrm>
          <a:prstGeom prst="ellipse">
            <a:avLst/>
          </a:prstGeom>
          <a:solidFill>
            <a:srgbClr val="E89A0C"/>
          </a:solidFill>
          <a:ln w="12700">
            <a:solidFill>
              <a:srgbClr val="E89A0C"/>
            </a:solidFill>
            <a:prstDash val="solid"/>
          </a:ln>
        </p:spPr>
        <p:txBody>
          <a:bodyPr/>
          <a:lstStyle/>
          <a:p>
            <a:endParaRPr lang="it-IT"/>
          </a:p>
        </p:txBody>
      </p:sp>
      <p:pic>
        <p:nvPicPr>
          <p:cNvPr id="25" name="Image 3" descr="Bolt icon"/>
          <p:cNvPicPr>
            <a:picLocks noChangeAspect="1"/>
          </p:cNvPicPr>
          <p:nvPr/>
        </p:nvPicPr>
        <p:blipFill>
          <a:blip r:embed="rId6"/>
          <a:stretch>
            <a:fillRect/>
          </a:stretch>
        </p:blipFill>
        <p:spPr>
          <a:xfrm>
            <a:off x="6713068" y="1510132"/>
            <a:ext cx="189281" cy="189281"/>
          </a:xfrm>
          <a:prstGeom prst="rect">
            <a:avLst/>
          </a:prstGeom>
        </p:spPr>
      </p:pic>
      <p:sp>
        <p:nvSpPr>
          <p:cNvPr id="26" name="Text 19"/>
          <p:cNvSpPr txBox="1"/>
          <p:nvPr/>
        </p:nvSpPr>
        <p:spPr>
          <a:xfrm>
            <a:off x="7086600" y="1399032"/>
            <a:ext cx="1234440" cy="411480"/>
          </a:xfrm>
          <a:prstGeom prst="rect">
            <a:avLst/>
          </a:prstGeom>
          <a:noFill/>
          <a:ln/>
        </p:spPr>
        <p:txBody>
          <a:bodyPr wrap="square" lIns="0" tIns="0" rIns="0" bIns="0" rtlCol="0" anchor="ctr"/>
          <a:lstStyle/>
          <a:p>
            <a:pPr marL="0" indent="0">
              <a:buNone/>
            </a:pPr>
            <a:r>
              <a:rPr lang="en-US" sz="1300" b="1" dirty="0">
                <a:solidFill>
                  <a:schemeClr val="tx2"/>
                </a:solidFill>
              </a:rPr>
              <a:t>Huge spike</a:t>
            </a:r>
            <a:endParaRPr lang="en-US" sz="1300" dirty="0"/>
          </a:p>
        </p:txBody>
      </p:sp>
      <p:sp>
        <p:nvSpPr>
          <p:cNvPr id="27" name="Text 20"/>
          <p:cNvSpPr txBox="1"/>
          <p:nvPr/>
        </p:nvSpPr>
        <p:spPr>
          <a:xfrm>
            <a:off x="6629400" y="1901952"/>
            <a:ext cx="1645920" cy="365760"/>
          </a:xfrm>
          <a:prstGeom prst="rect">
            <a:avLst/>
          </a:prstGeom>
          <a:noFill/>
          <a:ln/>
        </p:spPr>
        <p:txBody>
          <a:bodyPr wrap="square" lIns="0" tIns="0" rIns="0" bIns="0" rtlCol="0" anchor="t"/>
          <a:lstStyle/>
          <a:p>
            <a:pPr marL="0" indent="0">
              <a:buNone/>
            </a:pPr>
            <a:r>
              <a:rPr lang="en-US" sz="1100" dirty="0">
                <a:solidFill>
                  <a:schemeClr val="tx1"/>
                </a:solidFill>
              </a:rPr>
              <a:t>&gt; 7,500 bottles in a day</a:t>
            </a:r>
            <a:endParaRPr lang="en-US" sz="1100" dirty="0"/>
          </a:p>
        </p:txBody>
      </p:sp>
      <p:sp>
        <p:nvSpPr>
          <p:cNvPr id="28" name="Text 21"/>
          <p:cNvSpPr txBox="1"/>
          <p:nvPr/>
        </p:nvSpPr>
        <p:spPr>
          <a:xfrm>
            <a:off x="6629400" y="2267712"/>
            <a:ext cx="1645920" cy="274320"/>
          </a:xfrm>
          <a:prstGeom prst="rect">
            <a:avLst/>
          </a:prstGeom>
          <a:noFill/>
          <a:ln/>
        </p:spPr>
        <p:txBody>
          <a:bodyPr wrap="square" lIns="0" tIns="0" rIns="0" bIns="0" rtlCol="0" anchor="t"/>
          <a:lstStyle/>
          <a:p>
            <a:pPr marL="0" indent="0">
              <a:buNone/>
            </a:pPr>
            <a:r>
              <a:rPr lang="en-US" sz="1100" b="1" dirty="0">
                <a:solidFill>
                  <a:schemeClr val="accent1"/>
                </a:solidFill>
              </a:rPr>
              <a:t>→ Check bulk drops</a:t>
            </a:r>
            <a:endParaRPr lang="en-US" sz="1100" dirty="0"/>
          </a:p>
        </p:txBody>
      </p:sp>
      <p:sp>
        <p:nvSpPr>
          <p:cNvPr id="29" name="card"/>
          <p:cNvSpPr/>
          <p:nvPr/>
        </p:nvSpPr>
        <p:spPr>
          <a:xfrm>
            <a:off x="457200" y="2788920"/>
            <a:ext cx="1874520" cy="1371600"/>
          </a:xfrm>
          <a:prstGeom prst="roundRect">
            <a:avLst>
              <a:gd name="adj" fmla="val 533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30" name="icon circle FaArrowDown"/>
          <p:cNvSpPr/>
          <p:nvPr/>
        </p:nvSpPr>
        <p:spPr>
          <a:xfrm>
            <a:off x="566928" y="2907792"/>
            <a:ext cx="411480" cy="411480"/>
          </a:xfrm>
          <a:prstGeom prst="ellipse">
            <a:avLst/>
          </a:prstGeom>
          <a:solidFill>
            <a:srgbClr val="D64545"/>
          </a:solidFill>
          <a:ln w="12700">
            <a:solidFill>
              <a:srgbClr val="D64545"/>
            </a:solidFill>
            <a:prstDash val="solid"/>
          </a:ln>
        </p:spPr>
        <p:txBody>
          <a:bodyPr/>
          <a:lstStyle/>
          <a:p>
            <a:endParaRPr lang="it-IT"/>
          </a:p>
        </p:txBody>
      </p:sp>
      <p:pic>
        <p:nvPicPr>
          <p:cNvPr id="31" name="Image 4" descr="ArrowDown icon"/>
          <p:cNvPicPr>
            <a:picLocks noChangeAspect="1"/>
          </p:cNvPicPr>
          <p:nvPr/>
        </p:nvPicPr>
        <p:blipFill>
          <a:blip r:embed="rId7"/>
          <a:stretch>
            <a:fillRect/>
          </a:stretch>
        </p:blipFill>
        <p:spPr>
          <a:xfrm>
            <a:off x="678028" y="3018892"/>
            <a:ext cx="189281" cy="189281"/>
          </a:xfrm>
          <a:prstGeom prst="rect">
            <a:avLst/>
          </a:prstGeom>
        </p:spPr>
      </p:pic>
      <p:sp>
        <p:nvSpPr>
          <p:cNvPr id="32" name="Text 24"/>
          <p:cNvSpPr txBox="1"/>
          <p:nvPr/>
        </p:nvSpPr>
        <p:spPr>
          <a:xfrm>
            <a:off x="1051560" y="2907792"/>
            <a:ext cx="1234440" cy="411480"/>
          </a:xfrm>
          <a:prstGeom prst="rect">
            <a:avLst/>
          </a:prstGeom>
          <a:noFill/>
          <a:ln/>
        </p:spPr>
        <p:txBody>
          <a:bodyPr wrap="square" lIns="0" tIns="0" rIns="0" bIns="0" rtlCol="0" anchor="ctr"/>
          <a:lstStyle/>
          <a:p>
            <a:pPr marL="0" indent="0">
              <a:buNone/>
            </a:pPr>
            <a:r>
              <a:rPr lang="en-US" sz="1300" b="1" dirty="0">
                <a:solidFill>
                  <a:schemeClr val="tx2"/>
                </a:solidFill>
              </a:rPr>
              <a:t>Underperformer</a:t>
            </a:r>
            <a:endParaRPr lang="en-US" sz="1300" dirty="0"/>
          </a:p>
        </p:txBody>
      </p:sp>
      <p:sp>
        <p:nvSpPr>
          <p:cNvPr id="33" name="Text 25"/>
          <p:cNvSpPr txBox="1"/>
          <p:nvPr/>
        </p:nvSpPr>
        <p:spPr>
          <a:xfrm>
            <a:off x="594360" y="3410712"/>
            <a:ext cx="1645920" cy="365760"/>
          </a:xfrm>
          <a:prstGeom prst="rect">
            <a:avLst/>
          </a:prstGeom>
          <a:noFill/>
          <a:ln/>
        </p:spPr>
        <p:txBody>
          <a:bodyPr wrap="square" lIns="0" tIns="0" rIns="0" bIns="0" rtlCol="0" anchor="t"/>
          <a:lstStyle/>
          <a:p>
            <a:pPr marL="0" indent="0">
              <a:buNone/>
            </a:pPr>
            <a:r>
              <a:rPr lang="en-US" sz="1100" dirty="0">
                <a:solidFill>
                  <a:schemeClr val="tx1"/>
                </a:solidFill>
              </a:rPr>
              <a:t>&lt; 250/day vs high forecast</a:t>
            </a:r>
            <a:endParaRPr lang="en-US" sz="1100" dirty="0"/>
          </a:p>
        </p:txBody>
      </p:sp>
      <p:sp>
        <p:nvSpPr>
          <p:cNvPr id="34" name="Text 26"/>
          <p:cNvSpPr txBox="1"/>
          <p:nvPr/>
        </p:nvSpPr>
        <p:spPr>
          <a:xfrm>
            <a:off x="594360" y="3776472"/>
            <a:ext cx="1645920" cy="274320"/>
          </a:xfrm>
          <a:prstGeom prst="rect">
            <a:avLst/>
          </a:prstGeom>
          <a:noFill/>
          <a:ln/>
        </p:spPr>
        <p:txBody>
          <a:bodyPr wrap="square" lIns="0" tIns="0" rIns="0" bIns="0" rtlCol="0" anchor="t"/>
          <a:lstStyle/>
          <a:p>
            <a:pPr marL="0" indent="0">
              <a:buNone/>
            </a:pPr>
            <a:r>
              <a:rPr lang="en-US" sz="1100" b="1" dirty="0">
                <a:solidFill>
                  <a:schemeClr val="accent1"/>
                </a:solidFill>
              </a:rPr>
              <a:t>→ Move to the entrance</a:t>
            </a:r>
            <a:endParaRPr lang="en-US" sz="1100" dirty="0"/>
          </a:p>
        </p:txBody>
      </p:sp>
      <p:sp>
        <p:nvSpPr>
          <p:cNvPr id="35" name="card"/>
          <p:cNvSpPr/>
          <p:nvPr/>
        </p:nvSpPr>
        <p:spPr>
          <a:xfrm>
            <a:off x="2468880" y="2788920"/>
            <a:ext cx="1874520" cy="1371600"/>
          </a:xfrm>
          <a:prstGeom prst="roundRect">
            <a:avLst>
              <a:gd name="adj" fmla="val 533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36" name="icon circle FaTrophy"/>
          <p:cNvSpPr/>
          <p:nvPr/>
        </p:nvSpPr>
        <p:spPr>
          <a:xfrm>
            <a:off x="2578608" y="2907792"/>
            <a:ext cx="411480" cy="411480"/>
          </a:xfrm>
          <a:prstGeom prst="ellipse">
            <a:avLst/>
          </a:prstGeom>
          <a:solidFill>
            <a:srgbClr val="1E9E62"/>
          </a:solidFill>
          <a:ln w="12700">
            <a:solidFill>
              <a:srgbClr val="1E9E62"/>
            </a:solidFill>
            <a:prstDash val="solid"/>
          </a:ln>
        </p:spPr>
        <p:txBody>
          <a:bodyPr/>
          <a:lstStyle/>
          <a:p>
            <a:endParaRPr lang="it-IT"/>
          </a:p>
        </p:txBody>
      </p:sp>
      <p:pic>
        <p:nvPicPr>
          <p:cNvPr id="37" name="Image 5" descr="Trophy icon"/>
          <p:cNvPicPr>
            <a:picLocks noChangeAspect="1"/>
          </p:cNvPicPr>
          <p:nvPr/>
        </p:nvPicPr>
        <p:blipFill>
          <a:blip r:embed="rId8"/>
          <a:stretch>
            <a:fillRect/>
          </a:stretch>
        </p:blipFill>
        <p:spPr>
          <a:xfrm>
            <a:off x="2689708" y="3018892"/>
            <a:ext cx="189281" cy="189281"/>
          </a:xfrm>
          <a:prstGeom prst="rect">
            <a:avLst/>
          </a:prstGeom>
        </p:spPr>
      </p:pic>
      <p:sp>
        <p:nvSpPr>
          <p:cNvPr id="38" name="Text 29"/>
          <p:cNvSpPr txBox="1"/>
          <p:nvPr/>
        </p:nvSpPr>
        <p:spPr>
          <a:xfrm>
            <a:off x="3063240" y="2907792"/>
            <a:ext cx="1234440" cy="411480"/>
          </a:xfrm>
          <a:prstGeom prst="rect">
            <a:avLst/>
          </a:prstGeom>
          <a:noFill/>
          <a:ln/>
        </p:spPr>
        <p:txBody>
          <a:bodyPr wrap="square" lIns="0" tIns="0" rIns="0" bIns="0" rtlCol="0" anchor="ctr"/>
          <a:lstStyle/>
          <a:p>
            <a:pPr marL="0" indent="0">
              <a:buNone/>
            </a:pPr>
            <a:r>
              <a:rPr lang="en-US" sz="1300" b="1" dirty="0">
                <a:solidFill>
                  <a:schemeClr val="tx2"/>
                </a:solidFill>
              </a:rPr>
              <a:t>Super hub</a:t>
            </a:r>
            <a:endParaRPr lang="en-US" sz="1300" dirty="0"/>
          </a:p>
        </p:txBody>
      </p:sp>
      <p:sp>
        <p:nvSpPr>
          <p:cNvPr id="39" name="Text 30"/>
          <p:cNvSpPr txBox="1"/>
          <p:nvPr/>
        </p:nvSpPr>
        <p:spPr>
          <a:xfrm>
            <a:off x="2606040" y="3410712"/>
            <a:ext cx="1645920" cy="365760"/>
          </a:xfrm>
          <a:prstGeom prst="rect">
            <a:avLst/>
          </a:prstGeom>
          <a:noFill/>
          <a:ln/>
        </p:spPr>
        <p:txBody>
          <a:bodyPr wrap="square" lIns="0" tIns="0" rIns="0" bIns="0" rtlCol="0" anchor="t"/>
          <a:lstStyle/>
          <a:p>
            <a:pPr marL="0" indent="0">
              <a:buNone/>
            </a:pPr>
            <a:r>
              <a:rPr lang="en-US" sz="1100" dirty="0">
                <a:solidFill>
                  <a:schemeClr val="tx1"/>
                </a:solidFill>
              </a:rPr>
              <a:t>&gt; 3,000 bottles/day</a:t>
            </a:r>
            <a:endParaRPr lang="en-US" sz="1100" dirty="0"/>
          </a:p>
        </p:txBody>
      </p:sp>
      <p:sp>
        <p:nvSpPr>
          <p:cNvPr id="40" name="Text 31"/>
          <p:cNvSpPr txBox="1"/>
          <p:nvPr/>
        </p:nvSpPr>
        <p:spPr>
          <a:xfrm>
            <a:off x="2606040" y="3776472"/>
            <a:ext cx="1645920" cy="274320"/>
          </a:xfrm>
          <a:prstGeom prst="rect">
            <a:avLst/>
          </a:prstGeom>
          <a:noFill/>
          <a:ln/>
        </p:spPr>
        <p:txBody>
          <a:bodyPr wrap="square" lIns="0" tIns="0" rIns="0" bIns="0" rtlCol="0" anchor="t"/>
          <a:lstStyle/>
          <a:p>
            <a:pPr marL="0" indent="0">
              <a:buNone/>
            </a:pPr>
            <a:r>
              <a:rPr lang="en-US" sz="1100" b="1" dirty="0">
                <a:solidFill>
                  <a:schemeClr val="accent1"/>
                </a:solidFill>
              </a:rPr>
              <a:t>→ Add a 2nd machine</a:t>
            </a:r>
            <a:endParaRPr lang="en-US" sz="1100" dirty="0"/>
          </a:p>
        </p:txBody>
      </p:sp>
      <p:sp>
        <p:nvSpPr>
          <p:cNvPr id="41" name="card"/>
          <p:cNvSpPr/>
          <p:nvPr/>
        </p:nvSpPr>
        <p:spPr>
          <a:xfrm>
            <a:off x="4480560" y="2788920"/>
            <a:ext cx="1874520" cy="1371600"/>
          </a:xfrm>
          <a:prstGeom prst="roundRect">
            <a:avLst>
              <a:gd name="adj" fmla="val 533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42" name="icon circle FaEye"/>
          <p:cNvSpPr/>
          <p:nvPr/>
        </p:nvSpPr>
        <p:spPr>
          <a:xfrm>
            <a:off x="4590288" y="2907792"/>
            <a:ext cx="411480" cy="411480"/>
          </a:xfrm>
          <a:prstGeom prst="ellipse">
            <a:avLst/>
          </a:prstGeom>
          <a:solidFill>
            <a:srgbClr val="2C7DA0"/>
          </a:solidFill>
          <a:ln w="12700">
            <a:solidFill>
              <a:srgbClr val="2C7DA0"/>
            </a:solidFill>
            <a:prstDash val="solid"/>
          </a:ln>
        </p:spPr>
        <p:txBody>
          <a:bodyPr/>
          <a:lstStyle/>
          <a:p>
            <a:endParaRPr lang="it-IT"/>
          </a:p>
        </p:txBody>
      </p:sp>
      <p:pic>
        <p:nvPicPr>
          <p:cNvPr id="43" name="Image 6" descr="Eye icon"/>
          <p:cNvPicPr>
            <a:picLocks noChangeAspect="1"/>
          </p:cNvPicPr>
          <p:nvPr/>
        </p:nvPicPr>
        <p:blipFill>
          <a:blip r:embed="rId9"/>
          <a:stretch>
            <a:fillRect/>
          </a:stretch>
        </p:blipFill>
        <p:spPr>
          <a:xfrm>
            <a:off x="4701388" y="3018892"/>
            <a:ext cx="189281" cy="189281"/>
          </a:xfrm>
          <a:prstGeom prst="rect">
            <a:avLst/>
          </a:prstGeom>
        </p:spPr>
      </p:pic>
      <p:sp>
        <p:nvSpPr>
          <p:cNvPr id="44" name="Text 34"/>
          <p:cNvSpPr txBox="1"/>
          <p:nvPr/>
        </p:nvSpPr>
        <p:spPr>
          <a:xfrm>
            <a:off x="5074920" y="2907792"/>
            <a:ext cx="1234440" cy="411480"/>
          </a:xfrm>
          <a:prstGeom prst="rect">
            <a:avLst/>
          </a:prstGeom>
          <a:noFill/>
          <a:ln/>
        </p:spPr>
        <p:txBody>
          <a:bodyPr wrap="square" lIns="0" tIns="0" rIns="0" bIns="0" rtlCol="0" anchor="ctr"/>
          <a:lstStyle/>
          <a:p>
            <a:pPr marL="0" indent="0">
              <a:buNone/>
            </a:pPr>
            <a:r>
              <a:rPr lang="en-US" sz="1300" b="1" dirty="0">
                <a:solidFill>
                  <a:schemeClr val="tx2"/>
                </a:solidFill>
              </a:rPr>
              <a:t>Sensor drift</a:t>
            </a:r>
            <a:endParaRPr lang="en-US" sz="1300" dirty="0"/>
          </a:p>
        </p:txBody>
      </p:sp>
      <p:sp>
        <p:nvSpPr>
          <p:cNvPr id="45" name="Text 35"/>
          <p:cNvSpPr txBox="1"/>
          <p:nvPr/>
        </p:nvSpPr>
        <p:spPr>
          <a:xfrm>
            <a:off x="4617720" y="3410712"/>
            <a:ext cx="1645920" cy="365760"/>
          </a:xfrm>
          <a:prstGeom prst="rect">
            <a:avLst/>
          </a:prstGeom>
          <a:noFill/>
          <a:ln/>
        </p:spPr>
        <p:txBody>
          <a:bodyPr wrap="square" lIns="0" tIns="0" rIns="0" bIns="0" rtlCol="0" anchor="t"/>
          <a:lstStyle/>
          <a:p>
            <a:pPr marL="0" indent="0">
              <a:buNone/>
            </a:pPr>
            <a:r>
              <a:rPr lang="en-US" sz="1100" dirty="0">
                <a:solidFill>
                  <a:schemeClr val="tx1"/>
                </a:solidFill>
              </a:rPr>
              <a:t>1–5 bottles, 0 users, 14 days</a:t>
            </a:r>
            <a:endParaRPr lang="en-US" sz="1100" dirty="0"/>
          </a:p>
        </p:txBody>
      </p:sp>
      <p:sp>
        <p:nvSpPr>
          <p:cNvPr id="46" name="Text 36"/>
          <p:cNvSpPr txBox="1"/>
          <p:nvPr/>
        </p:nvSpPr>
        <p:spPr>
          <a:xfrm>
            <a:off x="4617720" y="3776472"/>
            <a:ext cx="1645920" cy="274320"/>
          </a:xfrm>
          <a:prstGeom prst="rect">
            <a:avLst/>
          </a:prstGeom>
          <a:noFill/>
          <a:ln/>
        </p:spPr>
        <p:txBody>
          <a:bodyPr wrap="square" lIns="0" tIns="0" rIns="0" bIns="0" rtlCol="0" anchor="t"/>
          <a:lstStyle/>
          <a:p>
            <a:pPr marL="0" indent="0">
              <a:buNone/>
            </a:pPr>
            <a:r>
              <a:rPr lang="en-US" sz="1100" b="1" dirty="0">
                <a:solidFill>
                  <a:schemeClr val="accent1"/>
                </a:solidFill>
              </a:rPr>
              <a:t>→ Clean &amp; recalibrate</a:t>
            </a:r>
            <a:endParaRPr lang="en-US" sz="1100" dirty="0"/>
          </a:p>
        </p:txBody>
      </p:sp>
      <p:sp>
        <p:nvSpPr>
          <p:cNvPr id="47" name="card"/>
          <p:cNvSpPr/>
          <p:nvPr/>
        </p:nvSpPr>
        <p:spPr>
          <a:xfrm>
            <a:off x="6492240" y="2788920"/>
            <a:ext cx="1874520" cy="1371600"/>
          </a:xfrm>
          <a:prstGeom prst="roundRect">
            <a:avLst>
              <a:gd name="adj" fmla="val 5333"/>
            </a:avLst>
          </a:prstGeom>
          <a:solidFill>
            <a:schemeClr val="bg1"/>
          </a:solidFill>
          <a:ln w="9525">
            <a:solidFill>
              <a:srgbClr val="D5E6DB"/>
            </a:solidFill>
            <a:prstDash val="solid"/>
          </a:ln>
          <a:effectLst>
            <a:outerShdw blurRad="76200" dist="25400" dir="5400000" algn="bl" rotWithShape="0">
              <a:srgbClr val="000000">
                <a:alpha val="12000"/>
              </a:srgbClr>
            </a:outerShdw>
          </a:effectLst>
        </p:spPr>
        <p:txBody>
          <a:bodyPr/>
          <a:lstStyle/>
          <a:p>
            <a:endParaRPr lang="it-IT"/>
          </a:p>
        </p:txBody>
      </p:sp>
      <p:sp>
        <p:nvSpPr>
          <p:cNvPr id="48" name="icon circle FaCheckCircle"/>
          <p:cNvSpPr/>
          <p:nvPr/>
        </p:nvSpPr>
        <p:spPr>
          <a:xfrm>
            <a:off x="6601968" y="2907792"/>
            <a:ext cx="411480" cy="411480"/>
          </a:xfrm>
          <a:prstGeom prst="ellipse">
            <a:avLst/>
          </a:prstGeom>
          <a:solidFill>
            <a:srgbClr val="1E9E62"/>
          </a:solidFill>
          <a:ln w="12700">
            <a:solidFill>
              <a:srgbClr val="1E9E62"/>
            </a:solidFill>
            <a:prstDash val="solid"/>
          </a:ln>
        </p:spPr>
        <p:txBody>
          <a:bodyPr/>
          <a:lstStyle/>
          <a:p>
            <a:endParaRPr lang="it-IT"/>
          </a:p>
        </p:txBody>
      </p:sp>
      <p:pic>
        <p:nvPicPr>
          <p:cNvPr id="49" name="Image 7" descr="CheckCircle icon"/>
          <p:cNvPicPr>
            <a:picLocks noChangeAspect="1"/>
          </p:cNvPicPr>
          <p:nvPr/>
        </p:nvPicPr>
        <p:blipFill>
          <a:blip r:embed="rId10"/>
          <a:stretch>
            <a:fillRect/>
          </a:stretch>
        </p:blipFill>
        <p:spPr>
          <a:xfrm>
            <a:off x="6713068" y="3018892"/>
            <a:ext cx="189281" cy="189281"/>
          </a:xfrm>
          <a:prstGeom prst="rect">
            <a:avLst/>
          </a:prstGeom>
        </p:spPr>
      </p:pic>
      <p:sp>
        <p:nvSpPr>
          <p:cNvPr id="50" name="Text 39"/>
          <p:cNvSpPr txBox="1"/>
          <p:nvPr/>
        </p:nvSpPr>
        <p:spPr>
          <a:xfrm>
            <a:off x="7086600" y="2907792"/>
            <a:ext cx="1234440" cy="411480"/>
          </a:xfrm>
          <a:prstGeom prst="rect">
            <a:avLst/>
          </a:prstGeom>
          <a:noFill/>
          <a:ln/>
        </p:spPr>
        <p:txBody>
          <a:bodyPr wrap="square" lIns="0" tIns="0" rIns="0" bIns="0" rtlCol="0" anchor="ctr"/>
          <a:lstStyle/>
          <a:p>
            <a:pPr marL="0" indent="0">
              <a:buNone/>
            </a:pPr>
            <a:r>
              <a:rPr lang="en-US" sz="1300" b="1" dirty="0">
                <a:solidFill>
                  <a:schemeClr val="tx2"/>
                </a:solidFill>
              </a:rPr>
              <a:t>Healthy</a:t>
            </a:r>
            <a:endParaRPr lang="en-US" sz="1300" dirty="0"/>
          </a:p>
        </p:txBody>
      </p:sp>
      <p:sp>
        <p:nvSpPr>
          <p:cNvPr id="51" name="Text 40"/>
          <p:cNvSpPr txBox="1"/>
          <p:nvPr/>
        </p:nvSpPr>
        <p:spPr>
          <a:xfrm>
            <a:off x="6629400" y="3410712"/>
            <a:ext cx="1645920" cy="365760"/>
          </a:xfrm>
          <a:prstGeom prst="rect">
            <a:avLst/>
          </a:prstGeom>
          <a:noFill/>
          <a:ln/>
        </p:spPr>
        <p:txBody>
          <a:bodyPr wrap="square" lIns="0" tIns="0" rIns="0" bIns="0" rtlCol="0" anchor="t"/>
          <a:lstStyle/>
          <a:p>
            <a:pPr marL="0" indent="0">
              <a:buNone/>
            </a:pPr>
            <a:r>
              <a:rPr lang="en-US" sz="1100" dirty="0">
                <a:solidFill>
                  <a:schemeClr val="tx1"/>
                </a:solidFill>
              </a:rPr>
              <a:t>No rules triggered</a:t>
            </a:r>
            <a:endParaRPr lang="en-US" sz="1100" dirty="0"/>
          </a:p>
        </p:txBody>
      </p:sp>
      <p:sp>
        <p:nvSpPr>
          <p:cNvPr id="52" name="Text 41"/>
          <p:cNvSpPr txBox="1"/>
          <p:nvPr/>
        </p:nvSpPr>
        <p:spPr>
          <a:xfrm>
            <a:off x="6629400" y="3776472"/>
            <a:ext cx="1645920" cy="274320"/>
          </a:xfrm>
          <a:prstGeom prst="rect">
            <a:avLst/>
          </a:prstGeom>
          <a:noFill/>
          <a:ln/>
        </p:spPr>
        <p:txBody>
          <a:bodyPr wrap="square" lIns="0" tIns="0" rIns="0" bIns="0" rtlCol="0" anchor="t"/>
          <a:lstStyle/>
          <a:p>
            <a:pPr marL="0" indent="0">
              <a:buNone/>
            </a:pPr>
            <a:r>
              <a:rPr lang="en-US" sz="1100" b="1" dirty="0">
                <a:solidFill>
                  <a:schemeClr val="accent1"/>
                </a:solidFill>
              </a:rPr>
              <a:t>→ Normal service</a:t>
            </a:r>
            <a:endParaRPr lang="en-US" sz="1100" dirty="0"/>
          </a:p>
        </p:txBody>
      </p:sp>
      <p:sp>
        <p:nvSpPr>
          <p:cNvPr id="53" name="plain words box"/>
          <p:cNvSpPr/>
          <p:nvPr/>
        </p:nvSpPr>
        <p:spPr>
          <a:xfrm>
            <a:off x="457200" y="4370832"/>
            <a:ext cx="7863840" cy="457200"/>
          </a:xfrm>
          <a:prstGeom prst="roundRect">
            <a:avLst>
              <a:gd name="adj" fmla="val 16000"/>
            </a:avLst>
          </a:prstGeom>
          <a:solidFill>
            <a:schemeClr val="bg2"/>
          </a:solidFill>
          <a:ln w="12700">
            <a:solidFill>
              <a:schemeClr val="bg2"/>
            </a:solidFill>
            <a:prstDash val="solid"/>
          </a:ln>
        </p:spPr>
        <p:txBody>
          <a:bodyPr/>
          <a:lstStyle/>
          <a:p>
            <a:endParaRPr lang="it-IT"/>
          </a:p>
        </p:txBody>
      </p:sp>
      <p:pic>
        <p:nvPicPr>
          <p:cNvPr id="54" name="Image 8" descr="idea icon"/>
          <p:cNvPicPr>
            <a:picLocks noChangeAspect="1"/>
          </p:cNvPicPr>
          <p:nvPr/>
        </p:nvPicPr>
        <p:blipFill>
          <a:blip r:embed="rId11"/>
          <a:stretch>
            <a:fillRect/>
          </a:stretch>
        </p:blipFill>
        <p:spPr>
          <a:xfrm>
            <a:off x="594360" y="4462272"/>
            <a:ext cx="274320" cy="274320"/>
          </a:xfrm>
          <a:prstGeom prst="rect">
            <a:avLst/>
          </a:prstGeom>
        </p:spPr>
      </p:pic>
      <p:sp>
        <p:nvSpPr>
          <p:cNvPr id="55" name="Text 43"/>
          <p:cNvSpPr txBox="1"/>
          <p:nvPr/>
        </p:nvSpPr>
        <p:spPr>
          <a:xfrm>
            <a:off x="987552" y="4370832"/>
            <a:ext cx="7223760" cy="457200"/>
          </a:xfrm>
          <a:prstGeom prst="rect">
            <a:avLst/>
          </a:prstGeom>
          <a:noFill/>
          <a:ln/>
        </p:spPr>
        <p:txBody>
          <a:bodyPr wrap="square" lIns="0" tIns="0" rIns="0" bIns="0" rtlCol="0" anchor="ctr"/>
          <a:lstStyle/>
          <a:p>
            <a:pPr marL="0" indent="0">
              <a:buNone/>
            </a:pPr>
            <a:r>
              <a:rPr lang="en-US" sz="1300" b="1" dirty="0">
                <a:solidFill>
                  <a:schemeClr val="tx2"/>
                </a:solidFill>
              </a:rPr>
              <a:t>In simple words: </a:t>
            </a:r>
            <a:r>
              <a:rPr lang="en-US" sz="1300" dirty="0">
                <a:solidFill>
                  <a:schemeClr val="tx1"/>
                </a:solidFill>
              </a:rPr>
              <a:t>a doctor for the fleet: it spots the symptom and suggests the treatment.</a:t>
            </a:r>
            <a:endParaRPr lang="en-US" sz="1300" dirty="0"/>
          </a:p>
        </p:txBody>
      </p:sp>
      <p:sp>
        <p:nvSpPr>
          <p:cNvPr id="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7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188720"/>
          </a:xfrm>
          <a:prstGeom prst="rect">
            <a:avLst/>
          </a:prstGeom>
          <a:noFill/>
          <a:ln/>
        </p:spPr>
        <p:txBody>
          <a:bodyPr wrap="square" lIns="0" tIns="0" rIns="0" bIns="0" rtlCol="0" anchor="b"/>
          <a:lstStyle/>
          <a:p>
            <a:pPr marL="0" indent="0" algn="l">
              <a:buNone/>
            </a:pPr>
            <a:r>
              <a:rPr lang="en-US" sz="4000" b="1" dirty="0">
                <a:solidFill>
                  <a:schemeClr val="bg1"/>
                </a:solidFill>
              </a:rPr>
              <a:t>Thank you</a:t>
            </a:r>
            <a:endParaRPr lang="en-US" sz="4000" dirty="0"/>
          </a:p>
        </p:txBody>
      </p:sp>
      <p:sp>
        <p:nvSpPr>
          <p:cNvPr id="3" name="Text 0"/>
          <p:cNvSpPr>
            <a:spLocks noGrp="1"/>
          </p:cNvSpPr>
          <p:nvPr>
            <p:ph type="body" idx="101" hasCustomPrompt="1"/>
          </p:nvPr>
        </p:nvSpPr>
        <p:spPr>
          <a:xfrm>
            <a:off x="548640" y="2743200"/>
            <a:ext cx="7315200" cy="822960"/>
          </a:xfrm>
          <a:prstGeom prst="rect">
            <a:avLst/>
          </a:prstGeom>
          <a:noFill/>
          <a:ln/>
        </p:spPr>
        <p:txBody>
          <a:bodyPr wrap="square" lIns="0" tIns="0" rIns="0" bIns="0" rtlCol="0" anchor="t"/>
          <a:lstStyle/>
          <a:p>
            <a:pPr marL="0" indent="0">
              <a:buNone/>
            </a:pPr>
            <a:r>
              <a:rPr lang="en-US" sz="1800" dirty="0">
                <a:solidFill>
                  <a:srgbClr val="BFE3CF"/>
                </a:solidFill>
              </a:rPr>
              <a:t>Questions and discussion are welcome</a:t>
            </a:r>
            <a:endParaRPr lang="en-US" sz="1800" dirty="0"/>
          </a:p>
        </p:txBody>
      </p:sp>
      <p:sp>
        <p:nvSpPr>
          <p:cNvPr id="4" name="icon circle FaRecycle"/>
          <p:cNvSpPr/>
          <p:nvPr/>
        </p:nvSpPr>
        <p:spPr>
          <a:xfrm>
            <a:off x="548640" y="548640"/>
            <a:ext cx="731520" cy="731520"/>
          </a:xfrm>
          <a:prstGeom prst="ellipse">
            <a:avLst/>
          </a:prstGeom>
          <a:solidFill>
            <a:srgbClr val="1E9E62"/>
          </a:solidFill>
          <a:ln w="12700">
            <a:solidFill>
              <a:srgbClr val="1E9E62"/>
            </a:solidFill>
            <a:prstDash val="solid"/>
          </a:ln>
        </p:spPr>
        <p:txBody>
          <a:bodyPr/>
          <a:lstStyle/>
          <a:p>
            <a:endParaRPr lang="it-IT"/>
          </a:p>
        </p:txBody>
      </p:sp>
      <p:pic>
        <p:nvPicPr>
          <p:cNvPr id="5" name="Image 0" descr="Recycle icon"/>
          <p:cNvPicPr>
            <a:picLocks noChangeAspect="1"/>
          </p:cNvPicPr>
          <p:nvPr/>
        </p:nvPicPr>
        <p:blipFill>
          <a:blip r:embed="rId3"/>
          <a:stretch>
            <a:fillRect/>
          </a:stretch>
        </p:blipFill>
        <p:spPr>
          <a:xfrm>
            <a:off x="746150" y="746150"/>
            <a:ext cx="336499" cy="336499"/>
          </a:xfrm>
          <a:prstGeom prst="rect">
            <a:avLst/>
          </a:prstGeom>
        </p:spPr>
      </p:pic>
      <p:sp>
        <p:nvSpPr>
          <p:cNvPr id="6" name="Text 3"/>
          <p:cNvSpPr txBox="1"/>
          <p:nvPr/>
        </p:nvSpPr>
        <p:spPr>
          <a:xfrm>
            <a:off x="548640" y="4434840"/>
            <a:ext cx="7315200" cy="274320"/>
          </a:xfrm>
          <a:prstGeom prst="rect">
            <a:avLst/>
          </a:prstGeom>
          <a:noFill/>
          <a:ln/>
        </p:spPr>
        <p:txBody>
          <a:bodyPr wrap="square" lIns="0" tIns="0" rIns="0" bIns="0" rtlCol="0" anchor="t"/>
          <a:lstStyle/>
          <a:p>
            <a:pPr marL="0" indent="0">
              <a:buNone/>
            </a:pPr>
            <a:r>
              <a:rPr lang="en-US" sz="1200" dirty="0">
                <a:solidFill>
                  <a:srgbClr val="8FC4A8"/>
                </a:solidFill>
              </a:rPr>
              <a:t>Coripet RVM Prospective Predictor</a:t>
            </a:r>
            <a:endParaRPr lang="en-US" sz="1200" dirty="0"/>
          </a:p>
        </p:txBody>
      </p:sp>
    </p:spTree>
  </p:cSld>
  <p:clrMapOvr>
    <a:masterClrMapping/>
  </p:clrMapOvr>
</p:sld>
</file>

<file path=ppt/theme/theme1.xml><?xml version="1.0" encoding="utf-8"?>
<a:theme xmlns:a="http://schemas.openxmlformats.org/drawingml/2006/main" name="Coripet Green">
  <a:themeElements>
    <a:clrScheme name="Coripet Green">
      <a:dk1>
        <a:srgbClr val="1B2A24"/>
      </a:dk1>
      <a:lt1>
        <a:srgbClr val="FFFFFF"/>
      </a:lt1>
      <a:dk2>
        <a:srgbClr val="0B3D2E"/>
      </a:dk2>
      <a:lt2>
        <a:srgbClr val="EAF4EE"/>
      </a:lt2>
      <a:accent1>
        <a:srgbClr val="1E9E62"/>
      </a:accent1>
      <a:accent2>
        <a:srgbClr val="E89A0C"/>
      </a:accent2>
      <a:accent3>
        <a:srgbClr val="2C7DA0"/>
      </a:accent3>
      <a:accent4>
        <a:srgbClr val="D64545"/>
      </a:accent4>
      <a:accent5>
        <a:srgbClr val="7B5EA7"/>
      </a:accent5>
      <a:accent6>
        <a:srgbClr val="6B7C74"/>
      </a:accent6>
      <a:hlink>
        <a:srgbClr val="2C7DA0"/>
      </a:hlink>
      <a:folHlink>
        <a:srgbClr val="7B5EA7"/>
      </a:folHlink>
    </a:clrScheme>
    <a:fontScheme name="Coripet Gree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222</TotalTime>
  <Words>4414</Words>
  <Application>Microsoft Office PowerPoint</Application>
  <PresentationFormat>On-screen Show (16:9)</PresentationFormat>
  <Paragraphs>306</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Coripet Green</vt:lpstr>
      <vt:lpstr>Coripet RVM Prospective Predictor</vt:lpstr>
      <vt:lpstr>Where should the next machine go?</vt:lpstr>
      <vt:lpstr>What is machine learning?</vt:lpstr>
      <vt:lpstr>Evaluate a store in four simple steps</vt:lpstr>
      <vt:lpstr>What do shoppers get for their bottles?</vt:lpstr>
      <vt:lpstr>Three scenarios, not just one guess</vt:lpstr>
      <vt:lpstr>What is LightGBM?</vt:lpstr>
      <vt:lpstr>What is a neural network?</vt:lpstr>
      <vt:lpstr>How the AI learns: practice, check, improve</vt:lpstr>
      <vt:lpstr>Two AI “brains” working as a team</vt:lpstr>
      <vt:lpstr>Learning without being fooled by strange days</vt:lpstr>
      <vt:lpstr>Example: one strange day</vt:lpstr>
      <vt:lpstr>How risky is this investment?</vt:lpstr>
      <vt:lpstr>Six safety gates before saying “yes”</vt:lpstr>
      <vt:lpstr>SPL and POT: live lists of candidate stores</vt:lpstr>
      <vt:lpstr>Spotting machines in trouble</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Coripet RVM Prospective Predictor</dc:title>
  <dc:subject>PptxGenJS Presentation</dc:subject>
  <dc:creator>Waqas Mehmood</dc:creator>
  <cp:lastModifiedBy>waqas mehmood</cp:lastModifiedBy>
  <cp:revision>2</cp:revision>
  <dcterms:created xsi:type="dcterms:W3CDTF">2026-10-27T16:55:00Z</dcterms:created>
  <dcterms:modified xsi:type="dcterms:W3CDTF">2026-10-28T11:31:53Z</dcterms:modified>
</cp:coreProperties>
</file>