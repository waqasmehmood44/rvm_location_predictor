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I am presenting the Coripet RVM Predictor &amp; Spatial Siting Intelligence System. As Coripet accelerates its nationwide network rollout, our single biggest capital risk is machine misplacement. Each reverse vending machine represents significant CapEx, installation costs, and long-term reverse logistics commitments. Historically, retail siting was decided using commercial intuition or simple store square footage. Today, we are introducing our end-to-end AI system: a multi-task neural network combined with spatial catchment algorithms and a rigorous 7-gate investment clearance engine that predicts daily bottle volumes and user footfall before signing contracts.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why this system was necessary. In the past, when retail chains offered us store locations, our team had to rely on general assumptions: 'It's a big supermarket, so it will perform well.' However, our Power BI actuals proved that store size alone is misleading. If a machine collects under 120 bottles per day, Coripet loses money every month on operating expenses. Furthermore, in mature cities, installing machines too close together simply cannibalizes volume from our existing machines. This tool acts as a capital gatekeeper—ensuring every euro of CapEx generates maximum recycled PET tonnage.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four-level intelligence pipeline that powers the system. First, Level 1 resolves the location: Italy has complex postal codes where one CAP can cover multiple municipalities. Our engine disambiguates the address and attaches census population, density, and provincial income. Level 2 models the store's physical capacity: square meters, cash registers, and store format. Level 3 layers in commercial intelligence: is this store part of Coop, Conad, Carrefour, or an unbranded independent? Finally, Level 4 performs spatial catchment analysis: calculating distance to the nearest existing Coripet machine and counting competitive food stores in the trade area. This provides a complete 360-degree profile for our AI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hood, we developed a PyTorch deep neural network called MultiTaskRVMNet. A key innovation here is multi-task learning: the network does not just predict bottles; it simultaneously predicts active users. This is critical because volume equals users multiplied by deposit size. Furthermore, we don't just run a single prediction for today's date. The model simulates an 84-day grid—all 12 months of the year and all 7 days of the week. This marginalizes away seasonal swings and gives Coripet leadership an annualized, steady-state baseline you can rely on for budgeting.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details the core Catchment Realization &amp; Monopoly Physics Layer. A neural network in isolation only predicts theoretical unconstrained ceiling. This layer multiplies the ceiling by a net realization factor kappa to calculate real-world operational forecasts: Realized = Unconstrained * kappa, while active user presenze scales with the square root of kappa. We model six specific physical phenomena: 1. Direct Cannibalization: When machines are co-located or within 500m, volume is discounted up to -50% because customers are split without adding new bottles. 2. Cluster Saturation: In dense city centers with 8 or more machines within 3km, volume is discounted by -32%. 3. Corridor Fragmentation: In intense retail corridors with 20 to 30 grocery stores, shopping trips are fragmented (-8% to -14%). 4. Proximity Walk-in Format: Small urban markets under 400 sqm receive a -28% discount because pedestrians carry smaller bags. 5. Rural Monopoly Uplift: When a store is the sole supermarket in a town of under 150 inh/km2, it receives a massive +45% concentration boost (+20% for density under 400). 6. Southern Bulk Drop: In southern Italy (Nielsen Area 4) in rural areas, car-based shoppers accumulate huge batches at home, unlocking a +20% bulk multiplier (43.5 bottles per user). Finally, we output P25, P50, and P75 bounds so Coripet leadership can stress-test financial underwriting under worst-case and peak scenarios.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this translates into operational governance. Every prospective location is evaluated against 6 Objective Clearance Gates. The model automatically generates a Clearance Verdict: GO, CAUTION, or NO-GO. The two most critical gates are the Cannibalization Gate and the Economic Breakeven Gate. If a store is predicted to generate less than 120 bottles per day, the system issues a hard NO-GO rejection, saving Coripet tens of thousands of euros in unrecoverable CapEx. Rather than making unverified contract assumptions regarding store-level loyalty app integration, retail brand identity is evaluated as an advisory commercial synergy, keeping the 6 clearance gates 100% objective, verifiable, and fair to independent stores.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real-world empirical validation. An AI model is only as good as its field results. We took 17 actual retail locations across Italy—from Valle d'Aosta in the north to Sicily in the south—and compared our model's pre-installation forecast against live Power BI collection telemetry. Across the entire network, the model achieved an 80.3% median volume accuracy and an 81.6% active user accuracy. Even more impressively, our prediction of user deposit batch size—how many bottles each user brings—achieved 94.1% accuracy. On the slide, you can see our automated 2-graph dashboard: volume comparison on top, and store-by-store accuracy ranking on the bottom.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four illustrative case studies demonstrating different operational scenarios. Case 1: Conad Sarre in Aosta Valley. The model predicted 536.3 bottles per day; the actual was 540.0. That is a 99.3% accuracy rate. Case 2: Famila Pitigliano in Tuscany. This is a rural convenience store. The model predicted 82.4 b/d, and actual was 93.3 b/d (88.3% accuracy). Crucially, because this was below 120 b/d, the model flagged an automated NO-GO blocker, proving the clearance gate works. Case 3: Conad Mascali in Sicily. The model predicted 438 b/d, capturing the Year 1 resident baseline with 97.4% accuracy. It also flagged the summer coastal corridor effect, explaining why mature volume surged to 711 b/d in July and August. Case 4: Mondobrico in Piedmont. While municipal population is low, the store draws from the entire valley, while our per-user deposit batch model was 94.1% accurate.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the most fascinating discoveries from our research is the predictability of human recycling behavior. Total collection volume is simply active users multiplied by batch size. Look at this table on the right. Across completely different regions, our model predicted deposit batch size with over 94% accuracy. In Sicily, users store bottles at home and bring large batches—averaging 38.4 bottles per trip (we predicted 36.2). In Tuscany, users bring smaller batches—averaging 20.3 bottles per trip (we predicted 19.6). In Valle d'Aosta, users bring massive batches—43.2 bottles per trip (we predicted 43.3). This proves that consumer recycling habits are deeply structured and highly predictable.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crucial for our commercial sales team. Retail brand accounts for nearly 20% of the prediction weight. To test this, we ran an experiment on the exact same street address in Florence: Via Carlo del Prete, 520 square meters, 3 cash registers. When entered as Coop.fi, the model predicted 1,208 bottles per day and 56 active users, because Unicoop Firenze has massive loyalty card engagement. When entered as INDIPENDENTE, it predicted 965 b/d. When entered as a discount chain like Penny Market or Carrefour Express, volume dropped to ~350 b/d. This gives Coripet commercial negotiators tremendous power: we can prove to supermarket partners why active loyalty tie-ins are essential to maximize machine throughput.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Coripet's executive board, this slide summarizes the financial and operational ROI of the platform. First, CapEx protection: we completely eliminate unprofitable installations. Second, logistics efficiency: because we know the expected daily volume, our logistics team knows whether a machine needs servicing twice a week or once every two weeks, preventing full-bin downtime. Third, commercial power: when we meet retail leadership, we bring data-backed foot traffic forecasts that justify putting our machine at the main entrance instead of hidden behind the store. And fourth, PET material planning: our trading desk can sign firm off-take contracts with beverage bottlers with complete confidence in our supply curve.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an operational software perspective, everything has been built for immediate usability. Any expansion manager can open the command line and run `python -m src.model.predict`. It asks for the address, auto-detects the municipality, allows one-click store format selection, and produces a full investment summary report in under 2 seconds. Every test is automatically logged into our CSV and JSON registries, and our reporting scripts generate both interactive web dashboards and executive slides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forward, we have established a clear three-phase product roadmap. Horizon 1 introduces multi-year lifecycle horizon modeling: distinguishing between Year 1 launch underwriting and Year 2-3 mature network adoption, which accounts for natural app user growth. Horizon 2 creates an automated loop with our live IoT telemetry, allowing the neural net to recalibrate its weights weekly. And Horizon 3 connects our volume predictions directly into our truck dispatch software to optimize reverse logistics routes.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the Coripet RVM Predictor provides our company with a proven, data-driven shield against bad capital allocation. With an 80.3% median volume accuracy and 94% deposit behavior accuracy across 17 real stores, it is ready for operational adoption. Our recommendation today is to formally mandate this tool as a required step for all prospective retail agreements. Thank you for your time, and I welcome any questions or discussion from the team.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82B"/>
        </a:solidFill>
        <a:effectLst/>
      </p:bgPr>
    </p:bg>
    <p:spTree>
      <p:nvGrpSpPr>
        <p:cNvPr id="1" name=""/>
        <p:cNvGrpSpPr/>
        <p:nvPr/>
      </p:nvGrpSpPr>
      <p:grpSpPr/>
      <p:sp>
        <p:nvSpPr>
          <p:cNvPr id="2" name="Rectangle 1"/>
          <p:cNvSpPr/>
          <p:nvPr/>
        </p:nvSpPr>
        <p:spPr>
          <a:xfrm>
            <a:off x="731520" y="731520"/>
            <a:ext cx="182880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0698480" cy="2926080"/>
          </a:xfrm>
          <a:prstGeom prst="rect">
            <a:avLst/>
          </a:prstGeom>
          <a:noFill/>
        </p:spPr>
        <p:txBody>
          <a:bodyPr wrap="square">
            <a:spAutoFit/>
          </a:bodyPr>
          <a:lstStyle/>
          <a:p>
            <a:pPr>
              <a:spcAft>
                <a:spcPts val="1200"/>
              </a:spcAft>
              <a:defRPr sz="1200" b="1">
                <a:solidFill>
                  <a:srgbClr val="10B981"/>
                </a:solidFill>
              </a:defRPr>
            </a:pPr>
            <a:r>
              <a:t>CORIPET STRATEGIC NETWORK EXPANSION</a:t>
            </a:r>
          </a:p>
          <a:p>
            <a:pPr>
              <a:spcAft>
                <a:spcPts val="1400"/>
              </a:spcAft>
              <a:defRPr sz="3800" b="1">
                <a:solidFill>
                  <a:srgbClr val="FFFFFF"/>
                </a:solidFill>
              </a:defRPr>
            </a:pPr>
            <a:r>
              <a:t>AI-Powered RVM Predictor &amp;</a:t>
            </a:r>
            <a:br/>
            <a:r>
              <a:t>Spatial Siting Intelligence</a:t>
            </a:r>
          </a:p>
          <a:p>
            <a:pPr>
              <a:defRPr sz="1500">
                <a:solidFill>
                  <a:srgbClr val="94A3B8"/>
                </a:solidFill>
              </a:defRPr>
            </a:pPr>
            <a:r>
              <a:t>Predictive Machine Learning, Spatial Catchment Analytics &amp; 7-Gate Capital Risk Governance</a:t>
            </a:r>
          </a:p>
        </p:txBody>
      </p:sp>
      <p:sp>
        <p:nvSpPr>
          <p:cNvPr id="4" name="Rounded Rectangle 3"/>
          <p:cNvSpPr/>
          <p:nvPr/>
        </p:nvSpPr>
        <p:spPr>
          <a:xfrm>
            <a:off x="731520" y="4297680"/>
            <a:ext cx="3474720" cy="1188720"/>
          </a:xfrm>
          <a:prstGeom prst="roundRect">
            <a:avLst/>
          </a:prstGeom>
          <a:solidFill>
            <a:srgbClr val="142742"/>
          </a:solidFill>
          <a:ln w="12700">
            <a:solidFill>
              <a:srgbClr val="233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05840" y="4572000"/>
            <a:ext cx="164592" cy="16459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4462272"/>
            <a:ext cx="2743200" cy="822960"/>
          </a:xfrm>
          <a:prstGeom prst="rect">
            <a:avLst/>
          </a:prstGeom>
          <a:noFill/>
        </p:spPr>
        <p:txBody>
          <a:bodyPr wrap="square">
            <a:spAutoFit/>
          </a:bodyPr>
          <a:lstStyle/>
          <a:p>
            <a:pPr>
              <a:defRPr sz="1100" b="1">
                <a:solidFill>
                  <a:srgbClr val="FFFFFF"/>
                </a:solidFill>
              </a:defRPr>
            </a:pPr>
            <a:r>
              <a:t>34 FEATURES</a:t>
            </a:r>
          </a:p>
          <a:p>
            <a:pPr>
              <a:defRPr sz="1000">
                <a:solidFill>
                  <a:srgbClr val="94A3B8"/>
                </a:solidFill>
              </a:defRPr>
            </a:pPr>
            <a:r>
              <a:t>Multi-Task Neural Network</a:t>
            </a:r>
          </a:p>
        </p:txBody>
      </p:sp>
      <p:sp>
        <p:nvSpPr>
          <p:cNvPr id="7" name="Rounded Rectangle 6"/>
          <p:cNvSpPr/>
          <p:nvPr/>
        </p:nvSpPr>
        <p:spPr>
          <a:xfrm>
            <a:off x="4343400" y="4297680"/>
            <a:ext cx="3474720" cy="1188720"/>
          </a:xfrm>
          <a:prstGeom prst="roundRect">
            <a:avLst/>
          </a:prstGeom>
          <a:solidFill>
            <a:srgbClr val="142742"/>
          </a:solidFill>
          <a:ln w="12700">
            <a:solidFill>
              <a:srgbClr val="233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617720" y="4572000"/>
            <a:ext cx="164592" cy="164592"/>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92040" y="4462272"/>
            <a:ext cx="2743200" cy="822960"/>
          </a:xfrm>
          <a:prstGeom prst="rect">
            <a:avLst/>
          </a:prstGeom>
          <a:noFill/>
        </p:spPr>
        <p:txBody>
          <a:bodyPr wrap="square">
            <a:spAutoFit/>
          </a:bodyPr>
          <a:lstStyle/>
          <a:p>
            <a:pPr>
              <a:defRPr sz="1100" b="1">
                <a:solidFill>
                  <a:srgbClr val="FFFFFF"/>
                </a:solidFill>
              </a:defRPr>
            </a:pPr>
            <a:r>
              <a:t>6 CLEARANCE GATES</a:t>
            </a:r>
          </a:p>
          <a:p>
            <a:pPr>
              <a:defRPr sz="1000">
                <a:solidFill>
                  <a:srgbClr val="94A3B8"/>
                </a:solidFill>
              </a:defRPr>
            </a:pPr>
            <a:r>
              <a:t>Automated Go / No-Go Engine</a:t>
            </a:r>
          </a:p>
        </p:txBody>
      </p:sp>
      <p:sp>
        <p:nvSpPr>
          <p:cNvPr id="10" name="Rounded Rectangle 9"/>
          <p:cNvSpPr/>
          <p:nvPr/>
        </p:nvSpPr>
        <p:spPr>
          <a:xfrm>
            <a:off x="7955280" y="4297680"/>
            <a:ext cx="3474720" cy="1188720"/>
          </a:xfrm>
          <a:prstGeom prst="roundRect">
            <a:avLst/>
          </a:prstGeom>
          <a:solidFill>
            <a:srgbClr val="142742"/>
          </a:solidFill>
          <a:ln w="12700">
            <a:solidFill>
              <a:srgbClr val="233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229600" y="4572000"/>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0" y="4462272"/>
            <a:ext cx="2743200" cy="822960"/>
          </a:xfrm>
          <a:prstGeom prst="rect">
            <a:avLst/>
          </a:prstGeom>
          <a:noFill/>
        </p:spPr>
        <p:txBody>
          <a:bodyPr wrap="square">
            <a:spAutoFit/>
          </a:bodyPr>
          <a:lstStyle/>
          <a:p>
            <a:pPr>
              <a:defRPr sz="1100" b="1">
                <a:solidFill>
                  <a:srgbClr val="FFFFFF"/>
                </a:solidFill>
              </a:defRPr>
            </a:pPr>
            <a:r>
              <a:t>17 LIVE STORES</a:t>
            </a:r>
          </a:p>
          <a:p>
            <a:pPr>
              <a:defRPr sz="1000">
                <a:solidFill>
                  <a:srgbClr val="94A3B8"/>
                </a:solidFill>
              </a:defRPr>
            </a:pPr>
            <a:r>
              <a:t>80.3% Median Volume Accuracy</a:t>
            </a:r>
          </a:p>
        </p:txBody>
      </p:sp>
      <p:sp>
        <p:nvSpPr>
          <p:cNvPr id="13" name="TextBox 12"/>
          <p:cNvSpPr txBox="1"/>
          <p:nvPr/>
        </p:nvSpPr>
        <p:spPr>
          <a:xfrm>
            <a:off x="731520" y="5943600"/>
            <a:ext cx="10698480" cy="457200"/>
          </a:xfrm>
          <a:prstGeom prst="rect">
            <a:avLst/>
          </a:prstGeom>
          <a:noFill/>
        </p:spPr>
        <p:txBody>
          <a:bodyPr wrap="none">
            <a:spAutoFit/>
          </a:bodyPr>
          <a:lstStyle/>
          <a:p>
            <a:pPr>
              <a:defRPr sz="1000">
                <a:solidFill>
                  <a:srgbClr val="94A3B8"/>
                </a:solidFill>
              </a:defRPr>
            </a:pPr>
            <a:r>
              <a:t>Coripet S.r.l. | Internal Executive Presentation | CapEx Allocation &amp; Network Strategy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059669"/>
                </a:solidFill>
              </a:defRPr>
            </a:pPr>
            <a:r>
              <a:t>STRATEGIC CONTEXT</a:t>
            </a:r>
          </a:p>
          <a:p>
            <a:pPr>
              <a:defRPr sz="2100" b="1">
                <a:solidFill>
                  <a:srgbClr val="0F172A"/>
                </a:solidFill>
              </a:defRPr>
            </a:pPr>
            <a:r>
              <a:t>The Capital Allocation Dilemma: Why Siting Makes or Breaks ROI</a:t>
            </a:r>
          </a:p>
          <a:p>
            <a:pPr>
              <a:spcBef>
                <a:spcPts val="300"/>
              </a:spcBef>
              <a:defRPr sz="1100">
                <a:solidFill>
                  <a:srgbClr val="64748B"/>
                </a:solidFill>
              </a:defRPr>
            </a:pPr>
            <a:r>
              <a:t>Deploying RVMs without predictive underwriting creates capital loss, cannibalization, and logistics strain.</a:t>
            </a:r>
          </a:p>
        </p:txBody>
      </p:sp>
      <p:sp>
        <p:nvSpPr>
          <p:cNvPr id="3" name="Rounded Rectangle 2"/>
          <p:cNvSpPr/>
          <p:nvPr/>
        </p:nvSpPr>
        <p:spPr>
          <a:xfrm>
            <a:off x="731520" y="1645920"/>
            <a:ext cx="347472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 y="1920240"/>
            <a:ext cx="731520" cy="54864"/>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103120"/>
            <a:ext cx="2926080" cy="2651760"/>
          </a:xfrm>
          <a:prstGeom prst="rect">
            <a:avLst/>
          </a:prstGeom>
          <a:noFill/>
        </p:spPr>
        <p:txBody>
          <a:bodyPr wrap="square">
            <a:spAutoFit/>
          </a:bodyPr>
          <a:lstStyle/>
          <a:p>
            <a:pPr>
              <a:spcAft>
                <a:spcPts val="400"/>
              </a:spcAft>
              <a:defRPr sz="900" b="1">
                <a:solidFill>
                  <a:srgbClr val="EF4444"/>
                </a:solidFill>
              </a:defRPr>
            </a:pPr>
            <a:r>
              <a:t>SUB-SCALE MACHINES DRAIN VALUE</a:t>
            </a:r>
          </a:p>
          <a:p>
            <a:pPr>
              <a:spcAft>
                <a:spcPts val="800"/>
              </a:spcAft>
              <a:defRPr sz="1400" b="1">
                <a:solidFill>
                  <a:srgbClr val="0F172A"/>
                </a:solidFill>
              </a:defRPr>
            </a:pPr>
            <a:r>
              <a:t>The €25,000+ Misplacement Cost</a:t>
            </a:r>
          </a:p>
          <a:p>
            <a:pPr>
              <a:defRPr sz="1050">
                <a:solidFill>
                  <a:srgbClr val="64748B"/>
                </a:solidFill>
              </a:defRPr>
            </a:pPr>
            <a:r>
              <a:t>Each deployed RVM incurs hardware amortization, installation, and recurring servicing costs. A machine collecting below 120 bottles/day fails to cover operational breakeven, resulting in negative cash flow and stranded capital for 3 to 5 years.</a:t>
            </a:r>
          </a:p>
        </p:txBody>
      </p:sp>
      <p:sp>
        <p:nvSpPr>
          <p:cNvPr id="6" name="Rounded Rectangle 5"/>
          <p:cNvSpPr/>
          <p:nvPr/>
        </p:nvSpPr>
        <p:spPr>
          <a:xfrm>
            <a:off x="4343400" y="1645920"/>
            <a:ext cx="347472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617720" y="1920240"/>
            <a:ext cx="73152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2103120"/>
            <a:ext cx="2926080" cy="2651760"/>
          </a:xfrm>
          <a:prstGeom prst="rect">
            <a:avLst/>
          </a:prstGeom>
          <a:noFill/>
        </p:spPr>
        <p:txBody>
          <a:bodyPr wrap="square">
            <a:spAutoFit/>
          </a:bodyPr>
          <a:lstStyle/>
          <a:p>
            <a:pPr>
              <a:spcAft>
                <a:spcPts val="400"/>
              </a:spcAft>
              <a:defRPr sz="900" b="1">
                <a:solidFill>
                  <a:srgbClr val="F59E0B"/>
                </a:solidFill>
              </a:defRPr>
            </a:pPr>
            <a:r>
              <a:t>NEAR-ZERO INCREMENTAL NETWORK VOLUME</a:t>
            </a:r>
          </a:p>
          <a:p>
            <a:pPr>
              <a:spcAft>
                <a:spcPts val="800"/>
              </a:spcAft>
              <a:defRPr sz="1400" b="1">
                <a:solidFill>
                  <a:srgbClr val="0F172A"/>
                </a:solidFill>
              </a:defRPr>
            </a:pPr>
            <a:r>
              <a:t>The Self-Cannibalization Trap</a:t>
            </a:r>
          </a:p>
          <a:p>
            <a:pPr>
              <a:defRPr sz="1050">
                <a:solidFill>
                  <a:srgbClr val="64748B"/>
                </a:solidFill>
              </a:defRPr>
            </a:pPr>
            <a:r>
              <a:t>Deploying a machine too close to an existing Coripet location (e.g. 0m to 500m) splits recyclers across units. Rather than collecting new bottles, the new hardware cannibalizes 50% to 100% of the nearby unit's volume, doubling CapEx with zero network gain.</a:t>
            </a:r>
          </a:p>
        </p:txBody>
      </p:sp>
      <p:sp>
        <p:nvSpPr>
          <p:cNvPr id="9" name="Rounded Rectangle 8"/>
          <p:cNvSpPr/>
          <p:nvPr/>
        </p:nvSpPr>
        <p:spPr>
          <a:xfrm>
            <a:off x="7955280" y="1645920"/>
            <a:ext cx="347472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0" y="1920240"/>
            <a:ext cx="73152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103120"/>
            <a:ext cx="2926080" cy="2651760"/>
          </a:xfrm>
          <a:prstGeom prst="rect">
            <a:avLst/>
          </a:prstGeom>
          <a:noFill/>
        </p:spPr>
        <p:txBody>
          <a:bodyPr wrap="square">
            <a:spAutoFit/>
          </a:bodyPr>
          <a:lstStyle/>
          <a:p>
            <a:pPr>
              <a:spcAft>
                <a:spcPts val="400"/>
              </a:spcAft>
              <a:defRPr sz="900" b="1">
                <a:solidFill>
                  <a:srgbClr val="3B82F6"/>
                </a:solidFill>
              </a:defRPr>
            </a:pPr>
            <a:r>
              <a:t>INTUITION MISJUDGES REAL VELOCITY</a:t>
            </a:r>
          </a:p>
          <a:p>
            <a:pPr>
              <a:spcAft>
                <a:spcPts val="800"/>
              </a:spcAft>
              <a:defRPr sz="1400" b="1">
                <a:solidFill>
                  <a:srgbClr val="0F172A"/>
                </a:solidFill>
              </a:defRPr>
            </a:pPr>
            <a:r>
              <a:t>The 'Store Size' Fallacy</a:t>
            </a:r>
          </a:p>
          <a:p>
            <a:pPr>
              <a:defRPr sz="1050">
                <a:solidFill>
                  <a:srgbClr val="64748B"/>
                </a:solidFill>
              </a:defRPr>
            </a:pPr>
            <a:r>
              <a:t>A 1,600 m2 hypermarket in a rural area can collect less volume than a 500 m2 urban discount store. Real collection velocity is driven by municipal demographics, local loyalty alliance tie-ins, and competitive density—not physical floor area alone.</a:t>
            </a:r>
          </a:p>
        </p:txBody>
      </p:sp>
      <p:sp>
        <p:nvSpPr>
          <p:cNvPr id="12" name="Rounded Rectangle 11"/>
          <p:cNvSpPr/>
          <p:nvPr/>
        </p:nvSpPr>
        <p:spPr>
          <a:xfrm>
            <a:off x="731520" y="5166360"/>
            <a:ext cx="10698480" cy="1097280"/>
          </a:xfrm>
          <a:prstGeom prst="roundRect">
            <a:avLst/>
          </a:prstGeom>
          <a:solidFill>
            <a:srgbClr val="F0FDF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257800"/>
            <a:ext cx="10149840" cy="914400"/>
          </a:xfrm>
          <a:prstGeom prst="rect">
            <a:avLst/>
          </a:prstGeom>
          <a:noFill/>
        </p:spPr>
        <p:txBody>
          <a:bodyPr wrap="square">
            <a:spAutoFit/>
          </a:bodyPr>
          <a:lstStyle/>
          <a:p>
            <a:pPr>
              <a:defRPr sz="1000" b="1">
                <a:solidFill>
                  <a:srgbClr val="059669"/>
                </a:solidFill>
              </a:defRPr>
            </a:pPr>
            <a:r>
              <a:t>THE STRATEGIC SOLUTION: DATA-DRIVEN UNDERWRITING</a:t>
            </a:r>
          </a:p>
          <a:p>
            <a:pPr>
              <a:spcBef>
                <a:spcPts val="300"/>
              </a:spcBef>
              <a:defRPr sz="1100">
                <a:solidFill>
                  <a:srgbClr val="0F172A"/>
                </a:solidFill>
              </a:defRPr>
            </a:pPr>
            <a:r>
              <a:t>We built the Coripet RVM Predictor to transform prospective site evaluation into an automated, scientific screening process: forecasting daily bottles, active users, logistics servicing rhythm, and clearance gates before committing CapEx.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059669"/>
                </a:solidFill>
              </a:defRPr>
            </a:pPr>
            <a:r>
              <a:t>SYSTEM ARCHITECTURE</a:t>
            </a:r>
          </a:p>
          <a:p>
            <a:pPr>
              <a:defRPr sz="2100" b="1">
                <a:solidFill>
                  <a:srgbClr val="0F172A"/>
                </a:solidFill>
              </a:defRPr>
            </a:pPr>
            <a:r>
              <a:t>The 4-Level Siting Intelligence Pipeline</a:t>
            </a:r>
          </a:p>
          <a:p>
            <a:pPr>
              <a:spcBef>
                <a:spcPts val="300"/>
              </a:spcBef>
              <a:defRPr sz="1100">
                <a:solidFill>
                  <a:srgbClr val="64748B"/>
                </a:solidFill>
              </a:defRPr>
            </a:pPr>
            <a:r>
              <a:t>Synthesizing census demographics, store mechanics, brand loyalty, and spatial gravity.</a:t>
            </a:r>
          </a:p>
        </p:txBody>
      </p:sp>
      <p:sp>
        <p:nvSpPr>
          <p:cNvPr id="3" name="Rounded Rectangle 2"/>
          <p:cNvSpPr/>
          <p:nvPr/>
        </p:nvSpPr>
        <p:spPr>
          <a:xfrm>
            <a:off x="731520" y="1645920"/>
            <a:ext cx="260604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828800"/>
            <a:ext cx="1005840" cy="3200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LEVEL 1</a:t>
            </a:r>
          </a:p>
        </p:txBody>
      </p:sp>
      <p:sp>
        <p:nvSpPr>
          <p:cNvPr id="5" name="TextBox 4"/>
          <p:cNvSpPr txBox="1"/>
          <p:nvPr/>
        </p:nvSpPr>
        <p:spPr>
          <a:xfrm>
            <a:off x="914400" y="2240280"/>
            <a:ext cx="2240280" cy="3931920"/>
          </a:xfrm>
          <a:prstGeom prst="rect">
            <a:avLst/>
          </a:prstGeom>
          <a:noFill/>
        </p:spPr>
        <p:txBody>
          <a:bodyPr wrap="square">
            <a:spAutoFit/>
          </a:bodyPr>
          <a:lstStyle/>
          <a:p>
            <a:pPr>
              <a:spcAft>
                <a:spcPts val="200"/>
              </a:spcAft>
              <a:defRPr sz="1300" b="1">
                <a:solidFill>
                  <a:srgbClr val="0F172A"/>
                </a:solidFill>
              </a:defRPr>
            </a:pPr>
            <a:r>
              <a:t>Geospatial &amp; Demographics</a:t>
            </a:r>
          </a:p>
          <a:p>
            <a:pPr>
              <a:spcAft>
                <a:spcPts val="1000"/>
              </a:spcAft>
              <a:defRPr sz="850" b="1">
                <a:solidFill>
                  <a:srgbClr val="64748B"/>
                </a:solidFill>
              </a:defRPr>
            </a:pPr>
            <a:r>
              <a:t>RESOLUTION ENGINE</a:t>
            </a:r>
          </a:p>
          <a:p>
            <a:pPr>
              <a:spcAft>
                <a:spcPts val="600"/>
              </a:spcAft>
              <a:defRPr sz="950">
                <a:solidFill>
                  <a:srgbClr val="64748B"/>
                </a:solidFill>
              </a:defRPr>
            </a:pPr>
            <a:r>
              <a:t>• Multi-municipality CAP resolution across 8,000+ Italian comuni</a:t>
            </a:r>
          </a:p>
          <a:p>
            <a:pPr>
              <a:spcAft>
                <a:spcPts val="600"/>
              </a:spcAft>
              <a:defRPr sz="950">
                <a:solidFill>
                  <a:srgbClr val="64748B"/>
                </a:solidFill>
              </a:defRPr>
            </a:pPr>
            <a:r>
              <a:t>• Municipal census population &amp; density (ISTAT)</a:t>
            </a:r>
          </a:p>
          <a:p>
            <a:pPr>
              <a:spcAft>
                <a:spcPts val="600"/>
              </a:spcAft>
              <a:defRPr sz="950">
                <a:solidFill>
                  <a:srgbClr val="64748B"/>
                </a:solidFill>
              </a:defRPr>
            </a:pPr>
            <a:r>
              <a:t>• Provincial GDP &amp; per-capita purchasing power</a:t>
            </a:r>
          </a:p>
          <a:p>
            <a:pPr>
              <a:spcAft>
                <a:spcPts val="600"/>
              </a:spcAft>
              <a:defRPr sz="950">
                <a:solidFill>
                  <a:srgbClr val="64748B"/>
                </a:solidFill>
              </a:defRPr>
            </a:pPr>
            <a:r>
              <a:t>• Street-level address geocoding &amp; fallback centroids</a:t>
            </a:r>
          </a:p>
        </p:txBody>
      </p:sp>
      <p:sp>
        <p:nvSpPr>
          <p:cNvPr id="6" name="Rounded Rectangle 5"/>
          <p:cNvSpPr/>
          <p:nvPr/>
        </p:nvSpPr>
        <p:spPr>
          <a:xfrm>
            <a:off x="3429000" y="1645920"/>
            <a:ext cx="260604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11880" y="1828800"/>
            <a:ext cx="1005840" cy="32004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LEVEL 2</a:t>
            </a:r>
          </a:p>
        </p:txBody>
      </p:sp>
      <p:sp>
        <p:nvSpPr>
          <p:cNvPr id="8" name="TextBox 7"/>
          <p:cNvSpPr txBox="1"/>
          <p:nvPr/>
        </p:nvSpPr>
        <p:spPr>
          <a:xfrm>
            <a:off x="3611880" y="2240280"/>
            <a:ext cx="2240280" cy="3931920"/>
          </a:xfrm>
          <a:prstGeom prst="rect">
            <a:avLst/>
          </a:prstGeom>
          <a:noFill/>
        </p:spPr>
        <p:txBody>
          <a:bodyPr wrap="square">
            <a:spAutoFit/>
          </a:bodyPr>
          <a:lstStyle/>
          <a:p>
            <a:pPr>
              <a:spcAft>
                <a:spcPts val="200"/>
              </a:spcAft>
              <a:defRPr sz="1300" b="1">
                <a:solidFill>
                  <a:srgbClr val="0F172A"/>
                </a:solidFill>
              </a:defRPr>
            </a:pPr>
            <a:r>
              <a:t>Store Scale &amp; Footfall Proxy</a:t>
            </a:r>
          </a:p>
          <a:p>
            <a:pPr>
              <a:spcAft>
                <a:spcPts val="1000"/>
              </a:spcAft>
              <a:defRPr sz="850" b="1">
                <a:solidFill>
                  <a:srgbClr val="64748B"/>
                </a:solidFill>
              </a:defRPr>
            </a:pPr>
            <a:r>
              <a:t>PHYSICAL MECHANICS</a:t>
            </a:r>
          </a:p>
          <a:p>
            <a:pPr>
              <a:spcAft>
                <a:spcPts val="600"/>
              </a:spcAft>
              <a:defRPr sz="950">
                <a:solidFill>
                  <a:srgbClr val="64748B"/>
                </a:solidFill>
              </a:defRPr>
            </a:pPr>
            <a:r>
              <a:t>• Sales area floorplan (m2) &amp; checkout count</a:t>
            </a:r>
          </a:p>
          <a:p>
            <a:pPr>
              <a:spcAft>
                <a:spcPts val="600"/>
              </a:spcAft>
              <a:defRPr sz="950">
                <a:solidFill>
                  <a:srgbClr val="64748B"/>
                </a:solidFill>
              </a:defRPr>
            </a:pPr>
            <a:r>
              <a:t>• Format classification (LIS, SUP, IPR, DIS)</a:t>
            </a:r>
          </a:p>
          <a:p>
            <a:pPr>
              <a:spcAft>
                <a:spcPts val="600"/>
              </a:spcAft>
              <a:defRPr sz="950">
                <a:solidFill>
                  <a:srgbClr val="64748B"/>
                </a:solidFill>
              </a:defRPr>
            </a:pPr>
            <a:r>
              <a:t>• Auto-estimation engine if store dimensions are omitted</a:t>
            </a:r>
          </a:p>
          <a:p>
            <a:pPr>
              <a:spcAft>
                <a:spcPts val="600"/>
              </a:spcAft>
              <a:defRPr sz="950">
                <a:solidFill>
                  <a:srgbClr val="64748B"/>
                </a:solidFill>
              </a:defRPr>
            </a:pPr>
            <a:r>
              <a:t>• Hourly customer foot-traffic capacity proxies</a:t>
            </a:r>
          </a:p>
        </p:txBody>
      </p:sp>
      <p:sp>
        <p:nvSpPr>
          <p:cNvPr id="9" name="Rounded Rectangle 8"/>
          <p:cNvSpPr/>
          <p:nvPr/>
        </p:nvSpPr>
        <p:spPr>
          <a:xfrm>
            <a:off x="6126480" y="1645920"/>
            <a:ext cx="260604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09360" y="1828800"/>
            <a:ext cx="1005840" cy="3200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LEVEL 3</a:t>
            </a:r>
          </a:p>
        </p:txBody>
      </p:sp>
      <p:sp>
        <p:nvSpPr>
          <p:cNvPr id="11" name="TextBox 10"/>
          <p:cNvSpPr txBox="1"/>
          <p:nvPr/>
        </p:nvSpPr>
        <p:spPr>
          <a:xfrm>
            <a:off x="6309360" y="2240280"/>
            <a:ext cx="2240280" cy="3931920"/>
          </a:xfrm>
          <a:prstGeom prst="rect">
            <a:avLst/>
          </a:prstGeom>
          <a:noFill/>
        </p:spPr>
        <p:txBody>
          <a:bodyPr wrap="square">
            <a:spAutoFit/>
          </a:bodyPr>
          <a:lstStyle/>
          <a:p>
            <a:pPr>
              <a:spcAft>
                <a:spcPts val="200"/>
              </a:spcAft>
              <a:defRPr sz="1300" b="1">
                <a:solidFill>
                  <a:srgbClr val="0F172A"/>
                </a:solidFill>
              </a:defRPr>
            </a:pPr>
            <a:r>
              <a:t>Retail Groups &amp; Alliances</a:t>
            </a:r>
          </a:p>
          <a:p>
            <a:pPr>
              <a:spcAft>
                <a:spcPts val="1000"/>
              </a:spcAft>
              <a:defRPr sz="850" b="1">
                <a:solidFill>
                  <a:srgbClr val="64748B"/>
                </a:solidFill>
              </a:defRPr>
            </a:pPr>
            <a:r>
              <a:t>BRAND MULTIPLIERS</a:t>
            </a:r>
          </a:p>
          <a:p>
            <a:pPr>
              <a:spcAft>
                <a:spcPts val="600"/>
              </a:spcAft>
              <a:defRPr sz="950">
                <a:solidFill>
                  <a:srgbClr val="64748B"/>
                </a:solidFill>
              </a:defRPr>
            </a:pPr>
            <a:r>
              <a:t>• 24 Italian retail buying groups (Conad, Coop, Selex, etc.)</a:t>
            </a:r>
          </a:p>
          <a:p>
            <a:pPr>
              <a:spcAft>
                <a:spcPts val="600"/>
              </a:spcAft>
              <a:defRPr sz="950">
                <a:solidFill>
                  <a:srgbClr val="64748B"/>
                </a:solidFill>
              </a:defRPr>
            </a:pPr>
            <a:r>
              <a:t>• High-dimensional entity embeddings for retail banners</a:t>
            </a:r>
          </a:p>
          <a:p>
            <a:pPr>
              <a:spcAft>
                <a:spcPts val="600"/>
              </a:spcAft>
              <a:defRPr sz="950">
                <a:solidFill>
                  <a:srgbClr val="64748B"/>
                </a:solidFill>
              </a:defRPr>
            </a:pPr>
            <a:r>
              <a:t>• Nielsen territorial marketing areas (Area 1, 2, 3, 4)</a:t>
            </a:r>
          </a:p>
          <a:p>
            <a:pPr>
              <a:spcAft>
                <a:spcPts val="600"/>
              </a:spcAft>
              <a:defRPr sz="950">
                <a:solidFill>
                  <a:srgbClr val="64748B"/>
                </a:solidFill>
              </a:defRPr>
            </a:pPr>
            <a:r>
              <a:t>• Supermarket loyalty card tie-ins &amp; voucher incentives</a:t>
            </a:r>
          </a:p>
        </p:txBody>
      </p:sp>
      <p:sp>
        <p:nvSpPr>
          <p:cNvPr id="12" name="Rounded Rectangle 11"/>
          <p:cNvSpPr/>
          <p:nvPr/>
        </p:nvSpPr>
        <p:spPr>
          <a:xfrm>
            <a:off x="8823960" y="1645920"/>
            <a:ext cx="260604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006840" y="1828800"/>
            <a:ext cx="100584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LEVEL 4</a:t>
            </a:r>
          </a:p>
        </p:txBody>
      </p:sp>
      <p:sp>
        <p:nvSpPr>
          <p:cNvPr id="14" name="TextBox 13"/>
          <p:cNvSpPr txBox="1"/>
          <p:nvPr/>
        </p:nvSpPr>
        <p:spPr>
          <a:xfrm>
            <a:off x="9006840" y="2240280"/>
            <a:ext cx="2240280" cy="3931920"/>
          </a:xfrm>
          <a:prstGeom prst="rect">
            <a:avLst/>
          </a:prstGeom>
          <a:noFill/>
        </p:spPr>
        <p:txBody>
          <a:bodyPr wrap="square">
            <a:spAutoFit/>
          </a:bodyPr>
          <a:lstStyle/>
          <a:p>
            <a:pPr>
              <a:spcAft>
                <a:spcPts val="200"/>
              </a:spcAft>
              <a:defRPr sz="1300" b="1">
                <a:solidFill>
                  <a:srgbClr val="0F172A"/>
                </a:solidFill>
              </a:defRPr>
            </a:pPr>
            <a:r>
              <a:t>Spatial Catchment &amp; Gravity</a:t>
            </a:r>
          </a:p>
          <a:p>
            <a:pPr>
              <a:spcAft>
                <a:spcPts val="1000"/>
              </a:spcAft>
              <a:defRPr sz="850" b="1">
                <a:solidFill>
                  <a:srgbClr val="64748B"/>
                </a:solidFill>
              </a:defRPr>
            </a:pPr>
            <a:r>
              <a:t>COMPETITIVE DENSITY</a:t>
            </a:r>
          </a:p>
          <a:p>
            <a:pPr>
              <a:spcAft>
                <a:spcPts val="600"/>
              </a:spcAft>
              <a:defRPr sz="950">
                <a:solidFill>
                  <a:srgbClr val="64748B"/>
                </a:solidFill>
              </a:defRPr>
            </a:pPr>
            <a:r>
              <a:t>• Voronoi / KD-Tree nearest Coripet distance calculation</a:t>
            </a:r>
          </a:p>
          <a:p>
            <a:pPr>
              <a:spcAft>
                <a:spcPts val="600"/>
              </a:spcAft>
              <a:defRPr sz="950">
                <a:solidFill>
                  <a:srgbClr val="64748B"/>
                </a:solidFill>
              </a:defRPr>
            </a:pPr>
            <a:r>
              <a:t>• Exponential cannibalization decay (0m to 500m penalty)</a:t>
            </a:r>
          </a:p>
          <a:p>
            <a:pPr>
              <a:spcAft>
                <a:spcPts val="600"/>
              </a:spcAft>
              <a:defRPr sz="950">
                <a:solidFill>
                  <a:srgbClr val="64748B"/>
                </a:solidFill>
              </a:defRPr>
            </a:pPr>
            <a:r>
              <a:t>• Competitive grocery density in 1km, 3km, 5km rings</a:t>
            </a:r>
          </a:p>
          <a:p>
            <a:pPr>
              <a:spcAft>
                <a:spcPts val="600"/>
              </a:spcAft>
              <a:defRPr sz="950">
                <a:solidFill>
                  <a:srgbClr val="64748B"/>
                </a:solidFill>
              </a:defRPr>
            </a:pPr>
            <a:r>
              <a:t>• Monopoly hub concentration uplift (+20% for sole grocery)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059669"/>
                </a:solidFill>
              </a:defRPr>
            </a:pPr>
            <a:r>
              <a:t>DEEP LEARNING CORE</a:t>
            </a:r>
          </a:p>
          <a:p>
            <a:pPr>
              <a:defRPr sz="2100" b="1">
                <a:solidFill>
                  <a:srgbClr val="0F172A"/>
                </a:solidFill>
              </a:defRPr>
            </a:pPr>
            <a:r>
              <a:t>MultiTaskRVMNet: Joint Volume &amp; Footfall Prediction</a:t>
            </a:r>
          </a:p>
          <a:p>
            <a:pPr>
              <a:spcBef>
                <a:spcPts val="300"/>
              </a:spcBef>
              <a:defRPr sz="1100">
                <a:solidFill>
                  <a:srgbClr val="64748B"/>
                </a:solidFill>
              </a:defRPr>
            </a:pPr>
            <a:r>
              <a:t>Simultaneously predicting daily bottle collections and active unique recyclers.</a:t>
            </a:r>
          </a:p>
        </p:txBody>
      </p:sp>
      <p:sp>
        <p:nvSpPr>
          <p:cNvPr id="3" name="Rounded Rectangle 2"/>
          <p:cNvSpPr/>
          <p:nvPr/>
        </p:nvSpPr>
        <p:spPr>
          <a:xfrm>
            <a:off x="731520" y="164592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4663440" cy="4297680"/>
          </a:xfrm>
          <a:prstGeom prst="rect">
            <a:avLst/>
          </a:prstGeom>
          <a:noFill/>
        </p:spPr>
        <p:txBody>
          <a:bodyPr wrap="square">
            <a:spAutoFit/>
          </a:bodyPr>
          <a:lstStyle/>
          <a:p>
            <a:pPr>
              <a:spcAft>
                <a:spcPts val="400"/>
              </a:spcAft>
              <a:defRPr sz="1000" b="1">
                <a:solidFill>
                  <a:srgbClr val="059669"/>
                </a:solidFill>
              </a:defRPr>
            </a:pPr>
            <a:r>
              <a:t>MULTI-TASK PYTORCH ARCHITECTURE</a:t>
            </a:r>
          </a:p>
          <a:p>
            <a:pPr>
              <a:spcAft>
                <a:spcPts val="800"/>
              </a:spcAft>
              <a:defRPr sz="1600" b="1">
                <a:solidFill>
                  <a:srgbClr val="0F172A"/>
                </a:solidFill>
              </a:defRPr>
            </a:pPr>
            <a:r>
              <a:t>Why Multi-Task Learning?</a:t>
            </a:r>
          </a:p>
          <a:p>
            <a:pPr>
              <a:spcAft>
                <a:spcPts val="1000"/>
              </a:spcAft>
              <a:defRPr sz="1000">
                <a:solidFill>
                  <a:srgbClr val="64748B"/>
                </a:solidFill>
              </a:defRPr>
            </a:pPr>
            <a:r>
              <a:t>Instead of predicting volume in isolation, our neural network models the underlying mechanics of consumer behavior through two coupled task heads:</a:t>
            </a:r>
          </a:p>
          <a:p>
            <a:pPr>
              <a:defRPr sz="1100" b="1">
                <a:solidFill>
                  <a:srgbClr val="3B82F6"/>
                </a:solidFill>
              </a:defRPr>
            </a:pPr>
            <a:r>
              <a:t>Head 1: Realized Daily Bottles (Bottiglie/giorno)</a:t>
            </a:r>
          </a:p>
          <a:p>
            <a:pPr>
              <a:spcAft>
                <a:spcPts val="800"/>
              </a:spcAft>
              <a:defRPr sz="950">
                <a:solidFill>
                  <a:srgbClr val="64748B"/>
                </a:solidFill>
              </a:defRPr>
            </a:pPr>
            <a:r>
              <a:t>Forecasts total daily collection volume for bin sizing, logistics planning, and material off-take contracts.</a:t>
            </a:r>
          </a:p>
          <a:p>
            <a:pPr>
              <a:defRPr sz="1100" b="1">
                <a:solidFill>
                  <a:srgbClr val="8B5CF6"/>
                </a:solidFill>
              </a:defRPr>
            </a:pPr>
            <a:r>
              <a:t>Head 2: Active Daily Recyclers (Presenze/giorno)</a:t>
            </a:r>
          </a:p>
          <a:p>
            <a:pPr>
              <a:spcAft>
                <a:spcPts val="1000"/>
              </a:spcAft>
              <a:defRPr sz="950">
                <a:solidFill>
                  <a:srgbClr val="64748B"/>
                </a:solidFill>
              </a:defRPr>
            </a:pPr>
            <a:r>
              <a:t>Forecasts unique daily app users making deposits, unlocking consumer engagement metrics and batch size analysis.</a:t>
            </a:r>
          </a:p>
          <a:p>
            <a:pPr>
              <a:defRPr sz="950" b="1">
                <a:solidFill>
                  <a:srgbClr val="0F172A"/>
                </a:solidFill>
              </a:defRPr>
            </a:pPr>
            <a:r>
              <a:t>Core Features: 34 structured inputs, dense entity embeddings for retail banners and groups, batch normalization, and dropout regularization.</a:t>
            </a:r>
          </a:p>
        </p:txBody>
      </p:sp>
      <p:sp>
        <p:nvSpPr>
          <p:cNvPr id="5" name="Rounded Rectangle 4"/>
          <p:cNvSpPr/>
          <p:nvPr/>
        </p:nvSpPr>
        <p:spPr>
          <a:xfrm>
            <a:off x="6217920" y="164592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828800"/>
            <a:ext cx="4663440" cy="4297680"/>
          </a:xfrm>
          <a:prstGeom prst="rect">
            <a:avLst/>
          </a:prstGeom>
          <a:noFill/>
        </p:spPr>
        <p:txBody>
          <a:bodyPr wrap="square">
            <a:spAutoFit/>
          </a:bodyPr>
          <a:lstStyle/>
          <a:p>
            <a:pPr>
              <a:spcAft>
                <a:spcPts val="400"/>
              </a:spcAft>
              <a:defRPr sz="1000" b="1">
                <a:solidFill>
                  <a:srgbClr val="3B82F6"/>
                </a:solidFill>
              </a:defRPr>
            </a:pPr>
            <a:r>
              <a:t>DESEASONALIZED STEADY-STATE EVALUATION</a:t>
            </a:r>
          </a:p>
          <a:p>
            <a:pPr>
              <a:spcAft>
                <a:spcPts val="800"/>
              </a:spcAft>
              <a:defRPr sz="1600" b="1">
                <a:solidFill>
                  <a:srgbClr val="0F172A"/>
                </a:solidFill>
              </a:defRPr>
            </a:pPr>
            <a:r>
              <a:t>The 84-Day Simulation Grid</a:t>
            </a:r>
          </a:p>
          <a:p>
            <a:pPr>
              <a:spcAft>
                <a:spcPts val="1000"/>
              </a:spcAft>
              <a:defRPr sz="1000">
                <a:solidFill>
                  <a:srgbClr val="64748B"/>
                </a:solidFill>
              </a:defRPr>
            </a:pPr>
            <a:r>
              <a:t>A single-day point prediction is vulnerable to seasonal and day-of-week distortion. To provide reliable investment underwriting, our inference engine runs an 84-day simulation matrix:</a:t>
            </a:r>
          </a:p>
          <a:p>
            <a:pPr>
              <a:spcAft>
                <a:spcPts val="600"/>
              </a:spcAft>
              <a:defRPr sz="1000" b="1">
                <a:solidFill>
                  <a:srgbClr val="64748B"/>
                </a:solidFill>
              </a:defRPr>
            </a:pPr>
            <a:r>
              <a:t>• 12 Calendar Months Simulated: </a:t>
            </a:r>
            <a:r>
              <a:t>Models seasonal hydration curves: winter baselines vs. peak summer beverage consumption (+15% to +25%).</a:t>
            </a:r>
          </a:p>
          <a:p>
            <a:pPr>
              <a:spcAft>
                <a:spcPts val="600"/>
              </a:spcAft>
              <a:defRPr sz="1000" b="1">
                <a:solidFill>
                  <a:srgbClr val="64748B"/>
                </a:solidFill>
              </a:defRPr>
            </a:pPr>
            <a:r>
              <a:t>• 7 Days of the Week Marginalized: </a:t>
            </a:r>
            <a:r>
              <a:t>Captures grocery shopping rhythms: peak Saturday grocery visits vs. midweek baseline dips.</a:t>
            </a:r>
          </a:p>
          <a:p>
            <a:pPr>
              <a:spcAft>
                <a:spcPts val="600"/>
              </a:spcAft>
              <a:defRPr sz="1000" b="1">
                <a:solidFill>
                  <a:srgbClr val="64748B"/>
                </a:solidFill>
              </a:defRPr>
            </a:pPr>
            <a:r>
              <a:t>• Arithmetic Mean &amp; 50th Percentile Median: </a:t>
            </a:r>
            <a:r>
              <a:t>Reports both arithmetic mean (for annual cash flow budgeting) and median (for realistic daily operational baseline).</a:t>
            </a:r>
          </a:p>
          <a:p>
            <a:pPr>
              <a:spcAft>
                <a:spcPts val="600"/>
              </a:spcAft>
              <a:defRPr sz="1000" b="1">
                <a:solidFill>
                  <a:srgbClr val="64748B"/>
                </a:solidFill>
              </a:defRPr>
            </a:pPr>
            <a:r>
              <a:t>• Statistical Capacity Quantiles: </a:t>
            </a:r>
            <a:r>
              <a:t>Calculates conservative floor (P25) and optimistic peak ceiling (P75) to stress-test financial projections.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059669"/>
                </a:solidFill>
              </a:defRPr>
            </a:pPr>
            <a:r>
              <a:t>CATCHMENT PHYSICS &amp; SPATIAL DILUTION</a:t>
            </a:r>
          </a:p>
          <a:p>
            <a:pPr>
              <a:defRPr sz="2100" b="1">
                <a:solidFill>
                  <a:srgbClr val="0F172A"/>
                </a:solidFill>
              </a:defRPr>
            </a:pPr>
            <a:r>
              <a:t>Catchment Realization &amp; Monopoly Physics Layer</a:t>
            </a:r>
          </a:p>
          <a:p>
            <a:pPr>
              <a:spcBef>
                <a:spcPts val="300"/>
              </a:spcBef>
              <a:defRPr sz="1100">
                <a:solidFill>
                  <a:srgbClr val="64748B"/>
                </a:solidFill>
              </a:defRPr>
            </a:pPr>
            <a:r>
              <a:t>Converts theoretical unconstrained potential into net realized operational forecasts.</a:t>
            </a:r>
          </a:p>
        </p:txBody>
      </p:sp>
      <p:sp>
        <p:nvSpPr>
          <p:cNvPr id="3" name="Rounded Rectangle 2"/>
          <p:cNvSpPr/>
          <p:nvPr/>
        </p:nvSpPr>
        <p:spPr>
          <a:xfrm>
            <a:off x="731520" y="1298448"/>
            <a:ext cx="10698480" cy="347472"/>
          </a:xfrm>
          <a:prstGeom prst="roundRect">
            <a:avLst/>
          </a:prstGeom>
          <a:solidFill>
            <a:srgbClr val="F0FDF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07592"/>
            <a:ext cx="10332720" cy="329184"/>
          </a:xfrm>
          <a:prstGeom prst="rect">
            <a:avLst/>
          </a:prstGeom>
          <a:noFill/>
        </p:spPr>
        <p:txBody>
          <a:bodyPr wrap="square">
            <a:spAutoFit/>
          </a:bodyPr>
          <a:lstStyle/>
          <a:p>
            <a:pPr algn="ctr">
              <a:defRPr sz="950" b="1">
                <a:solidFill>
                  <a:srgbClr val="059669"/>
                </a:solidFill>
              </a:defRPr>
            </a:pPr>
            <a:r>
              <a:t>MATHEMATICAL REALIZATION PHYSICS:  Realized Volume = Unconstrained × κ   |   Realized Active Users = Unconstrained × √κ   |   Net Factor: κ</a:t>
            </a:r>
          </a:p>
        </p:txBody>
      </p:sp>
      <p:graphicFrame>
        <p:nvGraphicFramePr>
          <p:cNvPr id="5" name="Table 4"/>
          <p:cNvGraphicFramePr>
            <a:graphicFrameLocks noGrp="1"/>
          </p:cNvGraphicFramePr>
          <p:nvPr/>
        </p:nvGraphicFramePr>
        <p:xfrm>
          <a:off x="731520" y="1719072"/>
          <a:ext cx="10698480" cy="3977639"/>
        </p:xfrm>
        <a:graphic>
          <a:graphicData uri="http://schemas.openxmlformats.org/drawingml/2006/table">
            <a:tbl>
              <a:tblPr firstRow="1" bandRow="1">
                <a:tableStyleId>{5C22544A-7EE6-4342-B048-85BDC9FD1C3A}</a:tableStyleId>
              </a:tblPr>
              <a:tblGrid>
                <a:gridCol w="2011680"/>
                <a:gridCol w="2468880"/>
                <a:gridCol w="2011680"/>
                <a:gridCol w="4206240"/>
              </a:tblGrid>
              <a:tr h="568234">
                <a:tc>
                  <a:txBody>
                    <a:bodyPr/>
                    <a:lstStyle/>
                    <a:p>
                      <a:pPr>
                        <a:defRPr sz="950" b="1">
                          <a:solidFill>
                            <a:srgbClr val="FFFFFF"/>
                          </a:solidFill>
                        </a:defRPr>
                      </a:pPr>
                      <a:r>
                        <a:t>Realization Component</a:t>
                      </a:r>
                    </a:p>
                  </a:txBody>
                  <a:tcPr>
                    <a:solidFill>
                      <a:srgbClr val="142742"/>
                    </a:solidFill>
                  </a:tcPr>
                </a:tc>
                <a:tc>
                  <a:txBody>
                    <a:bodyPr/>
                    <a:lstStyle/>
                    <a:p>
                      <a:pPr algn="ctr">
                        <a:defRPr sz="950" b="1">
                          <a:solidFill>
                            <a:srgbClr val="FFFFFF"/>
                          </a:solidFill>
                        </a:defRPr>
                      </a:pPr>
                      <a:r>
                        <a:t>Condition / Trigger</a:t>
                      </a:r>
                    </a:p>
                  </a:txBody>
                  <a:tcPr>
                    <a:solidFill>
                      <a:srgbClr val="142742"/>
                    </a:solidFill>
                  </a:tcPr>
                </a:tc>
                <a:tc>
                  <a:txBody>
                    <a:bodyPr/>
                    <a:lstStyle/>
                    <a:p>
                      <a:pPr algn="ctr">
                        <a:defRPr sz="950" b="1">
                          <a:solidFill>
                            <a:srgbClr val="FFFFFF"/>
                          </a:solidFill>
                        </a:defRPr>
                      </a:pPr>
                      <a:r>
                        <a:t>Impact on Collection Volume (κ)</a:t>
                      </a:r>
                    </a:p>
                  </a:txBody>
                  <a:tcPr>
                    <a:solidFill>
                      <a:srgbClr val="142742"/>
                    </a:solidFill>
                  </a:tcPr>
                </a:tc>
                <a:tc>
                  <a:txBody>
                    <a:bodyPr/>
                    <a:lstStyle/>
                    <a:p>
                      <a:pPr>
                        <a:defRPr sz="950" b="1">
                          <a:solidFill>
                            <a:srgbClr val="FFFFFF"/>
                          </a:solidFill>
                        </a:defRPr>
                      </a:pPr>
                      <a:r>
                        <a:t>Underwriting Rationale</a:t>
                      </a:r>
                    </a:p>
                  </a:txBody>
                  <a:tcPr>
                    <a:solidFill>
                      <a:srgbClr val="142742"/>
                    </a:solidFill>
                  </a:tcPr>
                </a:tc>
              </a:tr>
              <a:tr h="568234">
                <a:tc>
                  <a:txBody>
                    <a:bodyPr/>
                    <a:lstStyle/>
                    <a:p>
                      <a:pPr>
                        <a:defRPr sz="950" b="1">
                          <a:solidFill>
                            <a:srgbClr val="0F172A"/>
                          </a:solidFill>
                        </a:defRPr>
                      </a:pPr>
                      <a:r>
                        <a:t>Direct Cannibalization</a:t>
                      </a:r>
                    </a:p>
                  </a:txBody>
                  <a:tcPr>
                    <a:solidFill>
                      <a:srgbClr val="FFFFFF"/>
                    </a:solidFill>
                  </a:tcPr>
                </a:tc>
                <a:tc>
                  <a:txBody>
                    <a:bodyPr/>
                    <a:lstStyle/>
                    <a:p>
                      <a:pPr>
                        <a:defRPr sz="850">
                          <a:solidFill>
                            <a:srgbClr val="0F172A"/>
                          </a:solidFill>
                        </a:defRPr>
                      </a:pPr>
                      <a:r>
                        <a:t>• Distance &lt;= 0.1 km (0m) / Co-located</a:t>
                      </a:r>
                      <a:br/>
                      <a:r>
                        <a:t>• Distance &lt;= 0.5 km</a:t>
                      </a:r>
                      <a:br/>
                      <a:r>
                        <a:t>• Distance &lt;= 1.0 km</a:t>
                      </a:r>
                    </a:p>
                  </a:txBody>
                  <a:tcPr>
                    <a:solidFill>
                      <a:srgbClr val="FFFFFF"/>
                    </a:solidFill>
                  </a:tcPr>
                </a:tc>
                <a:tc>
                  <a:txBody>
                    <a:bodyPr/>
                    <a:lstStyle/>
                    <a:p>
                      <a:pPr algn="ctr">
                        <a:defRPr sz="900" b="1">
                          <a:solidFill>
                            <a:srgbClr val="EF4444"/>
                          </a:solidFill>
                        </a:defRPr>
                      </a:pPr>
                      <a:r>
                        <a:t>-45% to -50% Dilution</a:t>
                      </a:r>
                      <a:br/>
                      <a:r>
                        <a:t>-30% Dilution</a:t>
                      </a:r>
                      <a:br/>
                      <a:r>
                        <a:t>-15% Dilution</a:t>
                      </a:r>
                    </a:p>
                  </a:txBody>
                  <a:tcPr>
                    <a:solidFill>
                      <a:srgbClr val="FFFFFF"/>
                    </a:solidFill>
                  </a:tcPr>
                </a:tc>
                <a:tc>
                  <a:txBody>
                    <a:bodyPr/>
                    <a:lstStyle/>
                    <a:p>
                      <a:pPr>
                        <a:defRPr sz="850">
                          <a:solidFill>
                            <a:srgbClr val="64748B"/>
                          </a:solidFill>
                        </a:defRPr>
                      </a:pPr>
                      <a:r>
                        <a:t>Splits existing customer base across duplicate machines without capturing incremental bottles.</a:t>
                      </a:r>
                    </a:p>
                  </a:txBody>
                  <a:tcPr>
                    <a:solidFill>
                      <a:srgbClr val="FFFFFF"/>
                    </a:solidFill>
                  </a:tcPr>
                </a:tc>
              </a:tr>
              <a:tr h="568234">
                <a:tc>
                  <a:txBody>
                    <a:bodyPr/>
                    <a:lstStyle/>
                    <a:p>
                      <a:pPr>
                        <a:defRPr sz="950" b="1">
                          <a:solidFill>
                            <a:srgbClr val="0F172A"/>
                          </a:solidFill>
                        </a:defRPr>
                      </a:pPr>
                      <a:r>
                        <a:t>Cluster Saturation</a:t>
                      </a:r>
                    </a:p>
                  </a:txBody>
                  <a:tcPr>
                    <a:solidFill>
                      <a:srgbClr val="F8FAFC"/>
                    </a:solidFill>
                  </a:tcPr>
                </a:tc>
                <a:tc>
                  <a:txBody>
                    <a:bodyPr/>
                    <a:lstStyle/>
                    <a:p>
                      <a:pPr>
                        <a:defRPr sz="850">
                          <a:solidFill>
                            <a:srgbClr val="0F172A"/>
                          </a:solidFill>
                        </a:defRPr>
                      </a:pPr>
                      <a:r>
                        <a:t>• &gt;= 8 RVMs in 3 km</a:t>
                      </a:r>
                      <a:br/>
                      <a:r>
                        <a:t>• &gt;= 5 RVMs in 3 km</a:t>
                      </a:r>
                      <a:br/>
                      <a:r>
                        <a:t>• &gt;= 3 RVMs in 3 km</a:t>
                      </a:r>
                    </a:p>
                  </a:txBody>
                  <a:tcPr>
                    <a:solidFill>
                      <a:srgbClr val="F8FAFC"/>
                    </a:solidFill>
                  </a:tcPr>
                </a:tc>
                <a:tc>
                  <a:txBody>
                    <a:bodyPr/>
                    <a:lstStyle/>
                    <a:p>
                      <a:pPr algn="ctr">
                        <a:defRPr sz="900" b="1">
                          <a:solidFill>
                            <a:srgbClr val="EF4444"/>
                          </a:solidFill>
                        </a:defRPr>
                      </a:pPr>
                      <a:r>
                        <a:t>-32% Dilution</a:t>
                      </a:r>
                      <a:br/>
                      <a:r>
                        <a:t>-20% Dilution</a:t>
                      </a:r>
                      <a:br/>
                      <a:r>
                        <a:t>-10% Dilution</a:t>
                      </a:r>
                    </a:p>
                  </a:txBody>
                  <a:tcPr>
                    <a:solidFill>
                      <a:srgbClr val="F8FAFC"/>
                    </a:solidFill>
                  </a:tcPr>
                </a:tc>
                <a:tc>
                  <a:txBody>
                    <a:bodyPr/>
                    <a:lstStyle/>
                    <a:p>
                      <a:pPr>
                        <a:defRPr sz="850">
                          <a:solidFill>
                            <a:srgbClr val="64748B"/>
                          </a:solidFill>
                        </a:defRPr>
                      </a:pPr>
                      <a:r>
                        <a:t>Dense urban network cluster splits regional shopper footfall and recycling destinations.</a:t>
                      </a:r>
                    </a:p>
                  </a:txBody>
                  <a:tcPr>
                    <a:solidFill>
                      <a:srgbClr val="F8FAFC"/>
                    </a:solidFill>
                  </a:tcPr>
                </a:tc>
              </a:tr>
              <a:tr h="568234">
                <a:tc>
                  <a:txBody>
                    <a:bodyPr/>
                    <a:lstStyle/>
                    <a:p>
                      <a:pPr>
                        <a:defRPr sz="950" b="1">
                          <a:solidFill>
                            <a:srgbClr val="0F172A"/>
                          </a:solidFill>
                        </a:defRPr>
                      </a:pPr>
                      <a:r>
                        <a:t>Corridor Fragmentation</a:t>
                      </a:r>
                    </a:p>
                  </a:txBody>
                  <a:tcPr>
                    <a:solidFill>
                      <a:srgbClr val="FFFFFF"/>
                    </a:solidFill>
                  </a:tcPr>
                </a:tc>
                <a:tc>
                  <a:txBody>
                    <a:bodyPr/>
                    <a:lstStyle/>
                    <a:p>
                      <a:pPr>
                        <a:defRPr sz="850">
                          <a:solidFill>
                            <a:srgbClr val="0F172A"/>
                          </a:solidFill>
                        </a:defRPr>
                      </a:pPr>
                      <a:r>
                        <a:t>• &gt;= 30 Grocery Stores in Trade Area</a:t>
                      </a:r>
                      <a:br/>
                      <a:r>
                        <a:t>• &gt;= 20 Grocery Stores in Trade Area</a:t>
                      </a:r>
                    </a:p>
                  </a:txBody>
                  <a:tcPr>
                    <a:solidFill>
                      <a:srgbClr val="FFFFFF"/>
                    </a:solidFill>
                  </a:tcPr>
                </a:tc>
                <a:tc>
                  <a:txBody>
                    <a:bodyPr/>
                    <a:lstStyle/>
                    <a:p>
                      <a:pPr algn="ctr">
                        <a:defRPr sz="900" b="1">
                          <a:solidFill>
                            <a:srgbClr val="F59E0B"/>
                          </a:solidFill>
                        </a:defRPr>
                      </a:pPr>
                      <a:r>
                        <a:t>-14% Dilution</a:t>
                      </a:r>
                      <a:br/>
                      <a:r>
                        <a:t>-8% Dilution</a:t>
                      </a:r>
                    </a:p>
                  </a:txBody>
                  <a:tcPr>
                    <a:solidFill>
                      <a:srgbClr val="FFFFFF"/>
                    </a:solidFill>
                  </a:tcPr>
                </a:tc>
                <a:tc>
                  <a:txBody>
                    <a:bodyPr/>
                    <a:lstStyle/>
                    <a:p>
                      <a:pPr>
                        <a:defRPr sz="850">
                          <a:solidFill>
                            <a:srgbClr val="64748B"/>
                          </a:solidFill>
                        </a:defRPr>
                      </a:pPr>
                      <a:r>
                        <a:t>Commercial competition fragments customer shopping visits across alternative retail banners.</a:t>
                      </a:r>
                    </a:p>
                  </a:txBody>
                  <a:tcPr>
                    <a:solidFill>
                      <a:srgbClr val="FFFFFF"/>
                    </a:solidFill>
                  </a:tcPr>
                </a:tc>
              </a:tr>
              <a:tr h="568234">
                <a:tc>
                  <a:txBody>
                    <a:bodyPr/>
                    <a:lstStyle/>
                    <a:p>
                      <a:pPr>
                        <a:defRPr sz="950" b="1">
                          <a:solidFill>
                            <a:srgbClr val="0F172A"/>
                          </a:solidFill>
                        </a:defRPr>
                      </a:pPr>
                      <a:r>
                        <a:t>Proximity Walk-in Format</a:t>
                      </a:r>
                    </a:p>
                  </a:txBody>
                  <a:tcPr>
                    <a:solidFill>
                      <a:srgbClr val="F8FAFC"/>
                    </a:solidFill>
                  </a:tcPr>
                </a:tc>
                <a:tc>
                  <a:txBody>
                    <a:bodyPr/>
                    <a:lstStyle/>
                    <a:p>
                      <a:pPr>
                        <a:defRPr sz="850">
                          <a:solidFill>
                            <a:srgbClr val="0F172A"/>
                          </a:solidFill>
                        </a:defRPr>
                      </a:pPr>
                      <a:r>
                        <a:t>• Independent small grocer (&lt; 400 m2)</a:t>
                      </a:r>
                    </a:p>
                  </a:txBody>
                  <a:tcPr>
                    <a:solidFill>
                      <a:srgbClr val="F8FAFC"/>
                    </a:solidFill>
                  </a:tcPr>
                </a:tc>
                <a:tc>
                  <a:txBody>
                    <a:bodyPr/>
                    <a:lstStyle/>
                    <a:p>
                      <a:pPr algn="ctr">
                        <a:defRPr sz="900" b="1">
                          <a:solidFill>
                            <a:srgbClr val="F59E0B"/>
                          </a:solidFill>
                        </a:defRPr>
                      </a:pPr>
                      <a:r>
                        <a:t>-28% Dilution</a:t>
                      </a:r>
                    </a:p>
                  </a:txBody>
                  <a:tcPr>
                    <a:solidFill>
                      <a:srgbClr val="F8FAFC"/>
                    </a:solidFill>
                  </a:tcPr>
                </a:tc>
                <a:tc>
                  <a:txBody>
                    <a:bodyPr/>
                    <a:lstStyle/>
                    <a:p>
                      <a:pPr>
                        <a:defRPr sz="850">
                          <a:solidFill>
                            <a:srgbClr val="64748B"/>
                          </a:solidFill>
                        </a:defRPr>
                      </a:pPr>
                      <a:r>
                        <a:t>Urban pedestrian walk-in shoppers carry smaller bags and deposit smaller bottle batches.</a:t>
                      </a:r>
                    </a:p>
                  </a:txBody>
                  <a:tcPr>
                    <a:solidFill>
                      <a:srgbClr val="F8FAFC"/>
                    </a:solidFill>
                  </a:tcPr>
                </a:tc>
              </a:tr>
              <a:tr h="568234">
                <a:tc>
                  <a:txBody>
                    <a:bodyPr/>
                    <a:lstStyle/>
                    <a:p>
                      <a:pPr>
                        <a:defRPr sz="950" b="1">
                          <a:solidFill>
                            <a:srgbClr val="0F172A"/>
                          </a:solidFill>
                        </a:defRPr>
                      </a:pPr>
                      <a:r>
                        <a:t>Rural Monopoly Uplift</a:t>
                      </a:r>
                    </a:p>
                  </a:txBody>
                  <a:tcPr>
                    <a:solidFill>
                      <a:srgbClr val="FFFFFF"/>
                    </a:solidFill>
                  </a:tcPr>
                </a:tc>
                <a:tc>
                  <a:txBody>
                    <a:bodyPr/>
                    <a:lstStyle/>
                    <a:p>
                      <a:pPr>
                        <a:defRPr sz="850">
                          <a:solidFill>
                            <a:srgbClr val="0F172A"/>
                          </a:solidFill>
                        </a:defRPr>
                      </a:pPr>
                      <a:r>
                        <a:t>• Trade Area Grocery Stores &lt;= 1</a:t>
                      </a:r>
                      <a:br/>
                      <a:r>
                        <a:t>• Population Density &lt; 150 inh/km2</a:t>
                      </a:r>
                      <a:br/>
                      <a:r>
                        <a:t>(Density &lt; 400 inh/km2)</a:t>
                      </a:r>
                    </a:p>
                  </a:txBody>
                  <a:tcPr>
                    <a:solidFill>
                      <a:srgbClr val="FFFFFF"/>
                    </a:solidFill>
                  </a:tcPr>
                </a:tc>
                <a:tc>
                  <a:txBody>
                    <a:bodyPr/>
                    <a:lstStyle/>
                    <a:p>
                      <a:pPr algn="ctr">
                        <a:defRPr sz="900" b="1">
                          <a:solidFill>
                            <a:srgbClr val="059669"/>
                          </a:solidFill>
                        </a:defRPr>
                      </a:pPr>
                      <a:r>
                        <a:t>+45% Monopoly Boost</a:t>
                      </a:r>
                      <a:br/>
                      <a:r>
                        <a:t>(+20% for density &lt; 400)</a:t>
                      </a:r>
                    </a:p>
                  </a:txBody>
                  <a:tcPr>
                    <a:solidFill>
                      <a:srgbClr val="FFFFFF"/>
                    </a:solidFill>
                  </a:tcPr>
                </a:tc>
                <a:tc>
                  <a:txBody>
                    <a:bodyPr/>
                    <a:lstStyle/>
                    <a:p>
                      <a:pPr>
                        <a:defRPr sz="850">
                          <a:solidFill>
                            <a:srgbClr val="64748B"/>
                          </a:solidFill>
                        </a:defRPr>
                      </a:pPr>
                      <a:r>
                        <a:t>Solo rural supermarket acts as sole regional magnet for surrounding towns, concentrating 100% of footfall.</a:t>
                      </a:r>
                    </a:p>
                  </a:txBody>
                  <a:tcPr>
                    <a:solidFill>
                      <a:srgbClr val="FFFFFF"/>
                    </a:solidFill>
                  </a:tcPr>
                </a:tc>
              </a:tr>
              <a:tr h="568235">
                <a:tc>
                  <a:txBody>
                    <a:bodyPr/>
                    <a:lstStyle/>
                    <a:p>
                      <a:pPr>
                        <a:defRPr sz="950" b="1">
                          <a:solidFill>
                            <a:srgbClr val="0F172A"/>
                          </a:solidFill>
                        </a:defRPr>
                      </a:pPr>
                      <a:r>
                        <a:t>Southern Bulk Drop</a:t>
                      </a:r>
                    </a:p>
                  </a:txBody>
                  <a:tcPr>
                    <a:solidFill>
                      <a:srgbClr val="F8FAFC"/>
                    </a:solidFill>
                  </a:tcPr>
                </a:tc>
                <a:tc>
                  <a:txBody>
                    <a:bodyPr/>
                    <a:lstStyle/>
                    <a:p>
                      <a:pPr>
                        <a:defRPr sz="850">
                          <a:solidFill>
                            <a:srgbClr val="0F172A"/>
                          </a:solidFill>
                        </a:defRPr>
                      </a:pPr>
                      <a:r>
                        <a:t>• Nielsen Area 4 + Density &lt; 150 inh/km2</a:t>
                      </a:r>
                    </a:p>
                  </a:txBody>
                  <a:tcPr>
                    <a:solidFill>
                      <a:srgbClr val="F8FAFC"/>
                    </a:solidFill>
                  </a:tcPr>
                </a:tc>
                <a:tc>
                  <a:txBody>
                    <a:bodyPr/>
                    <a:lstStyle/>
                    <a:p>
                      <a:pPr algn="ctr">
                        <a:defRPr sz="900" b="1">
                          <a:solidFill>
                            <a:srgbClr val="059669"/>
                          </a:solidFill>
                        </a:defRPr>
                      </a:pPr>
                      <a:r>
                        <a:t>+20% Bulk Multiplier</a:t>
                      </a:r>
                    </a:p>
                  </a:txBody>
                  <a:tcPr>
                    <a:solidFill>
                      <a:srgbClr val="F8FAFC"/>
                    </a:solidFill>
                  </a:tcPr>
                </a:tc>
                <a:tc>
                  <a:txBody>
                    <a:bodyPr/>
                    <a:lstStyle/>
                    <a:p>
                      <a:pPr>
                        <a:defRPr sz="850">
                          <a:solidFill>
                            <a:srgbClr val="64748B"/>
                          </a:solidFill>
                        </a:defRPr>
                      </a:pPr>
                      <a:r>
                        <a:t>Car-based rural shoppers accumulate large bulk crates at home (43.5 b/user empirical baseline).</a:t>
                      </a:r>
                    </a:p>
                  </a:txBody>
                  <a:tcPr>
                    <a:solidFill>
                      <a:srgbClr val="F8FAFC"/>
                    </a:solidFill>
                  </a:tcPr>
                </a:tc>
              </a:tr>
            </a:tbl>
          </a:graphicData>
        </a:graphic>
      </p:graphicFrame>
      <p:sp>
        <p:nvSpPr>
          <p:cNvPr id="6" name="Rounded Rectangle 5"/>
          <p:cNvSpPr/>
          <p:nvPr/>
        </p:nvSpPr>
        <p:spPr>
          <a:xfrm>
            <a:off x="731520" y="5779008"/>
            <a:ext cx="10698480" cy="658368"/>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815584"/>
            <a:ext cx="10332720" cy="585216"/>
          </a:xfrm>
          <a:prstGeom prst="rect">
            <a:avLst/>
          </a:prstGeom>
          <a:noFill/>
        </p:spPr>
        <p:txBody>
          <a:bodyPr wrap="square">
            <a:spAutoFit/>
          </a:bodyPr>
          <a:lstStyle/>
          <a:p>
            <a:pPr>
              <a:defRPr sz="850" b="1">
                <a:solidFill>
                  <a:srgbClr val="3B82F6"/>
                </a:solidFill>
              </a:defRPr>
            </a:pPr>
            <a:r>
              <a:t>OPERATIONAL CAPACITY BOUNDS (Statistical Quantiles for Stress-Testing Cash Flow)</a:t>
            </a:r>
          </a:p>
          <a:p>
            <a:pPr>
              <a:defRPr sz="850">
                <a:solidFill>
                  <a:srgbClr val="0F172A"/>
                </a:solidFill>
              </a:defRPr>
            </a:pPr>
            <a:r>
              <a:t>• Floor P25 (~82% of mean): Lower bound for adverse weather &amp; downtime.  |  • Base P50: Steady-state median expectation.  |  • Peak P75 (~125% of mean): Summer surge &amp; logistics bin sizing.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059669"/>
                </a:solidFill>
              </a:defRPr>
            </a:pPr>
            <a:r>
              <a:t>INVESTMENT GOVERNANCE</a:t>
            </a:r>
          </a:p>
          <a:p>
            <a:pPr>
              <a:defRPr sz="2100" b="1">
                <a:solidFill>
                  <a:srgbClr val="0F172A"/>
                </a:solidFill>
              </a:defRPr>
            </a:pPr>
            <a:r>
              <a:t>The 6-Gate Clearance Engine: Automated Go / No-Go Decision</a:t>
            </a:r>
          </a:p>
          <a:p>
            <a:pPr>
              <a:spcBef>
                <a:spcPts val="300"/>
              </a:spcBef>
              <a:defRPr sz="1100">
                <a:solidFill>
                  <a:srgbClr val="64748B"/>
                </a:solidFill>
              </a:defRPr>
            </a:pPr>
            <a:r>
              <a:t>Every prospective location must pass 6 objective operational, physical, and financial gates.</a:t>
            </a:r>
          </a:p>
        </p:txBody>
      </p:sp>
      <p:sp>
        <p:nvSpPr>
          <p:cNvPr id="3" name="Rounded Rectangle 2"/>
          <p:cNvSpPr/>
          <p:nvPr/>
        </p:nvSpPr>
        <p:spPr>
          <a:xfrm>
            <a:off x="731520" y="1645920"/>
            <a:ext cx="685800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6492240" cy="4389120"/>
          </a:xfrm>
          <a:prstGeom prst="rect">
            <a:avLst/>
          </a:prstGeom>
          <a:noFill/>
        </p:spPr>
        <p:txBody>
          <a:bodyPr wrap="square">
            <a:spAutoFit/>
          </a:bodyPr>
          <a:lstStyle/>
          <a:p>
            <a:pPr>
              <a:spcAft>
                <a:spcPts val="800"/>
              </a:spcAft>
              <a:defRPr sz="1000" b="1">
                <a:solidFill>
                  <a:srgbClr val="059669"/>
                </a:solidFill>
              </a:defRPr>
            </a:pPr>
            <a:r>
              <a:t>THE 6 OBJECTIVE OPERATIONAL &amp; CAPITAL CLEARANCE GATES</a:t>
            </a:r>
          </a:p>
          <a:p>
            <a:pPr>
              <a:spcAft>
                <a:spcPts val="600"/>
              </a:spcAft>
              <a:defRPr sz="950" b="1">
                <a:solidFill>
                  <a:srgbClr val="64748B"/>
                </a:solidFill>
              </a:defRPr>
            </a:pPr>
            <a:r>
              <a:t>✓ 1. Cannibalization Gate — </a:t>
            </a:r>
            <a:r>
              <a:t>Rejects duplicate hardware at 0m or severe overlap (&lt;300m) to protect existing network nodes.</a:t>
            </a:r>
          </a:p>
          <a:p>
            <a:pPr>
              <a:spcAft>
                <a:spcPts val="600"/>
              </a:spcAft>
              <a:defRPr sz="950" b="1">
                <a:solidFill>
                  <a:srgbClr val="64748B"/>
                </a:solidFill>
              </a:defRPr>
            </a:pPr>
            <a:r>
              <a:t>✓ 2. Economic Breakeven Gate — </a:t>
            </a:r>
            <a:r>
              <a:t>Enforces a strict 120 bottles/day minimum threshold. Sites below this yield negative operational cash flow.</a:t>
            </a:r>
          </a:p>
          <a:p>
            <a:pPr>
              <a:spcAft>
                <a:spcPts val="600"/>
              </a:spcAft>
              <a:defRPr sz="950" b="1">
                <a:solidFill>
                  <a:srgbClr val="64748B"/>
                </a:solidFill>
              </a:defRPr>
            </a:pPr>
            <a:r>
              <a:t>✓ 3. Store Format Gate — </a:t>
            </a:r>
            <a:r>
              <a:t>Verifies minimum commercial scale (minimum 350 m2 sales area, 2+ cash registers).</a:t>
            </a:r>
          </a:p>
          <a:p>
            <a:pPr>
              <a:spcAft>
                <a:spcPts val="600"/>
              </a:spcAft>
              <a:defRPr sz="950" b="1">
                <a:solidFill>
                  <a:srgbClr val="64748B"/>
                </a:solidFill>
              </a:defRPr>
            </a:pPr>
            <a:r>
              <a:t>✓ 4. Demographic Catchment Gate — </a:t>
            </a:r>
            <a:r>
              <a:t>Screens municipal population pool and density to ensure sufficient repeat recycling foot traffic.</a:t>
            </a:r>
          </a:p>
          <a:p>
            <a:pPr>
              <a:spcAft>
                <a:spcPts val="600"/>
              </a:spcAft>
              <a:defRPr sz="950" b="1">
                <a:solidFill>
                  <a:srgbClr val="64748B"/>
                </a:solidFill>
              </a:defRPr>
            </a:pPr>
            <a:r>
              <a:t>✓ 5. Hardware Sizing Gate — </a:t>
            </a:r>
            <a:r>
              <a:t>Aligns projected volume with hardware model (compact single-stream vs. heavy-duty dual-stream).</a:t>
            </a:r>
          </a:p>
          <a:p>
            <a:pPr>
              <a:spcAft>
                <a:spcPts val="600"/>
              </a:spcAft>
              <a:defRPr sz="950" b="1">
                <a:solidFill>
                  <a:srgbClr val="64748B"/>
                </a:solidFill>
              </a:defRPr>
            </a:pPr>
            <a:r>
              <a:t>✓ 6. Logistics Feasibility Gate — </a:t>
            </a:r>
            <a:r>
              <a:t>Checks distance to nearest Coripet operational route (&lt;=25 km) to maintain viable truck servicing costs.</a:t>
            </a:r>
          </a:p>
          <a:p>
            <a:pPr>
              <a:spcBef>
                <a:spcPts val="600"/>
              </a:spcBef>
              <a:defRPr sz="850" i="1">
                <a:solidFill>
                  <a:srgbClr val="64748B"/>
                </a:solidFill>
              </a:defRPr>
            </a:pPr>
            <a:r>
              <a:t>Note on Brand Alliances: Rather than assuming unverified contract terms for store-level loyalty app integration, retail brand identity is evaluated as an advisory commercial synergy, keeping the 6 clearance gates 100% objective, verifiable, and fair to independent stores.</a:t>
            </a:r>
          </a:p>
        </p:txBody>
      </p:sp>
      <p:sp>
        <p:nvSpPr>
          <p:cNvPr id="5" name="Rounded Rectangle 4"/>
          <p:cNvSpPr/>
          <p:nvPr/>
        </p:nvSpPr>
        <p:spPr>
          <a:xfrm>
            <a:off x="7772400" y="1645920"/>
            <a:ext cx="365760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79" y="1783080"/>
            <a:ext cx="3291840" cy="4389120"/>
          </a:xfrm>
          <a:prstGeom prst="rect">
            <a:avLst/>
          </a:prstGeom>
          <a:noFill/>
        </p:spPr>
        <p:txBody>
          <a:bodyPr wrap="square">
            <a:spAutoFit/>
          </a:bodyPr>
          <a:lstStyle/>
          <a:p>
            <a:pPr>
              <a:spcAft>
                <a:spcPts val="400"/>
              </a:spcAft>
              <a:defRPr sz="1000" b="1">
                <a:solidFill>
                  <a:srgbClr val="3B82F6"/>
                </a:solidFill>
              </a:defRPr>
            </a:pPr>
            <a:r>
              <a:t>LOCATION POTENTIAL SCORE</a:t>
            </a:r>
          </a:p>
          <a:p>
            <a:pPr>
              <a:spcAft>
                <a:spcPts val="800"/>
              </a:spcAft>
              <a:defRPr sz="1400" b="1">
                <a:solidFill>
                  <a:srgbClr val="0F172A"/>
                </a:solidFill>
              </a:defRPr>
            </a:pPr>
            <a:r>
              <a:t>5-Tier Investment Rating</a:t>
            </a:r>
          </a:p>
          <a:p>
            <a:pPr>
              <a:defRPr sz="1000" b="1">
                <a:solidFill>
                  <a:srgbClr val="10B981"/>
                </a:solidFill>
              </a:defRPr>
            </a:pPr>
            <a:r>
              <a:t>● Tier 1: Priority Flagship</a:t>
            </a:r>
          </a:p>
          <a:p>
            <a:pPr>
              <a:spcAft>
                <a:spcPts val="600"/>
              </a:spcAft>
              <a:defRPr sz="850">
                <a:solidFill>
                  <a:srgbClr val="64748B"/>
                </a:solidFill>
              </a:defRPr>
            </a:pPr>
            <a:r>
              <a:t>&gt; 750 b/d | Top 10% nationwide. Immediate multi-stream installation.</a:t>
            </a:r>
          </a:p>
          <a:p>
            <a:pPr>
              <a:defRPr sz="1000" b="1">
                <a:solidFill>
                  <a:srgbClr val="059669"/>
                </a:solidFill>
              </a:defRPr>
            </a:pPr>
            <a:r>
              <a:t>● Tier 2: Recommended Siting</a:t>
            </a:r>
          </a:p>
          <a:p>
            <a:pPr>
              <a:spcAft>
                <a:spcPts val="600"/>
              </a:spcAft>
              <a:defRPr sz="850">
                <a:solidFill>
                  <a:srgbClr val="64748B"/>
                </a:solidFill>
              </a:defRPr>
            </a:pPr>
            <a:r>
              <a:t>450–750 b/d | Solid high-yield supermarket anchor. Fast-track approval.</a:t>
            </a:r>
          </a:p>
          <a:p>
            <a:pPr>
              <a:defRPr sz="1000" b="1">
                <a:solidFill>
                  <a:srgbClr val="3B82F6"/>
                </a:solidFill>
              </a:defRPr>
            </a:pPr>
            <a:r>
              <a:t>● Tier 3: Viable Deployment</a:t>
            </a:r>
          </a:p>
          <a:p>
            <a:pPr>
              <a:spcAft>
                <a:spcPts val="600"/>
              </a:spcAft>
              <a:defRPr sz="850">
                <a:solidFill>
                  <a:srgbClr val="64748B"/>
                </a:solidFill>
              </a:defRPr>
            </a:pPr>
            <a:r>
              <a:t>250–450 b/d | Standard supermarket. Standard commercial deployment.</a:t>
            </a:r>
          </a:p>
          <a:p>
            <a:pPr>
              <a:defRPr sz="1000" b="1">
                <a:solidFill>
                  <a:srgbClr val="F59E0B"/>
                </a:solidFill>
              </a:defRPr>
            </a:pPr>
            <a:r>
              <a:t>● Tier 4: Conditional / Caution</a:t>
            </a:r>
          </a:p>
          <a:p>
            <a:pPr>
              <a:spcAft>
                <a:spcPts val="600"/>
              </a:spcAft>
              <a:defRPr sz="850">
                <a:solidFill>
                  <a:srgbClr val="64748B"/>
                </a:solidFill>
              </a:defRPr>
            </a:pPr>
            <a:r>
              <a:t>120–250 b/d | Breakeven viable, but requires favorable commercial rent.</a:t>
            </a:r>
          </a:p>
          <a:p>
            <a:pPr>
              <a:defRPr sz="1000" b="1">
                <a:solidFill>
                  <a:srgbClr val="EF4444"/>
                </a:solidFill>
              </a:defRPr>
            </a:pPr>
            <a:r>
              <a:t>● Tier 5: Rejected / Unviable</a:t>
            </a:r>
          </a:p>
          <a:p>
            <a:pPr>
              <a:spcAft>
                <a:spcPts val="600"/>
              </a:spcAft>
              <a:defRPr sz="850">
                <a:solidFill>
                  <a:srgbClr val="64748B"/>
                </a:solidFill>
              </a:defRPr>
            </a:pPr>
            <a:r>
              <a:t>&lt; 120 b/d | DO NOT INSTALL. Fails economic breakeven threshold.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059669"/>
                </a:solidFill>
              </a:defRPr>
            </a:pPr>
            <a:r>
              <a:t>FIELD VALIDATION</a:t>
            </a:r>
          </a:p>
          <a:p>
            <a:pPr>
              <a:defRPr sz="2100" b="1">
                <a:solidFill>
                  <a:srgbClr val="0F172A"/>
                </a:solidFill>
              </a:defRPr>
            </a:pPr>
            <a:r>
              <a:t>Network-Wide Benchmark: 17 Stores Across Italy</a:t>
            </a:r>
          </a:p>
          <a:p>
            <a:pPr>
              <a:spcBef>
                <a:spcPts val="300"/>
              </a:spcBef>
              <a:defRPr sz="1100">
                <a:solidFill>
                  <a:srgbClr val="64748B"/>
                </a:solidFill>
              </a:defRPr>
            </a:pPr>
            <a:r>
              <a:t>Tested and verified against live Power BI production telemetry from Valle d'Aosta to Sicily.</a:t>
            </a:r>
          </a:p>
        </p:txBody>
      </p:sp>
      <p:sp>
        <p:nvSpPr>
          <p:cNvPr id="3" name="Rounded Rectangle 2"/>
          <p:cNvSpPr/>
          <p:nvPr/>
        </p:nvSpPr>
        <p:spPr>
          <a:xfrm>
            <a:off x="731520" y="1645920"/>
            <a:ext cx="260604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55648"/>
            <a:ext cx="2240280" cy="868680"/>
          </a:xfrm>
          <a:prstGeom prst="rect">
            <a:avLst/>
          </a:prstGeom>
          <a:noFill/>
        </p:spPr>
        <p:txBody>
          <a:bodyPr wrap="square">
            <a:spAutoFit/>
          </a:bodyPr>
          <a:lstStyle/>
          <a:p>
            <a:pPr>
              <a:spcAft>
                <a:spcPts val="100"/>
              </a:spcAft>
              <a:defRPr sz="2200" b="1">
                <a:solidFill>
                  <a:srgbClr val="10B981"/>
                </a:solidFill>
              </a:defRPr>
            </a:pPr>
            <a:r>
              <a:t>80.3%</a:t>
            </a:r>
          </a:p>
          <a:p>
            <a:pPr>
              <a:defRPr sz="950" b="1">
                <a:solidFill>
                  <a:srgbClr val="0F172A"/>
                </a:solidFill>
              </a:defRPr>
            </a:pPr>
            <a:r>
              <a:t>Median Volume Accuracy</a:t>
            </a:r>
          </a:p>
          <a:p>
            <a:pPr>
              <a:defRPr sz="800">
                <a:solidFill>
                  <a:srgbClr val="64748B"/>
                </a:solidFill>
              </a:defRPr>
            </a:pPr>
            <a:r>
              <a:t>Tested against Power BI actuals</a:t>
            </a:r>
          </a:p>
        </p:txBody>
      </p:sp>
      <p:sp>
        <p:nvSpPr>
          <p:cNvPr id="5" name="Rounded Rectangle 4"/>
          <p:cNvSpPr/>
          <p:nvPr/>
        </p:nvSpPr>
        <p:spPr>
          <a:xfrm>
            <a:off x="3429000" y="1645920"/>
            <a:ext cx="260604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11880" y="1755648"/>
            <a:ext cx="2240280" cy="868680"/>
          </a:xfrm>
          <a:prstGeom prst="rect">
            <a:avLst/>
          </a:prstGeom>
          <a:noFill/>
        </p:spPr>
        <p:txBody>
          <a:bodyPr wrap="square">
            <a:spAutoFit/>
          </a:bodyPr>
          <a:lstStyle/>
          <a:p>
            <a:pPr>
              <a:spcAft>
                <a:spcPts val="100"/>
              </a:spcAft>
              <a:defRPr sz="2200" b="1">
                <a:solidFill>
                  <a:srgbClr val="3B82F6"/>
                </a:solidFill>
              </a:defRPr>
            </a:pPr>
            <a:r>
              <a:t>81.6%</a:t>
            </a:r>
          </a:p>
          <a:p>
            <a:pPr>
              <a:defRPr sz="950" b="1">
                <a:solidFill>
                  <a:srgbClr val="0F172A"/>
                </a:solidFill>
              </a:defRPr>
            </a:pPr>
            <a:r>
              <a:t>Active User Accuracy</a:t>
            </a:r>
          </a:p>
          <a:p>
            <a:pPr>
              <a:defRPr sz="800">
                <a:solidFill>
                  <a:srgbClr val="64748B"/>
                </a:solidFill>
              </a:defRPr>
            </a:pPr>
            <a:r>
              <a:t>Daily unique app recyclers</a:t>
            </a:r>
          </a:p>
        </p:txBody>
      </p:sp>
      <p:sp>
        <p:nvSpPr>
          <p:cNvPr id="7" name="Rounded Rectangle 6"/>
          <p:cNvSpPr/>
          <p:nvPr/>
        </p:nvSpPr>
        <p:spPr>
          <a:xfrm>
            <a:off x="6126480" y="1645920"/>
            <a:ext cx="260604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755648"/>
            <a:ext cx="2240280" cy="868680"/>
          </a:xfrm>
          <a:prstGeom prst="rect">
            <a:avLst/>
          </a:prstGeom>
          <a:noFill/>
        </p:spPr>
        <p:txBody>
          <a:bodyPr wrap="square">
            <a:spAutoFit/>
          </a:bodyPr>
          <a:lstStyle/>
          <a:p>
            <a:pPr>
              <a:spcAft>
                <a:spcPts val="100"/>
              </a:spcAft>
              <a:defRPr sz="2200" b="1">
                <a:solidFill>
                  <a:srgbClr val="8B5CF6"/>
                </a:solidFill>
              </a:defRPr>
            </a:pPr>
            <a:r>
              <a:t>94.1%</a:t>
            </a:r>
          </a:p>
          <a:p>
            <a:pPr>
              <a:defRPr sz="950" b="1">
                <a:solidFill>
                  <a:srgbClr val="0F172A"/>
                </a:solidFill>
              </a:defRPr>
            </a:pPr>
            <a:r>
              <a:t>Deposit Batch Accuracy</a:t>
            </a:r>
          </a:p>
          <a:p>
            <a:pPr>
              <a:defRPr sz="800">
                <a:solidFill>
                  <a:srgbClr val="64748B"/>
                </a:solidFill>
              </a:defRPr>
            </a:pPr>
            <a:r>
              <a:t>Bottles per user visit</a:t>
            </a:r>
          </a:p>
        </p:txBody>
      </p:sp>
      <p:sp>
        <p:nvSpPr>
          <p:cNvPr id="9" name="Rounded Rectangle 8"/>
          <p:cNvSpPr/>
          <p:nvPr/>
        </p:nvSpPr>
        <p:spPr>
          <a:xfrm>
            <a:off x="8823960" y="1645920"/>
            <a:ext cx="260604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06840" y="1755648"/>
            <a:ext cx="2240280" cy="868680"/>
          </a:xfrm>
          <a:prstGeom prst="rect">
            <a:avLst/>
          </a:prstGeom>
          <a:noFill/>
        </p:spPr>
        <p:txBody>
          <a:bodyPr wrap="square">
            <a:spAutoFit/>
          </a:bodyPr>
          <a:lstStyle/>
          <a:p>
            <a:pPr>
              <a:spcAft>
                <a:spcPts val="100"/>
              </a:spcAft>
              <a:defRPr sz="2200" b="1">
                <a:solidFill>
                  <a:srgbClr val="0F172A"/>
                </a:solidFill>
              </a:defRPr>
            </a:pPr>
            <a:r>
              <a:t>17 Stores</a:t>
            </a:r>
          </a:p>
          <a:p>
            <a:pPr>
              <a:defRPr sz="950" b="1">
                <a:solidFill>
                  <a:srgbClr val="0F172A"/>
                </a:solidFill>
              </a:defRPr>
            </a:pPr>
            <a:r>
              <a:t>Full Geographic Coverage</a:t>
            </a:r>
          </a:p>
          <a:p>
            <a:pPr>
              <a:defRPr sz="800">
                <a:solidFill>
                  <a:srgbClr val="64748B"/>
                </a:solidFill>
              </a:defRPr>
            </a:pPr>
            <a:r>
              <a:t>North, Center, South &amp; Islands</a:t>
            </a:r>
          </a:p>
        </p:txBody>
      </p:sp>
      <p:sp>
        <p:nvSpPr>
          <p:cNvPr id="11" name="Rounded Rectangle 10"/>
          <p:cNvSpPr/>
          <p:nvPr/>
        </p:nvSpPr>
        <p:spPr>
          <a:xfrm>
            <a:off x="731520" y="2834640"/>
            <a:ext cx="10698480"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model_accuracy_dashboard.png"/>
          <p:cNvPicPr>
            <a:picLocks noChangeAspect="1"/>
          </p:cNvPicPr>
          <p:nvPr/>
        </p:nvPicPr>
        <p:blipFill>
          <a:blip r:embed="rId2"/>
          <a:stretch>
            <a:fillRect/>
          </a:stretch>
        </p:blipFill>
        <p:spPr>
          <a:xfrm>
            <a:off x="868680" y="2926080"/>
            <a:ext cx="10424160" cy="33832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059669"/>
                </a:solidFill>
              </a:defRPr>
            </a:pPr>
            <a:r>
              <a:t>CASE STUDIES</a:t>
            </a:r>
          </a:p>
          <a:p>
            <a:pPr>
              <a:defRPr sz="2100" b="1">
                <a:solidFill>
                  <a:srgbClr val="0F172A"/>
                </a:solidFill>
              </a:defRPr>
            </a:pPr>
            <a:r>
              <a:t>Store-by-Store Validation: Diverse Operational Formats</a:t>
            </a:r>
          </a:p>
          <a:p>
            <a:pPr>
              <a:spcBef>
                <a:spcPts val="300"/>
              </a:spcBef>
              <a:defRPr sz="1100">
                <a:solidFill>
                  <a:srgbClr val="64748B"/>
                </a:solidFill>
              </a:defRPr>
            </a:pPr>
            <a:r>
              <a:t>Analyzing how the model performs across high-volume anchors, rural stores, coastal corridors, and regional retail.</a:t>
            </a:r>
          </a:p>
        </p:txBody>
      </p:sp>
      <p:sp>
        <p:nvSpPr>
          <p:cNvPr id="3" name="Rounded Rectangle 2"/>
          <p:cNvSpPr/>
          <p:nvPr/>
        </p:nvSpPr>
        <p:spPr>
          <a:xfrm>
            <a:off x="731520" y="1645920"/>
            <a:ext cx="260604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1828800"/>
            <a:ext cx="54864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65960"/>
            <a:ext cx="2240280" cy="4206240"/>
          </a:xfrm>
          <a:prstGeom prst="rect">
            <a:avLst/>
          </a:prstGeom>
          <a:noFill/>
        </p:spPr>
        <p:txBody>
          <a:bodyPr wrap="square">
            <a:spAutoFit/>
          </a:bodyPr>
          <a:lstStyle/>
          <a:p>
            <a:pPr>
              <a:spcAft>
                <a:spcPts val="100"/>
              </a:spcAft>
              <a:defRPr sz="1200" b="1">
                <a:solidFill>
                  <a:srgbClr val="0F172A"/>
                </a:solidFill>
              </a:defRPr>
            </a:pPr>
            <a:r>
              <a:t>Conad Sarre (AO)</a:t>
            </a:r>
          </a:p>
          <a:p>
            <a:pPr>
              <a:spcAft>
                <a:spcPts val="1000"/>
              </a:spcAft>
              <a:defRPr sz="850">
                <a:solidFill>
                  <a:srgbClr val="64748B"/>
                </a:solidFill>
              </a:defRPr>
            </a:pPr>
            <a:r>
              <a:t>Valle d'Aosta | High-Volume Anchor</a:t>
            </a:r>
          </a:p>
          <a:p>
            <a:pPr>
              <a:defRPr sz="800" b="1">
                <a:solidFill>
                  <a:srgbClr val="10B981"/>
                </a:solidFill>
              </a:defRPr>
            </a:pPr>
            <a:r>
              <a:t>VOLUME (BOTTLES/DAY)</a:t>
            </a:r>
          </a:p>
          <a:p>
            <a:pPr>
              <a:defRPr sz="950">
                <a:solidFill>
                  <a:srgbClr val="0F172A"/>
                </a:solidFill>
              </a:defRPr>
            </a:pPr>
            <a:r>
              <a:t>Pred: 536.3 b/d | Act: 540.0 b/d</a:t>
            </a:r>
          </a:p>
          <a:p>
            <a:pPr>
              <a:spcAft>
                <a:spcPts val="800"/>
              </a:spcAft>
              <a:defRPr sz="1100" b="1">
                <a:solidFill>
                  <a:srgbClr val="10B981"/>
                </a:solidFill>
              </a:defRPr>
            </a:pPr>
            <a:r>
              <a:t>Accuracy: 99.3%</a:t>
            </a:r>
          </a:p>
          <a:p>
            <a:pPr>
              <a:defRPr sz="800" b="1">
                <a:solidFill>
                  <a:srgbClr val="3B82F6"/>
                </a:solidFill>
              </a:defRPr>
            </a:pPr>
            <a:r>
              <a:t>ACTIVE USERS (PRESENZE/DAY)</a:t>
            </a:r>
          </a:p>
          <a:p>
            <a:pPr>
              <a:defRPr sz="950">
                <a:solidFill>
                  <a:srgbClr val="0F172A"/>
                </a:solidFill>
              </a:defRPr>
            </a:pPr>
            <a:r>
              <a:t>Pred: 12.4 u/d | Act: 12.5 u/d</a:t>
            </a:r>
          </a:p>
          <a:p>
            <a:pPr>
              <a:spcAft>
                <a:spcPts val="1000"/>
              </a:spcAft>
              <a:defRPr sz="1000" b="1">
                <a:solidFill>
                  <a:srgbClr val="3B82F6"/>
                </a:solidFill>
              </a:defRPr>
            </a:pPr>
            <a:r>
              <a:t>Accuracy: 99.2%</a:t>
            </a:r>
          </a:p>
          <a:p>
            <a:pPr>
              <a:defRPr sz="800" b="1">
                <a:solidFill>
                  <a:srgbClr val="64748B"/>
                </a:solidFill>
              </a:defRPr>
            </a:pPr>
            <a:r>
              <a:t>KEY INSIGHT</a:t>
            </a:r>
          </a:p>
          <a:p>
            <a:pPr>
              <a:defRPr sz="900">
                <a:solidFill>
                  <a:srgbClr val="64748B"/>
                </a:solidFill>
              </a:defRPr>
            </a:pPr>
            <a:r>
              <a:t>Exceptional high-density anchor prediction. Captured true municipal grocery demand with under 1% error margin.</a:t>
            </a:r>
          </a:p>
        </p:txBody>
      </p:sp>
      <p:sp>
        <p:nvSpPr>
          <p:cNvPr id="6" name="Rounded Rectangle 5"/>
          <p:cNvSpPr/>
          <p:nvPr/>
        </p:nvSpPr>
        <p:spPr>
          <a:xfrm>
            <a:off x="3429000" y="1645920"/>
            <a:ext cx="260604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11880" y="1828800"/>
            <a:ext cx="54864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965960"/>
            <a:ext cx="2240280" cy="4206240"/>
          </a:xfrm>
          <a:prstGeom prst="rect">
            <a:avLst/>
          </a:prstGeom>
          <a:noFill/>
        </p:spPr>
        <p:txBody>
          <a:bodyPr wrap="square">
            <a:spAutoFit/>
          </a:bodyPr>
          <a:lstStyle/>
          <a:p>
            <a:pPr>
              <a:spcAft>
                <a:spcPts val="100"/>
              </a:spcAft>
              <a:defRPr sz="1200" b="1">
                <a:solidFill>
                  <a:srgbClr val="0F172A"/>
                </a:solidFill>
              </a:defRPr>
            </a:pPr>
            <a:r>
              <a:t>Famila Pitigliano (GR)</a:t>
            </a:r>
          </a:p>
          <a:p>
            <a:pPr>
              <a:spcAft>
                <a:spcPts val="1000"/>
              </a:spcAft>
              <a:defRPr sz="850">
                <a:solidFill>
                  <a:srgbClr val="64748B"/>
                </a:solidFill>
              </a:defRPr>
            </a:pPr>
            <a:r>
              <a:t>Toscana | Rural Convenience</a:t>
            </a:r>
          </a:p>
          <a:p>
            <a:pPr>
              <a:defRPr sz="800" b="1">
                <a:solidFill>
                  <a:srgbClr val="F59E0B"/>
                </a:solidFill>
              </a:defRPr>
            </a:pPr>
            <a:r>
              <a:t>VOLUME (BOTTLES/DAY)</a:t>
            </a:r>
          </a:p>
          <a:p>
            <a:pPr>
              <a:defRPr sz="950">
                <a:solidFill>
                  <a:srgbClr val="0F172A"/>
                </a:solidFill>
              </a:defRPr>
            </a:pPr>
            <a:r>
              <a:t>Pred: 82.4 b/d | Act: 93.3 b/d</a:t>
            </a:r>
          </a:p>
          <a:p>
            <a:pPr>
              <a:spcAft>
                <a:spcPts val="800"/>
              </a:spcAft>
              <a:defRPr sz="1100" b="1">
                <a:solidFill>
                  <a:srgbClr val="F59E0B"/>
                </a:solidFill>
              </a:defRPr>
            </a:pPr>
            <a:r>
              <a:t>Accuracy: 88.3%</a:t>
            </a:r>
          </a:p>
          <a:p>
            <a:pPr>
              <a:defRPr sz="800" b="1">
                <a:solidFill>
                  <a:srgbClr val="3B82F6"/>
                </a:solidFill>
              </a:defRPr>
            </a:pPr>
            <a:r>
              <a:t>ACTIVE USERS (PRESENZE/DAY)</a:t>
            </a:r>
          </a:p>
          <a:p>
            <a:pPr>
              <a:defRPr sz="950">
                <a:solidFill>
                  <a:srgbClr val="0F172A"/>
                </a:solidFill>
              </a:defRPr>
            </a:pPr>
            <a:r>
              <a:t>Pred: 4.2 u/d | Act: 4.6 u/d</a:t>
            </a:r>
          </a:p>
          <a:p>
            <a:pPr>
              <a:spcAft>
                <a:spcPts val="1000"/>
              </a:spcAft>
              <a:defRPr sz="1000" b="1">
                <a:solidFill>
                  <a:srgbClr val="3B82F6"/>
                </a:solidFill>
              </a:defRPr>
            </a:pPr>
            <a:r>
              <a:t>Accuracy: 91.3%</a:t>
            </a:r>
          </a:p>
          <a:p>
            <a:pPr>
              <a:defRPr sz="800" b="1">
                <a:solidFill>
                  <a:srgbClr val="64748B"/>
                </a:solidFill>
              </a:defRPr>
            </a:pPr>
            <a:r>
              <a:t>KEY INSIGHT</a:t>
            </a:r>
          </a:p>
          <a:p>
            <a:pPr>
              <a:defRPr sz="900">
                <a:solidFill>
                  <a:srgbClr val="64748B"/>
                </a:solidFill>
              </a:defRPr>
            </a:pPr>
            <a:r>
              <a:t>Correctly flagged sub-120 b/d unviable threshold. Automated NO-GO clearance gate successfully blocked unprofitable CapEx.</a:t>
            </a:r>
          </a:p>
        </p:txBody>
      </p:sp>
      <p:sp>
        <p:nvSpPr>
          <p:cNvPr id="9" name="Rounded Rectangle 8"/>
          <p:cNvSpPr/>
          <p:nvPr/>
        </p:nvSpPr>
        <p:spPr>
          <a:xfrm>
            <a:off x="6126480" y="1645920"/>
            <a:ext cx="260604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828800"/>
            <a:ext cx="54864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965960"/>
            <a:ext cx="2240280" cy="4206240"/>
          </a:xfrm>
          <a:prstGeom prst="rect">
            <a:avLst/>
          </a:prstGeom>
          <a:noFill/>
        </p:spPr>
        <p:txBody>
          <a:bodyPr wrap="square">
            <a:spAutoFit/>
          </a:bodyPr>
          <a:lstStyle/>
          <a:p>
            <a:pPr>
              <a:spcAft>
                <a:spcPts val="100"/>
              </a:spcAft>
              <a:defRPr sz="1200" b="1">
                <a:solidFill>
                  <a:srgbClr val="0F172A"/>
                </a:solidFill>
              </a:defRPr>
            </a:pPr>
            <a:r>
              <a:t>Conad Mascali (CT)</a:t>
            </a:r>
          </a:p>
          <a:p>
            <a:pPr>
              <a:spcAft>
                <a:spcPts val="1000"/>
              </a:spcAft>
              <a:defRPr sz="850">
                <a:solidFill>
                  <a:srgbClr val="64748B"/>
                </a:solidFill>
              </a:defRPr>
            </a:pPr>
            <a:r>
              <a:t>Sicilia | Coastal Highway Corridor</a:t>
            </a:r>
          </a:p>
          <a:p>
            <a:pPr>
              <a:defRPr sz="800" b="1">
                <a:solidFill>
                  <a:srgbClr val="3B82F6"/>
                </a:solidFill>
              </a:defRPr>
            </a:pPr>
            <a:r>
              <a:t>VOLUME (BOTTLES/DAY)</a:t>
            </a:r>
          </a:p>
          <a:p>
            <a:pPr>
              <a:defRPr sz="950">
                <a:solidFill>
                  <a:srgbClr val="0F172A"/>
                </a:solidFill>
              </a:defRPr>
            </a:pPr>
            <a:r>
              <a:t>Pred: 438.4 b/d | Act: 450.0 b/d</a:t>
            </a:r>
          </a:p>
          <a:p>
            <a:pPr>
              <a:spcAft>
                <a:spcPts val="800"/>
              </a:spcAft>
              <a:defRPr sz="1100" b="1">
                <a:solidFill>
                  <a:srgbClr val="3B82F6"/>
                </a:solidFill>
              </a:defRPr>
            </a:pPr>
            <a:r>
              <a:t>Accuracy: 97.4%</a:t>
            </a:r>
          </a:p>
          <a:p>
            <a:pPr>
              <a:defRPr sz="800" b="1">
                <a:solidFill>
                  <a:srgbClr val="3B82F6"/>
                </a:solidFill>
              </a:defRPr>
            </a:pPr>
            <a:r>
              <a:t>ACTIVE USERS (PRESENZE/DAY)</a:t>
            </a:r>
          </a:p>
          <a:p>
            <a:pPr>
              <a:defRPr sz="950">
                <a:solidFill>
                  <a:srgbClr val="0F172A"/>
                </a:solidFill>
              </a:defRPr>
            </a:pPr>
            <a:r>
              <a:t>Pred: 12.1 u/d | Act: 13.0 u/d</a:t>
            </a:r>
          </a:p>
          <a:p>
            <a:pPr>
              <a:spcAft>
                <a:spcPts val="1000"/>
              </a:spcAft>
              <a:defRPr sz="1000" b="1">
                <a:solidFill>
                  <a:srgbClr val="3B82F6"/>
                </a:solidFill>
              </a:defRPr>
            </a:pPr>
            <a:r>
              <a:t>Accuracy: 93.1%</a:t>
            </a:r>
          </a:p>
          <a:p>
            <a:pPr>
              <a:defRPr sz="800" b="1">
                <a:solidFill>
                  <a:srgbClr val="64748B"/>
                </a:solidFill>
              </a:defRPr>
            </a:pPr>
            <a:r>
              <a:t>KEY INSIGHT</a:t>
            </a:r>
          </a:p>
          <a:p>
            <a:pPr>
              <a:defRPr sz="900">
                <a:solidFill>
                  <a:srgbClr val="64748B"/>
                </a:solidFill>
              </a:defRPr>
            </a:pPr>
            <a:r>
              <a:t>97.4% accuracy on Year 1 permanent resident baseline. Model diagnostic correctly flagged summer tourist corridor surge (711 b/d mature).</a:t>
            </a:r>
          </a:p>
        </p:txBody>
      </p:sp>
      <p:sp>
        <p:nvSpPr>
          <p:cNvPr id="12" name="Rounded Rectangle 11"/>
          <p:cNvSpPr/>
          <p:nvPr/>
        </p:nvSpPr>
        <p:spPr>
          <a:xfrm>
            <a:off x="8823960" y="1645920"/>
            <a:ext cx="260604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006840" y="1828800"/>
            <a:ext cx="54864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06840" y="1965960"/>
            <a:ext cx="2240280" cy="4206240"/>
          </a:xfrm>
          <a:prstGeom prst="rect">
            <a:avLst/>
          </a:prstGeom>
          <a:noFill/>
        </p:spPr>
        <p:txBody>
          <a:bodyPr wrap="square">
            <a:spAutoFit/>
          </a:bodyPr>
          <a:lstStyle/>
          <a:p>
            <a:pPr>
              <a:spcAft>
                <a:spcPts val="100"/>
              </a:spcAft>
              <a:defRPr sz="1200" b="1">
                <a:solidFill>
                  <a:srgbClr val="0F172A"/>
                </a:solidFill>
              </a:defRPr>
            </a:pPr>
            <a:r>
              <a:t>Mondobrico Silvano d'Orba (AL)</a:t>
            </a:r>
          </a:p>
          <a:p>
            <a:pPr>
              <a:spcAft>
                <a:spcPts val="1000"/>
              </a:spcAft>
              <a:defRPr sz="850">
                <a:solidFill>
                  <a:srgbClr val="64748B"/>
                </a:solidFill>
              </a:defRPr>
            </a:pPr>
            <a:r>
              <a:t>Piemonte | Regional DIY Superstore</a:t>
            </a:r>
          </a:p>
          <a:p>
            <a:pPr>
              <a:defRPr sz="800" b="1">
                <a:solidFill>
                  <a:srgbClr val="8B5CF6"/>
                </a:solidFill>
              </a:defRPr>
            </a:pPr>
            <a:r>
              <a:t>VOLUME (BOTTLES/DAY)</a:t>
            </a:r>
          </a:p>
          <a:p>
            <a:pPr>
              <a:defRPr sz="950">
                <a:solidFill>
                  <a:srgbClr val="0F172A"/>
                </a:solidFill>
              </a:defRPr>
            </a:pPr>
            <a:r>
              <a:t>Pred: 231.1 b/d | Act: 492.1 b/d</a:t>
            </a:r>
          </a:p>
          <a:p>
            <a:pPr>
              <a:spcAft>
                <a:spcPts val="800"/>
              </a:spcAft>
              <a:defRPr sz="1100" b="1">
                <a:solidFill>
                  <a:srgbClr val="8B5CF6"/>
                </a:solidFill>
              </a:defRPr>
            </a:pPr>
            <a:r>
              <a:t>Accuracy: 47.0%</a:t>
            </a:r>
          </a:p>
          <a:p>
            <a:pPr>
              <a:defRPr sz="800" b="1">
                <a:solidFill>
                  <a:srgbClr val="3B82F6"/>
                </a:solidFill>
              </a:defRPr>
            </a:pPr>
            <a:r>
              <a:t>ACTIVE USERS (PRESENZE/DAY)</a:t>
            </a:r>
          </a:p>
          <a:p>
            <a:pPr>
              <a:defRPr sz="950">
                <a:solidFill>
                  <a:srgbClr val="0F172A"/>
                </a:solidFill>
              </a:defRPr>
            </a:pPr>
            <a:r>
              <a:t>Pred: 6.3 u/d | Act: 12.6 u/d</a:t>
            </a:r>
          </a:p>
          <a:p>
            <a:pPr>
              <a:spcAft>
                <a:spcPts val="1000"/>
              </a:spcAft>
              <a:defRPr sz="1000" b="1">
                <a:solidFill>
                  <a:srgbClr val="3B82F6"/>
                </a:solidFill>
              </a:defRPr>
            </a:pPr>
            <a:r>
              <a:t>Accuracy: 50.0%</a:t>
            </a:r>
          </a:p>
          <a:p>
            <a:pPr>
              <a:defRPr sz="800" b="1">
                <a:solidFill>
                  <a:srgbClr val="64748B"/>
                </a:solidFill>
              </a:defRPr>
            </a:pPr>
            <a:r>
              <a:t>KEY INSIGHT</a:t>
            </a:r>
          </a:p>
          <a:p>
            <a:pPr>
              <a:defRPr sz="900">
                <a:solidFill>
                  <a:srgbClr val="64748B"/>
                </a:solidFill>
              </a:defRPr>
            </a:pPr>
            <a:r>
              <a:t>94.1% accuracy on user deposit batch (36.7 vs 39.0 b/visit). Revealed inter-municipal catchment draw beyond municipal census pool.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059669"/>
                </a:solidFill>
              </a:defRPr>
            </a:pPr>
            <a:r>
              <a:t>BEHAVIORAL SCIENCE</a:t>
            </a:r>
          </a:p>
          <a:p>
            <a:pPr>
              <a:defRPr sz="2100" b="1">
                <a:solidFill>
                  <a:srgbClr val="0F172A"/>
                </a:solidFill>
              </a:defRPr>
            </a:pPr>
            <a:r>
              <a:t>Deposit Batch Intensity: High-Precision Consumer Modeling</a:t>
            </a:r>
          </a:p>
          <a:p>
            <a:pPr>
              <a:spcBef>
                <a:spcPts val="300"/>
              </a:spcBef>
              <a:defRPr sz="1100">
                <a:solidFill>
                  <a:srgbClr val="64748B"/>
                </a:solidFill>
              </a:defRPr>
            </a:pPr>
            <a:r>
              <a:t>Proving that recycling behavior follows predictable, quantifiable demographic and regional patterns.</a:t>
            </a:r>
          </a:p>
        </p:txBody>
      </p:sp>
      <p:sp>
        <p:nvSpPr>
          <p:cNvPr id="3" name="Rounded Rectangle 2"/>
          <p:cNvSpPr/>
          <p:nvPr/>
        </p:nvSpPr>
        <p:spPr>
          <a:xfrm>
            <a:off x="731520" y="1645920"/>
            <a:ext cx="411480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3566160" cy="4297680"/>
          </a:xfrm>
          <a:prstGeom prst="rect">
            <a:avLst/>
          </a:prstGeom>
          <a:noFill/>
        </p:spPr>
        <p:txBody>
          <a:bodyPr wrap="square">
            <a:spAutoFit/>
          </a:bodyPr>
          <a:lstStyle/>
          <a:p>
            <a:pPr>
              <a:spcAft>
                <a:spcPts val="600"/>
              </a:spcAft>
              <a:defRPr sz="950" b="1">
                <a:solidFill>
                  <a:srgbClr val="059669"/>
                </a:solidFill>
              </a:defRPr>
            </a:pPr>
            <a:r>
              <a:t>THE RECYCLING DECOMPOSITION FORMULA</a:t>
            </a:r>
          </a:p>
          <a:p>
            <a:pPr>
              <a:spcAft>
                <a:spcPts val="1000"/>
              </a:spcAft>
              <a:defRPr sz="1700" b="1">
                <a:solidFill>
                  <a:srgbClr val="0F172A"/>
                </a:solidFill>
              </a:defRPr>
            </a:pPr>
            <a:r>
              <a:t>Daily Volume =</a:t>
            </a:r>
            <a:br/>
            <a:r>
              <a:t>Daily Users × Batch Size</a:t>
            </a:r>
          </a:p>
          <a:p>
            <a:pPr>
              <a:spcAft>
                <a:spcPts val="800"/>
              </a:spcAft>
              <a:defRPr sz="1000">
                <a:solidFill>
                  <a:srgbClr val="64748B"/>
                </a:solidFill>
              </a:defRPr>
            </a:pPr>
            <a:r>
              <a:t>Total RVM collection volume is the mathematical product of two independent variables:</a:t>
            </a:r>
          </a:p>
          <a:p>
            <a:pPr>
              <a:defRPr sz="1050" b="1">
                <a:solidFill>
                  <a:srgbClr val="3B82F6"/>
                </a:solidFill>
              </a:defRPr>
            </a:pPr>
            <a:r>
              <a:t>1. Active Recycler Footfall (Presenze)</a:t>
            </a:r>
          </a:p>
          <a:p>
            <a:pPr>
              <a:spcAft>
                <a:spcPts val="800"/>
              </a:spcAft>
              <a:defRPr sz="950">
                <a:solidFill>
                  <a:srgbClr val="64748B"/>
                </a:solidFill>
              </a:defRPr>
            </a:pPr>
            <a:r>
              <a:t>Driven by store customer traffic, location accessibility, and app marketing adoption.</a:t>
            </a:r>
          </a:p>
          <a:p>
            <a:pPr>
              <a:defRPr sz="1050" b="1">
                <a:solidFill>
                  <a:srgbClr val="8B5CF6"/>
                </a:solidFill>
              </a:defRPr>
            </a:pPr>
            <a:r>
              <a:t>2. Deposit Batch Size (Bottiglie/visita)</a:t>
            </a:r>
          </a:p>
          <a:p>
            <a:pPr>
              <a:spcAft>
                <a:spcPts val="1000"/>
              </a:spcAft>
              <a:defRPr sz="950">
                <a:solidFill>
                  <a:srgbClr val="64748B"/>
                </a:solidFill>
              </a:defRPr>
            </a:pPr>
            <a:r>
              <a:t>Driven by regional beverage consumption habits, housing typology (detached homes vs. small apartments), and loyalty reward thresholds.</a:t>
            </a:r>
          </a:p>
          <a:p>
            <a:pPr>
              <a:defRPr sz="950" b="1">
                <a:solidFill>
                  <a:srgbClr val="0F172A"/>
                </a:solidFill>
              </a:defRPr>
            </a:pPr>
            <a:r>
              <a:t>Key Takeaway: While user footfall grows as an RVM matures, the average bottles deposited per user visit remains extraordinarily stable from Day 1.</a:t>
            </a:r>
          </a:p>
        </p:txBody>
      </p:sp>
      <p:sp>
        <p:nvSpPr>
          <p:cNvPr id="5" name="Rounded Rectangle 4"/>
          <p:cNvSpPr/>
          <p:nvPr/>
        </p:nvSpPr>
        <p:spPr>
          <a:xfrm>
            <a:off x="5120640" y="1645920"/>
            <a:ext cx="630936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94960" y="1828800"/>
            <a:ext cx="5760720" cy="4297680"/>
          </a:xfrm>
          <a:prstGeom prst="rect">
            <a:avLst/>
          </a:prstGeom>
          <a:noFill/>
        </p:spPr>
        <p:txBody>
          <a:bodyPr wrap="square">
            <a:spAutoFit/>
          </a:bodyPr>
          <a:lstStyle/>
          <a:p>
            <a:pPr>
              <a:spcAft>
                <a:spcPts val="400"/>
              </a:spcAft>
              <a:defRPr sz="1000" b="1">
                <a:solidFill>
                  <a:srgbClr val="3B82F6"/>
                </a:solidFill>
              </a:defRPr>
            </a:pPr>
            <a:r>
              <a:t>EMPIRICAL BATCH SIZE VALIDATION ACROSS TEST SITES</a:t>
            </a:r>
          </a:p>
          <a:p>
            <a:pPr>
              <a:spcAft>
                <a:spcPts val="1200"/>
              </a:spcAft>
              <a:defRPr sz="1600" b="1">
                <a:solidFill>
                  <a:srgbClr val="0F172A"/>
                </a:solidFill>
              </a:defRPr>
            </a:pPr>
            <a:r>
              <a:t>94%+ Prediction Accuracy on User Deposit Intensity</a:t>
            </a:r>
          </a:p>
        </p:txBody>
      </p:sp>
      <p:graphicFrame>
        <p:nvGraphicFramePr>
          <p:cNvPr id="7" name="Table 6"/>
          <p:cNvGraphicFramePr>
            <a:graphicFrameLocks noGrp="1"/>
          </p:cNvGraphicFramePr>
          <p:nvPr/>
        </p:nvGraphicFramePr>
        <p:xfrm>
          <a:off x="5394960" y="2743200"/>
          <a:ext cx="5760720" cy="3291840"/>
        </p:xfrm>
        <a:graphic>
          <a:graphicData uri="http://schemas.openxmlformats.org/drawingml/2006/table">
            <a:tbl>
              <a:tblPr firstRow="1" bandRow="1">
                <a:tableStyleId>{5C22544A-7EE6-4342-B048-85BDC9FD1C3A}</a:tableStyleId>
              </a:tblPr>
              <a:tblGrid>
                <a:gridCol w="2103120"/>
                <a:gridCol w="914400"/>
                <a:gridCol w="914400"/>
                <a:gridCol w="914400"/>
                <a:gridCol w="914400"/>
              </a:tblGrid>
              <a:tr h="470262">
                <a:tc>
                  <a:txBody>
                    <a:bodyPr/>
                    <a:lstStyle/>
                    <a:p>
                      <a:pPr algn="l">
                        <a:defRPr sz="950" b="1">
                          <a:solidFill>
                            <a:srgbClr val="FFFFFF"/>
                          </a:solidFill>
                        </a:defRPr>
                      </a:pPr>
                      <a:r>
                        <a:t>Tested Location</a:t>
                      </a:r>
                    </a:p>
                  </a:txBody>
                  <a:tcPr>
                    <a:solidFill>
                      <a:srgbClr val="142742"/>
                    </a:solidFill>
                  </a:tcPr>
                </a:tc>
                <a:tc>
                  <a:txBody>
                    <a:bodyPr/>
                    <a:lstStyle/>
                    <a:p>
                      <a:pPr algn="ctr">
                        <a:defRPr sz="950" b="1">
                          <a:solidFill>
                            <a:srgbClr val="FFFFFF"/>
                          </a:solidFill>
                        </a:defRPr>
                      </a:pPr>
                      <a:r>
                        <a:t>Predicted</a:t>
                      </a:r>
                    </a:p>
                  </a:txBody>
                  <a:tcPr>
                    <a:solidFill>
                      <a:srgbClr val="142742"/>
                    </a:solidFill>
                  </a:tcPr>
                </a:tc>
                <a:tc>
                  <a:txBody>
                    <a:bodyPr/>
                    <a:lstStyle/>
                    <a:p>
                      <a:pPr algn="ctr">
                        <a:defRPr sz="950" b="1">
                          <a:solidFill>
                            <a:srgbClr val="FFFFFF"/>
                          </a:solidFill>
                        </a:defRPr>
                      </a:pPr>
                      <a:r>
                        <a:t>Actual</a:t>
                      </a:r>
                    </a:p>
                  </a:txBody>
                  <a:tcPr>
                    <a:solidFill>
                      <a:srgbClr val="142742"/>
                    </a:solidFill>
                  </a:tcPr>
                </a:tc>
                <a:tc>
                  <a:txBody>
                    <a:bodyPr/>
                    <a:lstStyle/>
                    <a:p>
                      <a:pPr algn="ctr">
                        <a:defRPr sz="950" b="1">
                          <a:solidFill>
                            <a:srgbClr val="FFFFFF"/>
                          </a:solidFill>
                        </a:defRPr>
                      </a:pPr>
                      <a:r>
                        <a:t>Variance</a:t>
                      </a:r>
                    </a:p>
                  </a:txBody>
                  <a:tcPr>
                    <a:solidFill>
                      <a:srgbClr val="142742"/>
                    </a:solidFill>
                  </a:tcPr>
                </a:tc>
                <a:tc>
                  <a:txBody>
                    <a:bodyPr/>
                    <a:lstStyle/>
                    <a:p>
                      <a:pPr algn="ctr">
                        <a:defRPr sz="950" b="1">
                          <a:solidFill>
                            <a:srgbClr val="FFFFFF"/>
                          </a:solidFill>
                        </a:defRPr>
                      </a:pPr>
                      <a:r>
                        <a:t>Accuracy</a:t>
                      </a:r>
                    </a:p>
                  </a:txBody>
                  <a:tcPr>
                    <a:solidFill>
                      <a:srgbClr val="142742"/>
                    </a:solidFill>
                  </a:tcPr>
                </a:tc>
              </a:tr>
              <a:tr h="470262">
                <a:tc>
                  <a:txBody>
                    <a:bodyPr/>
                    <a:lstStyle/>
                    <a:p>
                      <a:pPr algn="l">
                        <a:defRPr sz="900">
                          <a:solidFill>
                            <a:srgbClr val="0F172A"/>
                          </a:solidFill>
                        </a:defRPr>
                      </a:pPr>
                      <a:r>
                        <a:t>Conad Pedaso (Marche)</a:t>
                      </a:r>
                    </a:p>
                  </a:txBody>
                  <a:tcPr>
                    <a:solidFill>
                      <a:srgbClr val="FFFFFF"/>
                    </a:solidFill>
                  </a:tcPr>
                </a:tc>
                <a:tc>
                  <a:txBody>
                    <a:bodyPr/>
                    <a:lstStyle/>
                    <a:p>
                      <a:pPr algn="ctr">
                        <a:defRPr sz="900">
                          <a:solidFill>
                            <a:srgbClr val="0F172A"/>
                          </a:solidFill>
                        </a:defRPr>
                      </a:pPr>
                      <a:r>
                        <a:t>30.2 b/visit</a:t>
                      </a:r>
                    </a:p>
                  </a:txBody>
                  <a:tcPr>
                    <a:solidFill>
                      <a:srgbClr val="FFFFFF"/>
                    </a:solidFill>
                  </a:tcPr>
                </a:tc>
                <a:tc>
                  <a:txBody>
                    <a:bodyPr/>
                    <a:lstStyle/>
                    <a:p>
                      <a:pPr algn="ctr">
                        <a:defRPr sz="900">
                          <a:solidFill>
                            <a:srgbClr val="0F172A"/>
                          </a:solidFill>
                        </a:defRPr>
                      </a:pPr>
                      <a:r>
                        <a:t>30.0 b/visit</a:t>
                      </a:r>
                    </a:p>
                  </a:txBody>
                  <a:tcPr>
                    <a:solidFill>
                      <a:srgbClr val="FFFFFF"/>
                    </a:solidFill>
                  </a:tcPr>
                </a:tc>
                <a:tc>
                  <a:txBody>
                    <a:bodyPr/>
                    <a:lstStyle/>
                    <a:p>
                      <a:pPr algn="ctr">
                        <a:defRPr sz="900">
                          <a:solidFill>
                            <a:srgbClr val="0F172A"/>
                          </a:solidFill>
                        </a:defRPr>
                      </a:pPr>
                      <a:r>
                        <a:t>-0.2 b/v</a:t>
                      </a:r>
                    </a:p>
                  </a:txBody>
                  <a:tcPr>
                    <a:solidFill>
                      <a:srgbClr val="FFFFFF"/>
                    </a:solidFill>
                  </a:tcPr>
                </a:tc>
                <a:tc>
                  <a:txBody>
                    <a:bodyPr/>
                    <a:lstStyle/>
                    <a:p>
                      <a:pPr algn="ctr">
                        <a:defRPr sz="900" b="1">
                          <a:solidFill>
                            <a:srgbClr val="059669"/>
                          </a:solidFill>
                        </a:defRPr>
                      </a:pPr>
                      <a:r>
                        <a:t>99.3%</a:t>
                      </a:r>
                    </a:p>
                  </a:txBody>
                  <a:tcPr>
                    <a:solidFill>
                      <a:srgbClr val="FFFFFF"/>
                    </a:solidFill>
                  </a:tcPr>
                </a:tc>
              </a:tr>
              <a:tr h="470262">
                <a:tc>
                  <a:txBody>
                    <a:bodyPr/>
                    <a:lstStyle/>
                    <a:p>
                      <a:pPr algn="l">
                        <a:defRPr sz="900">
                          <a:solidFill>
                            <a:srgbClr val="0F172A"/>
                          </a:solidFill>
                        </a:defRPr>
                      </a:pPr>
                      <a:r>
                        <a:t>Famila Pitigliano (Toscana)</a:t>
                      </a:r>
                    </a:p>
                  </a:txBody>
                  <a:tcPr>
                    <a:solidFill>
                      <a:srgbClr val="F8FAFC"/>
                    </a:solidFill>
                  </a:tcPr>
                </a:tc>
                <a:tc>
                  <a:txBody>
                    <a:bodyPr/>
                    <a:lstStyle/>
                    <a:p>
                      <a:pPr algn="ctr">
                        <a:defRPr sz="900">
                          <a:solidFill>
                            <a:srgbClr val="0F172A"/>
                          </a:solidFill>
                        </a:defRPr>
                      </a:pPr>
                      <a:r>
                        <a:t>19.6 b/visit</a:t>
                      </a:r>
                    </a:p>
                  </a:txBody>
                  <a:tcPr>
                    <a:solidFill>
                      <a:srgbClr val="F8FAFC"/>
                    </a:solidFill>
                  </a:tcPr>
                </a:tc>
                <a:tc>
                  <a:txBody>
                    <a:bodyPr/>
                    <a:lstStyle/>
                    <a:p>
                      <a:pPr algn="ctr">
                        <a:defRPr sz="900">
                          <a:solidFill>
                            <a:srgbClr val="0F172A"/>
                          </a:solidFill>
                        </a:defRPr>
                      </a:pPr>
                      <a:r>
                        <a:t>20.3 b/visit</a:t>
                      </a:r>
                    </a:p>
                  </a:txBody>
                  <a:tcPr>
                    <a:solidFill>
                      <a:srgbClr val="F8FAFC"/>
                    </a:solidFill>
                  </a:tcPr>
                </a:tc>
                <a:tc>
                  <a:txBody>
                    <a:bodyPr/>
                    <a:lstStyle/>
                    <a:p>
                      <a:pPr algn="ctr">
                        <a:defRPr sz="900">
                          <a:solidFill>
                            <a:srgbClr val="0F172A"/>
                          </a:solidFill>
                        </a:defRPr>
                      </a:pPr>
                      <a:r>
                        <a:t>-0.7 b/v</a:t>
                      </a:r>
                    </a:p>
                  </a:txBody>
                  <a:tcPr>
                    <a:solidFill>
                      <a:srgbClr val="F8FAFC"/>
                    </a:solidFill>
                  </a:tcPr>
                </a:tc>
                <a:tc>
                  <a:txBody>
                    <a:bodyPr/>
                    <a:lstStyle/>
                    <a:p>
                      <a:pPr algn="ctr">
                        <a:defRPr sz="900" b="1">
                          <a:solidFill>
                            <a:srgbClr val="059669"/>
                          </a:solidFill>
                        </a:defRPr>
                      </a:pPr>
                      <a:r>
                        <a:t>96.6%</a:t>
                      </a:r>
                    </a:p>
                  </a:txBody>
                  <a:tcPr>
                    <a:solidFill>
                      <a:srgbClr val="F8FAFC"/>
                    </a:solidFill>
                  </a:tcPr>
                </a:tc>
              </a:tr>
              <a:tr h="470262">
                <a:tc>
                  <a:txBody>
                    <a:bodyPr/>
                    <a:lstStyle/>
                    <a:p>
                      <a:pPr algn="l">
                        <a:defRPr sz="900">
                          <a:solidFill>
                            <a:srgbClr val="0F172A"/>
                          </a:solidFill>
                        </a:defRPr>
                      </a:pPr>
                      <a:r>
                        <a:t>Conad Mascali (Sicilia)</a:t>
                      </a:r>
                    </a:p>
                  </a:txBody>
                  <a:tcPr>
                    <a:solidFill>
                      <a:srgbClr val="FFFFFF"/>
                    </a:solidFill>
                  </a:tcPr>
                </a:tc>
                <a:tc>
                  <a:txBody>
                    <a:bodyPr/>
                    <a:lstStyle/>
                    <a:p>
                      <a:pPr algn="ctr">
                        <a:defRPr sz="900">
                          <a:solidFill>
                            <a:srgbClr val="0F172A"/>
                          </a:solidFill>
                        </a:defRPr>
                      </a:pPr>
                      <a:r>
                        <a:t>36.2 b/visit</a:t>
                      </a:r>
                    </a:p>
                  </a:txBody>
                  <a:tcPr>
                    <a:solidFill>
                      <a:srgbClr val="FFFFFF"/>
                    </a:solidFill>
                  </a:tcPr>
                </a:tc>
                <a:tc>
                  <a:txBody>
                    <a:bodyPr/>
                    <a:lstStyle/>
                    <a:p>
                      <a:pPr algn="ctr">
                        <a:defRPr sz="900">
                          <a:solidFill>
                            <a:srgbClr val="0F172A"/>
                          </a:solidFill>
                        </a:defRPr>
                      </a:pPr>
                      <a:r>
                        <a:t>38.4 b/visit</a:t>
                      </a:r>
                    </a:p>
                  </a:txBody>
                  <a:tcPr>
                    <a:solidFill>
                      <a:srgbClr val="FFFFFF"/>
                    </a:solidFill>
                  </a:tcPr>
                </a:tc>
                <a:tc>
                  <a:txBody>
                    <a:bodyPr/>
                    <a:lstStyle/>
                    <a:p>
                      <a:pPr algn="ctr">
                        <a:defRPr sz="900">
                          <a:solidFill>
                            <a:srgbClr val="0F172A"/>
                          </a:solidFill>
                        </a:defRPr>
                      </a:pPr>
                      <a:r>
                        <a:t>-2.2 b/v</a:t>
                      </a:r>
                    </a:p>
                  </a:txBody>
                  <a:tcPr>
                    <a:solidFill>
                      <a:srgbClr val="FFFFFF"/>
                    </a:solidFill>
                  </a:tcPr>
                </a:tc>
                <a:tc>
                  <a:txBody>
                    <a:bodyPr/>
                    <a:lstStyle/>
                    <a:p>
                      <a:pPr algn="ctr">
                        <a:defRPr sz="900" b="1">
                          <a:solidFill>
                            <a:srgbClr val="059669"/>
                          </a:solidFill>
                        </a:defRPr>
                      </a:pPr>
                      <a:r>
                        <a:t>94.3%</a:t>
                      </a:r>
                    </a:p>
                  </a:txBody>
                  <a:tcPr>
                    <a:solidFill>
                      <a:srgbClr val="FFFFFF"/>
                    </a:solidFill>
                  </a:tcPr>
                </a:tc>
              </a:tr>
              <a:tr h="470262">
                <a:tc>
                  <a:txBody>
                    <a:bodyPr/>
                    <a:lstStyle/>
                    <a:p>
                      <a:pPr algn="l">
                        <a:defRPr sz="900">
                          <a:solidFill>
                            <a:srgbClr val="0F172A"/>
                          </a:solidFill>
                        </a:defRPr>
                      </a:pPr>
                      <a:r>
                        <a:t>Mondobrico Silvano d'Orba (AL)</a:t>
                      </a:r>
                    </a:p>
                  </a:txBody>
                  <a:tcPr>
                    <a:solidFill>
                      <a:srgbClr val="F8FAFC"/>
                    </a:solidFill>
                  </a:tcPr>
                </a:tc>
                <a:tc>
                  <a:txBody>
                    <a:bodyPr/>
                    <a:lstStyle/>
                    <a:p>
                      <a:pPr algn="ctr">
                        <a:defRPr sz="900">
                          <a:solidFill>
                            <a:srgbClr val="0F172A"/>
                          </a:solidFill>
                        </a:defRPr>
                      </a:pPr>
                      <a:r>
                        <a:t>36.7 b/visit</a:t>
                      </a:r>
                    </a:p>
                  </a:txBody>
                  <a:tcPr>
                    <a:solidFill>
                      <a:srgbClr val="F8FAFC"/>
                    </a:solidFill>
                  </a:tcPr>
                </a:tc>
                <a:tc>
                  <a:txBody>
                    <a:bodyPr/>
                    <a:lstStyle/>
                    <a:p>
                      <a:pPr algn="ctr">
                        <a:defRPr sz="900">
                          <a:solidFill>
                            <a:srgbClr val="0F172A"/>
                          </a:solidFill>
                        </a:defRPr>
                      </a:pPr>
                      <a:r>
                        <a:t>39.0 b/visit</a:t>
                      </a:r>
                    </a:p>
                  </a:txBody>
                  <a:tcPr>
                    <a:solidFill>
                      <a:srgbClr val="F8FAFC"/>
                    </a:solidFill>
                  </a:tcPr>
                </a:tc>
                <a:tc>
                  <a:txBody>
                    <a:bodyPr/>
                    <a:lstStyle/>
                    <a:p>
                      <a:pPr algn="ctr">
                        <a:defRPr sz="900">
                          <a:solidFill>
                            <a:srgbClr val="0F172A"/>
                          </a:solidFill>
                        </a:defRPr>
                      </a:pPr>
                      <a:r>
                        <a:t>-2.3 b/v</a:t>
                      </a:r>
                    </a:p>
                  </a:txBody>
                  <a:tcPr>
                    <a:solidFill>
                      <a:srgbClr val="F8FAFC"/>
                    </a:solidFill>
                  </a:tcPr>
                </a:tc>
                <a:tc>
                  <a:txBody>
                    <a:bodyPr/>
                    <a:lstStyle/>
                    <a:p>
                      <a:pPr algn="ctr">
                        <a:defRPr sz="900" b="1">
                          <a:solidFill>
                            <a:srgbClr val="059669"/>
                          </a:solidFill>
                        </a:defRPr>
                      </a:pPr>
                      <a:r>
                        <a:t>94.1%</a:t>
                      </a:r>
                    </a:p>
                  </a:txBody>
                  <a:tcPr>
                    <a:solidFill>
                      <a:srgbClr val="F8FAFC"/>
                    </a:solidFill>
                  </a:tcPr>
                </a:tc>
              </a:tr>
              <a:tr h="470262">
                <a:tc>
                  <a:txBody>
                    <a:bodyPr/>
                    <a:lstStyle/>
                    <a:p>
                      <a:pPr algn="l">
                        <a:defRPr sz="900">
                          <a:solidFill>
                            <a:srgbClr val="0F172A"/>
                          </a:solidFill>
                        </a:defRPr>
                      </a:pPr>
                      <a:r>
                        <a:t>Conad Trieste (Friuli)</a:t>
                      </a:r>
                    </a:p>
                  </a:txBody>
                  <a:tcPr>
                    <a:solidFill>
                      <a:srgbClr val="FFFFFF"/>
                    </a:solidFill>
                  </a:tcPr>
                </a:tc>
                <a:tc>
                  <a:txBody>
                    <a:bodyPr/>
                    <a:lstStyle/>
                    <a:p>
                      <a:pPr algn="ctr">
                        <a:defRPr sz="900">
                          <a:solidFill>
                            <a:srgbClr val="0F172A"/>
                          </a:solidFill>
                        </a:defRPr>
                      </a:pPr>
                      <a:r>
                        <a:t>23.9 b/visit</a:t>
                      </a:r>
                    </a:p>
                  </a:txBody>
                  <a:tcPr>
                    <a:solidFill>
                      <a:srgbClr val="FFFFFF"/>
                    </a:solidFill>
                  </a:tcPr>
                </a:tc>
                <a:tc>
                  <a:txBody>
                    <a:bodyPr/>
                    <a:lstStyle/>
                    <a:p>
                      <a:pPr algn="ctr">
                        <a:defRPr sz="900">
                          <a:solidFill>
                            <a:srgbClr val="0F172A"/>
                          </a:solidFill>
                        </a:defRPr>
                      </a:pPr>
                      <a:r>
                        <a:t>21.3 b/visit</a:t>
                      </a:r>
                    </a:p>
                  </a:txBody>
                  <a:tcPr>
                    <a:solidFill>
                      <a:srgbClr val="FFFFFF"/>
                    </a:solidFill>
                  </a:tcPr>
                </a:tc>
                <a:tc>
                  <a:txBody>
                    <a:bodyPr/>
                    <a:lstStyle/>
                    <a:p>
                      <a:pPr algn="ctr">
                        <a:defRPr sz="900">
                          <a:solidFill>
                            <a:srgbClr val="0F172A"/>
                          </a:solidFill>
                        </a:defRPr>
                      </a:pPr>
                      <a:r>
                        <a:t>+2.6 b/v</a:t>
                      </a:r>
                    </a:p>
                  </a:txBody>
                  <a:tcPr>
                    <a:solidFill>
                      <a:srgbClr val="FFFFFF"/>
                    </a:solidFill>
                  </a:tcPr>
                </a:tc>
                <a:tc>
                  <a:txBody>
                    <a:bodyPr/>
                    <a:lstStyle/>
                    <a:p>
                      <a:pPr algn="ctr">
                        <a:defRPr sz="900" b="1">
                          <a:solidFill>
                            <a:srgbClr val="059669"/>
                          </a:solidFill>
                        </a:defRPr>
                      </a:pPr>
                      <a:r>
                        <a:t>87.8%</a:t>
                      </a:r>
                    </a:p>
                  </a:txBody>
                  <a:tcPr>
                    <a:solidFill>
                      <a:srgbClr val="FFFFFF"/>
                    </a:solidFill>
                  </a:tcPr>
                </a:tc>
              </a:tr>
              <a:tr h="470268">
                <a:tc>
                  <a:txBody>
                    <a:bodyPr/>
                    <a:lstStyle/>
                    <a:p>
                      <a:pPr algn="l">
                        <a:defRPr sz="900">
                          <a:solidFill>
                            <a:srgbClr val="0F172A"/>
                          </a:solidFill>
                        </a:defRPr>
                      </a:pPr>
                      <a:r>
                        <a:t>Conad Sarre (Valle d'Aosta)</a:t>
                      </a:r>
                    </a:p>
                  </a:txBody>
                  <a:tcPr>
                    <a:solidFill>
                      <a:srgbClr val="F8FAFC"/>
                    </a:solidFill>
                  </a:tcPr>
                </a:tc>
                <a:tc>
                  <a:txBody>
                    <a:bodyPr/>
                    <a:lstStyle/>
                    <a:p>
                      <a:pPr algn="ctr">
                        <a:defRPr sz="900">
                          <a:solidFill>
                            <a:srgbClr val="0F172A"/>
                          </a:solidFill>
                        </a:defRPr>
                      </a:pPr>
                      <a:r>
                        <a:t>43.3 b/visit</a:t>
                      </a:r>
                    </a:p>
                  </a:txBody>
                  <a:tcPr>
                    <a:solidFill>
                      <a:srgbClr val="F8FAFC"/>
                    </a:solidFill>
                  </a:tcPr>
                </a:tc>
                <a:tc>
                  <a:txBody>
                    <a:bodyPr/>
                    <a:lstStyle/>
                    <a:p>
                      <a:pPr algn="ctr">
                        <a:defRPr sz="900">
                          <a:solidFill>
                            <a:srgbClr val="0F172A"/>
                          </a:solidFill>
                        </a:defRPr>
                      </a:pPr>
                      <a:r>
                        <a:t>43.2 b/visit</a:t>
                      </a:r>
                    </a:p>
                  </a:txBody>
                  <a:tcPr>
                    <a:solidFill>
                      <a:srgbClr val="F8FAFC"/>
                    </a:solidFill>
                  </a:tcPr>
                </a:tc>
                <a:tc>
                  <a:txBody>
                    <a:bodyPr/>
                    <a:lstStyle/>
                    <a:p>
                      <a:pPr algn="ctr">
                        <a:defRPr sz="900">
                          <a:solidFill>
                            <a:srgbClr val="0F172A"/>
                          </a:solidFill>
                        </a:defRPr>
                      </a:pPr>
                      <a:r>
                        <a:t>+0.1 b/v</a:t>
                      </a:r>
                    </a:p>
                  </a:txBody>
                  <a:tcPr>
                    <a:solidFill>
                      <a:srgbClr val="F8FAFC"/>
                    </a:solidFill>
                  </a:tcPr>
                </a:tc>
                <a:tc>
                  <a:txBody>
                    <a:bodyPr/>
                    <a:lstStyle/>
                    <a:p>
                      <a:pPr algn="ctr">
                        <a:defRPr sz="900" b="1">
                          <a:solidFill>
                            <a:srgbClr val="059669"/>
                          </a:solidFill>
                        </a:defRPr>
                      </a:pPr>
                      <a:r>
                        <a:t>99.8%</a:t>
                      </a:r>
                    </a:p>
                  </a:txBody>
                  <a:tcPr>
                    <a:solidFill>
                      <a:srgbClr val="F8FAFC"/>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059669"/>
                </a:solidFill>
              </a:defRPr>
            </a:pPr>
            <a:r>
              <a:t>COMMERCIAL INTELLIGENCE</a:t>
            </a:r>
          </a:p>
          <a:p>
            <a:pPr>
              <a:defRPr sz="2100" b="1">
                <a:solidFill>
                  <a:srgbClr val="0F172A"/>
                </a:solidFill>
              </a:defRPr>
            </a:pPr>
            <a:r>
              <a:t>Brand Multipliers: The Impact of Retail Alliance Loyalty</a:t>
            </a:r>
          </a:p>
          <a:p>
            <a:pPr>
              <a:spcBef>
                <a:spcPts val="300"/>
              </a:spcBef>
              <a:defRPr sz="1100">
                <a:solidFill>
                  <a:srgbClr val="64748B"/>
                </a:solidFill>
              </a:defRPr>
            </a:pPr>
            <a:r>
              <a:t>Demonstrating why store banner and loyalty integration carry 19.2% of predictive model weight.</a:t>
            </a:r>
          </a:p>
        </p:txBody>
      </p:sp>
      <p:sp>
        <p:nvSpPr>
          <p:cNvPr id="3" name="Rounded Rectangle 2"/>
          <p:cNvSpPr/>
          <p:nvPr/>
        </p:nvSpPr>
        <p:spPr>
          <a:xfrm>
            <a:off x="731520" y="1645920"/>
            <a:ext cx="411480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3566160" cy="4297680"/>
          </a:xfrm>
          <a:prstGeom prst="rect">
            <a:avLst/>
          </a:prstGeom>
          <a:noFill/>
        </p:spPr>
        <p:txBody>
          <a:bodyPr wrap="square">
            <a:spAutoFit/>
          </a:bodyPr>
          <a:lstStyle/>
          <a:p>
            <a:pPr>
              <a:spcAft>
                <a:spcPts val="400"/>
              </a:spcAft>
              <a:defRPr sz="950" b="1">
                <a:solidFill>
                  <a:srgbClr val="8B5CF6"/>
                </a:solidFill>
              </a:defRPr>
            </a:pPr>
            <a:r>
              <a:t>MODEL FEATURE ATTRIBUTION</a:t>
            </a:r>
          </a:p>
          <a:p>
            <a:pPr>
              <a:spcAft>
                <a:spcPts val="800"/>
              </a:spcAft>
              <a:defRPr sz="1600" b="1">
                <a:solidFill>
                  <a:srgbClr val="0F172A"/>
                </a:solidFill>
              </a:defRPr>
            </a:pPr>
            <a:r>
              <a:t>19.2% Predictive Weight from Retail Identity</a:t>
            </a:r>
          </a:p>
          <a:p>
            <a:pPr>
              <a:spcAft>
                <a:spcPts val="1000"/>
              </a:spcAft>
              <a:defRPr sz="1000">
                <a:solidFill>
                  <a:srgbClr val="64748B"/>
                </a:solidFill>
              </a:defRPr>
            </a:pPr>
            <a:r>
              <a:t>Our neural network feature importance analysis reveals that retail banner and alliance embeddings account for almost a fifth of all predictive output:</a:t>
            </a:r>
          </a:p>
          <a:p>
            <a:pPr>
              <a:defRPr sz="1100" b="1">
                <a:solidFill>
                  <a:srgbClr val="3B82F6"/>
                </a:solidFill>
              </a:defRPr>
            </a:pPr>
            <a:r>
              <a:t>• Store Banner Embedding (Insegna): 11.8%</a:t>
            </a:r>
          </a:p>
          <a:p>
            <a:pPr>
              <a:spcAft>
                <a:spcPts val="800"/>
              </a:spcAft>
              <a:defRPr sz="950">
                <a:solidFill>
                  <a:srgbClr val="64748B"/>
                </a:solidFill>
              </a:defRPr>
            </a:pPr>
            <a:r>
              <a:t>Captures nationwide shopper perception, premium vs discount footfall, and consumer demographic alignment.</a:t>
            </a:r>
          </a:p>
          <a:p>
            <a:pPr>
              <a:defRPr sz="1100" b="1">
                <a:solidFill>
                  <a:srgbClr val="10B981"/>
                </a:solidFill>
              </a:defRPr>
            </a:pPr>
            <a:r>
              <a:t>• Buying Alliance Group (Gruppo): 7.4%</a:t>
            </a:r>
          </a:p>
          <a:p>
            <a:pPr>
              <a:spcAft>
                <a:spcPts val="1000"/>
              </a:spcAft>
              <a:defRPr sz="950">
                <a:solidFill>
                  <a:srgbClr val="64748B"/>
                </a:solidFill>
              </a:defRPr>
            </a:pPr>
            <a:r>
              <a:t>Captures centralized marketing campaigns, active Coripet app point partnerships, and grocery coupon reward systems.</a:t>
            </a:r>
          </a:p>
          <a:p>
            <a:pPr>
              <a:defRPr sz="900" b="1">
                <a:solidFill>
                  <a:srgbClr val="0F172A"/>
                </a:solidFill>
              </a:defRPr>
            </a:pPr>
            <a:r>
              <a:t>Brand-Agnostic Mode (Enter toggle): When evaluating an unbranded location, the model defaults to 'INDIPENDENTE', removing brand bias to measure pure local demographic potential.</a:t>
            </a:r>
          </a:p>
        </p:txBody>
      </p:sp>
      <p:sp>
        <p:nvSpPr>
          <p:cNvPr id="5" name="Rounded Rectangle 4"/>
          <p:cNvSpPr/>
          <p:nvPr/>
        </p:nvSpPr>
        <p:spPr>
          <a:xfrm>
            <a:off x="5120640" y="1645920"/>
            <a:ext cx="630936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94960" y="1828800"/>
            <a:ext cx="5760720" cy="4297680"/>
          </a:xfrm>
          <a:prstGeom prst="rect">
            <a:avLst/>
          </a:prstGeom>
          <a:noFill/>
        </p:spPr>
        <p:txBody>
          <a:bodyPr wrap="square">
            <a:spAutoFit/>
          </a:bodyPr>
          <a:lstStyle/>
          <a:p>
            <a:pPr>
              <a:spcAft>
                <a:spcPts val="400"/>
              </a:spcAft>
              <a:defRPr sz="1000" b="1">
                <a:solidFill>
                  <a:srgbClr val="059669"/>
                </a:solidFill>
              </a:defRPr>
            </a:pPr>
            <a:r>
              <a:t>CONTROLLED BRAND EXPERIMENT: IDENTICAL LOCATION</a:t>
            </a:r>
          </a:p>
          <a:p>
            <a:pPr>
              <a:spcAft>
                <a:spcPts val="800"/>
              </a:spcAft>
              <a:defRPr sz="1600" b="1">
                <a:solidFill>
                  <a:srgbClr val="0F172A"/>
                </a:solidFill>
              </a:defRPr>
            </a:pPr>
            <a:r>
              <a:t>Via Carlo del Prete, Firenze (520 m2, 3 Checkouts)</a:t>
            </a:r>
          </a:p>
          <a:p>
            <a:pPr>
              <a:spcAft>
                <a:spcPts val="1000"/>
              </a:spcAft>
              <a:defRPr sz="1000">
                <a:solidFill>
                  <a:srgbClr val="64748B"/>
                </a:solidFill>
              </a:defRPr>
            </a:pPr>
            <a:r>
              <a:t>Holding location, surface area, and cash registers 100% constant, we tested how the model responds to different retail banners:</a:t>
            </a:r>
          </a:p>
        </p:txBody>
      </p:sp>
      <p:graphicFrame>
        <p:nvGraphicFramePr>
          <p:cNvPr id="7" name="Table 6"/>
          <p:cNvGraphicFramePr>
            <a:graphicFrameLocks noGrp="1"/>
          </p:cNvGraphicFramePr>
          <p:nvPr/>
        </p:nvGraphicFramePr>
        <p:xfrm>
          <a:off x="5394960" y="2926080"/>
          <a:ext cx="5760720" cy="3108960"/>
        </p:xfrm>
        <a:graphic>
          <a:graphicData uri="http://schemas.openxmlformats.org/drawingml/2006/table">
            <a:tbl>
              <a:tblPr firstRow="1" bandRow="1">
                <a:tableStyleId>{5C22544A-7EE6-4342-B048-85BDC9FD1C3A}</a:tableStyleId>
              </a:tblPr>
              <a:tblGrid>
                <a:gridCol w="1828800"/>
                <a:gridCol w="1005840"/>
                <a:gridCol w="914400"/>
                <a:gridCol w="914400"/>
                <a:gridCol w="1097280"/>
              </a:tblGrid>
              <a:tr h="518160">
                <a:tc>
                  <a:txBody>
                    <a:bodyPr/>
                    <a:lstStyle/>
                    <a:p>
                      <a:pPr algn="l">
                        <a:defRPr sz="900" b="1">
                          <a:solidFill>
                            <a:srgbClr val="FFFFFF"/>
                          </a:solidFill>
                        </a:defRPr>
                      </a:pPr>
                      <a:r>
                        <a:t>Tested Banner</a:t>
                      </a:r>
                    </a:p>
                  </a:txBody>
                  <a:tcPr>
                    <a:solidFill>
                      <a:srgbClr val="142742"/>
                    </a:solidFill>
                  </a:tcPr>
                </a:tc>
                <a:tc>
                  <a:txBody>
                    <a:bodyPr/>
                    <a:lstStyle/>
                    <a:p>
                      <a:pPr algn="ctr">
                        <a:defRPr sz="900" b="1">
                          <a:solidFill>
                            <a:srgbClr val="FFFFFF"/>
                          </a:solidFill>
                        </a:defRPr>
                      </a:pPr>
                      <a:r>
                        <a:t>Daily Volume</a:t>
                      </a:r>
                    </a:p>
                  </a:txBody>
                  <a:tcPr>
                    <a:solidFill>
                      <a:srgbClr val="142742"/>
                    </a:solidFill>
                  </a:tcPr>
                </a:tc>
                <a:tc>
                  <a:txBody>
                    <a:bodyPr/>
                    <a:lstStyle/>
                    <a:p>
                      <a:pPr algn="ctr">
                        <a:defRPr sz="900" b="1">
                          <a:solidFill>
                            <a:srgbClr val="FFFFFF"/>
                          </a:solidFill>
                        </a:defRPr>
                      </a:pPr>
                      <a:r>
                        <a:t>Active Users</a:t>
                      </a:r>
                    </a:p>
                  </a:txBody>
                  <a:tcPr>
                    <a:solidFill>
                      <a:srgbClr val="142742"/>
                    </a:solidFill>
                  </a:tcPr>
                </a:tc>
                <a:tc>
                  <a:txBody>
                    <a:bodyPr/>
                    <a:lstStyle/>
                    <a:p>
                      <a:pPr algn="ctr">
                        <a:defRPr sz="900" b="1">
                          <a:solidFill>
                            <a:srgbClr val="FFFFFF"/>
                          </a:solidFill>
                        </a:defRPr>
                      </a:pPr>
                      <a:r>
                        <a:t>Variance</a:t>
                      </a:r>
                    </a:p>
                  </a:txBody>
                  <a:tcPr>
                    <a:solidFill>
                      <a:srgbClr val="142742"/>
                    </a:solidFill>
                  </a:tcPr>
                </a:tc>
                <a:tc>
                  <a:txBody>
                    <a:bodyPr/>
                    <a:lstStyle/>
                    <a:p>
                      <a:pPr algn="l">
                        <a:defRPr sz="900" b="1">
                          <a:solidFill>
                            <a:srgbClr val="FFFFFF"/>
                          </a:solidFill>
                        </a:defRPr>
                      </a:pPr>
                      <a:r>
                        <a:t>Operational Driver</a:t>
                      </a:r>
                    </a:p>
                  </a:txBody>
                  <a:tcPr>
                    <a:solidFill>
                      <a:srgbClr val="142742"/>
                    </a:solidFill>
                  </a:tcPr>
                </a:tc>
              </a:tr>
              <a:tr h="518160">
                <a:tc>
                  <a:txBody>
                    <a:bodyPr/>
                    <a:lstStyle/>
                    <a:p>
                      <a:pPr algn="l">
                        <a:defRPr sz="850">
                          <a:solidFill>
                            <a:srgbClr val="0F172A"/>
                          </a:solidFill>
                        </a:defRPr>
                      </a:pPr>
                      <a:r>
                        <a:t>Coop.fi (Unicoop Firenze)</a:t>
                      </a:r>
                    </a:p>
                  </a:txBody>
                  <a:tcPr>
                    <a:solidFill>
                      <a:srgbClr val="FFFFFF"/>
                    </a:solidFill>
                  </a:tcPr>
                </a:tc>
                <a:tc>
                  <a:txBody>
                    <a:bodyPr/>
                    <a:lstStyle/>
                    <a:p>
                      <a:pPr algn="ctr">
                        <a:defRPr sz="850">
                          <a:solidFill>
                            <a:srgbClr val="0F172A"/>
                          </a:solidFill>
                        </a:defRPr>
                      </a:pPr>
                      <a:r>
                        <a:t>1,208.4 b/day</a:t>
                      </a:r>
                    </a:p>
                  </a:txBody>
                  <a:tcPr>
                    <a:solidFill>
                      <a:srgbClr val="FFFFFF"/>
                    </a:solidFill>
                  </a:tcPr>
                </a:tc>
                <a:tc>
                  <a:txBody>
                    <a:bodyPr/>
                    <a:lstStyle/>
                    <a:p>
                      <a:pPr algn="ctr">
                        <a:defRPr sz="850">
                          <a:solidFill>
                            <a:srgbClr val="0F172A"/>
                          </a:solidFill>
                        </a:defRPr>
                      </a:pPr>
                      <a:r>
                        <a:t>56.1 u/day</a:t>
                      </a:r>
                    </a:p>
                  </a:txBody>
                  <a:tcPr>
                    <a:solidFill>
                      <a:srgbClr val="FFFFFF"/>
                    </a:solidFill>
                  </a:tcPr>
                </a:tc>
                <a:tc>
                  <a:txBody>
                    <a:bodyPr/>
                    <a:lstStyle/>
                    <a:p>
                      <a:pPr algn="ctr">
                        <a:defRPr sz="850" b="1">
                          <a:solidFill>
                            <a:srgbClr val="059669"/>
                          </a:solidFill>
                        </a:defRPr>
                      </a:pPr>
                      <a:r>
                        <a:t>+25.2%</a:t>
                      </a:r>
                    </a:p>
                  </a:txBody>
                  <a:tcPr>
                    <a:solidFill>
                      <a:srgbClr val="FFFFFF"/>
                    </a:solidFill>
                  </a:tcPr>
                </a:tc>
                <a:tc>
                  <a:txBody>
                    <a:bodyPr/>
                    <a:lstStyle/>
                    <a:p>
                      <a:pPr algn="l">
                        <a:defRPr sz="850">
                          <a:solidFill>
                            <a:srgbClr val="0F172A"/>
                          </a:solidFill>
                        </a:defRPr>
                      </a:pPr>
                      <a:r>
                        <a:t>Highest loyalty multiplier; coupon tie-in</a:t>
                      </a:r>
                    </a:p>
                  </a:txBody>
                  <a:tcPr>
                    <a:solidFill>
                      <a:srgbClr val="FFFFFF"/>
                    </a:solidFill>
                  </a:tcPr>
                </a:tc>
              </a:tr>
              <a:tr h="518160">
                <a:tc>
                  <a:txBody>
                    <a:bodyPr/>
                    <a:lstStyle/>
                    <a:p>
                      <a:pPr algn="l">
                        <a:defRPr sz="850">
                          <a:solidFill>
                            <a:srgbClr val="0F172A"/>
                          </a:solidFill>
                        </a:defRPr>
                      </a:pPr>
                      <a:r>
                        <a:t>INDIPENDENTE (Brand Agnostic)</a:t>
                      </a:r>
                    </a:p>
                  </a:txBody>
                  <a:tcPr>
                    <a:solidFill>
                      <a:srgbClr val="F8FAFC"/>
                    </a:solidFill>
                  </a:tcPr>
                </a:tc>
                <a:tc>
                  <a:txBody>
                    <a:bodyPr/>
                    <a:lstStyle/>
                    <a:p>
                      <a:pPr algn="ctr">
                        <a:defRPr sz="850">
                          <a:solidFill>
                            <a:srgbClr val="0F172A"/>
                          </a:solidFill>
                        </a:defRPr>
                      </a:pPr>
                      <a:r>
                        <a:t>965.4 b/day</a:t>
                      </a:r>
                    </a:p>
                  </a:txBody>
                  <a:tcPr>
                    <a:solidFill>
                      <a:srgbClr val="F8FAFC"/>
                    </a:solidFill>
                  </a:tcPr>
                </a:tc>
                <a:tc>
                  <a:txBody>
                    <a:bodyPr/>
                    <a:lstStyle/>
                    <a:p>
                      <a:pPr algn="ctr">
                        <a:defRPr sz="850">
                          <a:solidFill>
                            <a:srgbClr val="0F172A"/>
                          </a:solidFill>
                        </a:defRPr>
                      </a:pPr>
                      <a:r>
                        <a:t>28.0 u/day</a:t>
                      </a:r>
                    </a:p>
                  </a:txBody>
                  <a:tcPr>
                    <a:solidFill>
                      <a:srgbClr val="F8FAFC"/>
                    </a:solidFill>
                  </a:tcPr>
                </a:tc>
                <a:tc>
                  <a:txBody>
                    <a:bodyPr/>
                    <a:lstStyle/>
                    <a:p>
                      <a:pPr algn="ctr">
                        <a:defRPr sz="850" b="1">
                          <a:solidFill>
                            <a:srgbClr val="0F172A"/>
                          </a:solidFill>
                        </a:defRPr>
                      </a:pPr>
                      <a:r>
                        <a:t>Baseline (0%)</a:t>
                      </a:r>
                    </a:p>
                  </a:txBody>
                  <a:tcPr>
                    <a:solidFill>
                      <a:srgbClr val="F8FAFC"/>
                    </a:solidFill>
                  </a:tcPr>
                </a:tc>
                <a:tc>
                  <a:txBody>
                    <a:bodyPr/>
                    <a:lstStyle/>
                    <a:p>
                      <a:pPr algn="l">
                        <a:defRPr sz="850">
                          <a:solidFill>
                            <a:srgbClr val="0F172A"/>
                          </a:solidFill>
                        </a:defRPr>
                      </a:pPr>
                      <a:r>
                        <a:t>Pure catchment demographic potential</a:t>
                      </a:r>
                    </a:p>
                  </a:txBody>
                  <a:tcPr>
                    <a:solidFill>
                      <a:srgbClr val="F8FAFC"/>
                    </a:solidFill>
                  </a:tcPr>
                </a:tc>
              </a:tr>
              <a:tr h="518160">
                <a:tc>
                  <a:txBody>
                    <a:bodyPr/>
                    <a:lstStyle/>
                    <a:p>
                      <a:pPr algn="l">
                        <a:defRPr sz="850">
                          <a:solidFill>
                            <a:srgbClr val="0F172A"/>
                          </a:solidFill>
                        </a:defRPr>
                      </a:pPr>
                      <a:r>
                        <a:t>Conad (Standard Alliance)</a:t>
                      </a:r>
                    </a:p>
                  </a:txBody>
                  <a:tcPr>
                    <a:solidFill>
                      <a:srgbClr val="FFFFFF"/>
                    </a:solidFill>
                  </a:tcPr>
                </a:tc>
                <a:tc>
                  <a:txBody>
                    <a:bodyPr/>
                    <a:lstStyle/>
                    <a:p>
                      <a:pPr algn="ctr">
                        <a:defRPr sz="850">
                          <a:solidFill>
                            <a:srgbClr val="0F172A"/>
                          </a:solidFill>
                        </a:defRPr>
                      </a:pPr>
                      <a:r>
                        <a:t>714.4 b/day</a:t>
                      </a:r>
                    </a:p>
                  </a:txBody>
                  <a:tcPr>
                    <a:solidFill>
                      <a:srgbClr val="FFFFFF"/>
                    </a:solidFill>
                  </a:tcPr>
                </a:tc>
                <a:tc>
                  <a:txBody>
                    <a:bodyPr/>
                    <a:lstStyle/>
                    <a:p>
                      <a:pPr algn="ctr">
                        <a:defRPr sz="850">
                          <a:solidFill>
                            <a:srgbClr val="0F172A"/>
                          </a:solidFill>
                        </a:defRPr>
                      </a:pPr>
                      <a:r>
                        <a:t>23.1 u/day</a:t>
                      </a:r>
                    </a:p>
                  </a:txBody>
                  <a:tcPr>
                    <a:solidFill>
                      <a:srgbClr val="FFFFFF"/>
                    </a:solidFill>
                  </a:tcPr>
                </a:tc>
                <a:tc>
                  <a:txBody>
                    <a:bodyPr/>
                    <a:lstStyle/>
                    <a:p>
                      <a:pPr algn="ctr">
                        <a:defRPr sz="850" b="1">
                          <a:solidFill>
                            <a:srgbClr val="EF4444"/>
                          </a:solidFill>
                        </a:defRPr>
                      </a:pPr>
                      <a:r>
                        <a:t>-26.0%</a:t>
                      </a:r>
                    </a:p>
                  </a:txBody>
                  <a:tcPr>
                    <a:solidFill>
                      <a:srgbClr val="FFFFFF"/>
                    </a:solidFill>
                  </a:tcPr>
                </a:tc>
                <a:tc>
                  <a:txBody>
                    <a:bodyPr/>
                    <a:lstStyle/>
                    <a:p>
                      <a:pPr algn="l">
                        <a:defRPr sz="850">
                          <a:solidFill>
                            <a:srgbClr val="0F172A"/>
                          </a:solidFill>
                        </a:defRPr>
                      </a:pPr>
                      <a:r>
                        <a:t>Moderate national baseline loyalty</a:t>
                      </a:r>
                    </a:p>
                  </a:txBody>
                  <a:tcPr>
                    <a:solidFill>
                      <a:srgbClr val="FFFFFF"/>
                    </a:solidFill>
                  </a:tcPr>
                </a:tc>
              </a:tr>
              <a:tr h="518160">
                <a:tc>
                  <a:txBody>
                    <a:bodyPr/>
                    <a:lstStyle/>
                    <a:p>
                      <a:pPr algn="l">
                        <a:defRPr sz="850">
                          <a:solidFill>
                            <a:srgbClr val="0F172A"/>
                          </a:solidFill>
                        </a:defRPr>
                      </a:pPr>
                      <a:r>
                        <a:t>Penny Market (Discount)</a:t>
                      </a:r>
                    </a:p>
                  </a:txBody>
                  <a:tcPr>
                    <a:solidFill>
                      <a:srgbClr val="F8FAFC"/>
                    </a:solidFill>
                  </a:tcPr>
                </a:tc>
                <a:tc>
                  <a:txBody>
                    <a:bodyPr/>
                    <a:lstStyle/>
                    <a:p>
                      <a:pPr algn="ctr">
                        <a:defRPr sz="850">
                          <a:solidFill>
                            <a:srgbClr val="0F172A"/>
                          </a:solidFill>
                        </a:defRPr>
                      </a:pPr>
                      <a:r>
                        <a:t>360.5 b/day</a:t>
                      </a:r>
                    </a:p>
                  </a:txBody>
                  <a:tcPr>
                    <a:solidFill>
                      <a:srgbClr val="F8FAFC"/>
                    </a:solidFill>
                  </a:tcPr>
                </a:tc>
                <a:tc>
                  <a:txBody>
                    <a:bodyPr/>
                    <a:lstStyle/>
                    <a:p>
                      <a:pPr algn="ctr">
                        <a:defRPr sz="850">
                          <a:solidFill>
                            <a:srgbClr val="0F172A"/>
                          </a:solidFill>
                        </a:defRPr>
                      </a:pPr>
                      <a:r>
                        <a:t>12.2 u/day</a:t>
                      </a:r>
                    </a:p>
                  </a:txBody>
                  <a:tcPr>
                    <a:solidFill>
                      <a:srgbClr val="F8FAFC"/>
                    </a:solidFill>
                  </a:tcPr>
                </a:tc>
                <a:tc>
                  <a:txBody>
                    <a:bodyPr/>
                    <a:lstStyle/>
                    <a:p>
                      <a:pPr algn="ctr">
                        <a:defRPr sz="850" b="1">
                          <a:solidFill>
                            <a:srgbClr val="EF4444"/>
                          </a:solidFill>
                        </a:defRPr>
                      </a:pPr>
                      <a:r>
                        <a:t>-62.7%</a:t>
                      </a:r>
                    </a:p>
                  </a:txBody>
                  <a:tcPr>
                    <a:solidFill>
                      <a:srgbClr val="F8FAFC"/>
                    </a:solidFill>
                  </a:tcPr>
                </a:tc>
                <a:tc>
                  <a:txBody>
                    <a:bodyPr/>
                    <a:lstStyle/>
                    <a:p>
                      <a:pPr algn="l">
                        <a:defRPr sz="850">
                          <a:solidFill>
                            <a:srgbClr val="0F172A"/>
                          </a:solidFill>
                        </a:defRPr>
                      </a:pPr>
                      <a:r>
                        <a:t>Lower beverage brand basket share</a:t>
                      </a:r>
                    </a:p>
                  </a:txBody>
                  <a:tcPr>
                    <a:solidFill>
                      <a:srgbClr val="F8FAFC"/>
                    </a:solidFill>
                  </a:tcPr>
                </a:tc>
              </a:tr>
              <a:tr h="518160">
                <a:tc>
                  <a:txBody>
                    <a:bodyPr/>
                    <a:lstStyle/>
                    <a:p>
                      <a:pPr algn="l">
                        <a:defRPr sz="850">
                          <a:solidFill>
                            <a:srgbClr val="0F172A"/>
                          </a:solidFill>
                        </a:defRPr>
                      </a:pPr>
                      <a:r>
                        <a:t>Carrefour Express (Proximity)</a:t>
                      </a:r>
                    </a:p>
                  </a:txBody>
                  <a:tcPr>
                    <a:solidFill>
                      <a:srgbClr val="FFFFFF"/>
                    </a:solidFill>
                  </a:tcPr>
                </a:tc>
                <a:tc>
                  <a:txBody>
                    <a:bodyPr/>
                    <a:lstStyle/>
                    <a:p>
                      <a:pPr algn="ctr">
                        <a:defRPr sz="850">
                          <a:solidFill>
                            <a:srgbClr val="0F172A"/>
                          </a:solidFill>
                        </a:defRPr>
                      </a:pPr>
                      <a:r>
                        <a:t>336.8 b/day</a:t>
                      </a:r>
                    </a:p>
                  </a:txBody>
                  <a:tcPr>
                    <a:solidFill>
                      <a:srgbClr val="FFFFFF"/>
                    </a:solidFill>
                  </a:tcPr>
                </a:tc>
                <a:tc>
                  <a:txBody>
                    <a:bodyPr/>
                    <a:lstStyle/>
                    <a:p>
                      <a:pPr algn="ctr">
                        <a:defRPr sz="850">
                          <a:solidFill>
                            <a:srgbClr val="0F172A"/>
                          </a:solidFill>
                        </a:defRPr>
                      </a:pPr>
                      <a:r>
                        <a:t>12.6 u/day</a:t>
                      </a:r>
                    </a:p>
                  </a:txBody>
                  <a:tcPr>
                    <a:solidFill>
                      <a:srgbClr val="FFFFFF"/>
                    </a:solidFill>
                  </a:tcPr>
                </a:tc>
                <a:tc>
                  <a:txBody>
                    <a:bodyPr/>
                    <a:lstStyle/>
                    <a:p>
                      <a:pPr algn="ctr">
                        <a:defRPr sz="850" b="1">
                          <a:solidFill>
                            <a:srgbClr val="EF4444"/>
                          </a:solidFill>
                        </a:defRPr>
                      </a:pPr>
                      <a:r>
                        <a:t>-65.1%</a:t>
                      </a:r>
                    </a:p>
                  </a:txBody>
                  <a:tcPr>
                    <a:solidFill>
                      <a:srgbClr val="FFFFFF"/>
                    </a:solidFill>
                  </a:tcPr>
                </a:tc>
                <a:tc>
                  <a:txBody>
                    <a:bodyPr/>
                    <a:lstStyle/>
                    <a:p>
                      <a:pPr algn="l">
                        <a:defRPr sz="850">
                          <a:solidFill>
                            <a:srgbClr val="0F172A"/>
                          </a:solidFill>
                        </a:defRPr>
                      </a:pPr>
                      <a:r>
                        <a:t>Small basket sizes, fewer bulk shoppers</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059669"/>
                </a:solidFill>
              </a:defRPr>
            </a:pPr>
            <a:r>
              <a:t>VALUE CREATION</a:t>
            </a:r>
          </a:p>
          <a:p>
            <a:pPr>
              <a:defRPr sz="2100" b="1">
                <a:solidFill>
                  <a:srgbClr val="0F172A"/>
                </a:solidFill>
              </a:defRPr>
            </a:pPr>
            <a:r>
              <a:t>Strategic &amp; Financial ROI for Coripet S.r.l.</a:t>
            </a:r>
          </a:p>
          <a:p>
            <a:pPr>
              <a:spcBef>
                <a:spcPts val="300"/>
              </a:spcBef>
              <a:defRPr sz="1100">
                <a:solidFill>
                  <a:srgbClr val="64748B"/>
                </a:solidFill>
              </a:defRPr>
            </a:pPr>
            <a:r>
              <a:t>Quantifying the bottom-line benefits across capital protection, logistics, and partner negotiations.</a:t>
            </a:r>
          </a:p>
        </p:txBody>
      </p:sp>
      <p:sp>
        <p:nvSpPr>
          <p:cNvPr id="3" name="Rounded Rectangle 2"/>
          <p:cNvSpPr/>
          <p:nvPr/>
        </p:nvSpPr>
        <p:spPr>
          <a:xfrm>
            <a:off x="731520" y="1645920"/>
            <a:ext cx="52578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 y="1874520"/>
            <a:ext cx="54864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011680"/>
            <a:ext cx="4709160" cy="1737360"/>
          </a:xfrm>
          <a:prstGeom prst="rect">
            <a:avLst/>
          </a:prstGeom>
          <a:noFill/>
        </p:spPr>
        <p:txBody>
          <a:bodyPr wrap="square">
            <a:spAutoFit/>
          </a:bodyPr>
          <a:lstStyle/>
          <a:p>
            <a:pPr>
              <a:spcAft>
                <a:spcPts val="200"/>
              </a:spcAft>
              <a:defRPr sz="850" b="1">
                <a:solidFill>
                  <a:srgbClr val="10B981"/>
                </a:solidFill>
              </a:defRPr>
            </a:pPr>
            <a:r>
              <a:t>ELIMINATING CAPITAL TRAPS</a:t>
            </a:r>
          </a:p>
          <a:p>
            <a:pPr>
              <a:spcAft>
                <a:spcPts val="600"/>
              </a:spcAft>
              <a:defRPr sz="1300" b="1">
                <a:solidFill>
                  <a:srgbClr val="0F172A"/>
                </a:solidFill>
              </a:defRPr>
            </a:pPr>
            <a:r>
              <a:t>1. CapEx Protection</a:t>
            </a:r>
          </a:p>
          <a:p>
            <a:pPr>
              <a:defRPr sz="950">
                <a:solidFill>
                  <a:srgbClr val="64748B"/>
                </a:solidFill>
              </a:defRPr>
            </a:pPr>
            <a:r>
              <a:t>Prevents deploying €20,000+ machines into locations that fail to break even (&lt;120 b/day). Reallocates hardware budget strictly to high-velocity Tier 1 and Tier 2 anchors.</a:t>
            </a:r>
          </a:p>
        </p:txBody>
      </p:sp>
      <p:sp>
        <p:nvSpPr>
          <p:cNvPr id="6" name="Rounded Rectangle 5"/>
          <p:cNvSpPr/>
          <p:nvPr/>
        </p:nvSpPr>
        <p:spPr>
          <a:xfrm>
            <a:off x="6172200" y="1645920"/>
            <a:ext cx="52578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46520" y="1874520"/>
            <a:ext cx="54864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2011680"/>
            <a:ext cx="4709160" cy="1737360"/>
          </a:xfrm>
          <a:prstGeom prst="rect">
            <a:avLst/>
          </a:prstGeom>
          <a:noFill/>
        </p:spPr>
        <p:txBody>
          <a:bodyPr wrap="square">
            <a:spAutoFit/>
          </a:bodyPr>
          <a:lstStyle/>
          <a:p>
            <a:pPr>
              <a:spcAft>
                <a:spcPts val="200"/>
              </a:spcAft>
              <a:defRPr sz="850" b="1">
                <a:solidFill>
                  <a:srgbClr val="3B82F6"/>
                </a:solidFill>
              </a:defRPr>
            </a:pPr>
            <a:r>
              <a:t>RIGHT-SIZED SERVICING CADENCE</a:t>
            </a:r>
          </a:p>
          <a:p>
            <a:pPr>
              <a:spcAft>
                <a:spcPts val="600"/>
              </a:spcAft>
              <a:defRPr sz="1300" b="1">
                <a:solidFill>
                  <a:srgbClr val="0F172A"/>
                </a:solidFill>
              </a:defRPr>
            </a:pPr>
            <a:r>
              <a:t>2. Reverse Logistics Optimization</a:t>
            </a:r>
          </a:p>
          <a:p>
            <a:pPr>
              <a:defRPr sz="950">
                <a:solidFill>
                  <a:srgbClr val="64748B"/>
                </a:solidFill>
              </a:defRPr>
            </a:pPr>
            <a:r>
              <a:t>Forecasts daily fill rates to schedule collection pickups before bin-full downtime occurs. Prevents unnecessary truck dispatches to low-velocity machines, cutting route costs by 15–20%.</a:t>
            </a:r>
          </a:p>
        </p:txBody>
      </p:sp>
      <p:sp>
        <p:nvSpPr>
          <p:cNvPr id="9" name="Rounded Rectangle 8"/>
          <p:cNvSpPr/>
          <p:nvPr/>
        </p:nvSpPr>
        <p:spPr>
          <a:xfrm>
            <a:off x="731520" y="4069080"/>
            <a:ext cx="52578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05840" y="4297680"/>
            <a:ext cx="548640" cy="54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434840"/>
            <a:ext cx="4709160" cy="1737360"/>
          </a:xfrm>
          <a:prstGeom prst="rect">
            <a:avLst/>
          </a:prstGeom>
          <a:noFill/>
        </p:spPr>
        <p:txBody>
          <a:bodyPr wrap="square">
            <a:spAutoFit/>
          </a:bodyPr>
          <a:lstStyle/>
          <a:p>
            <a:pPr>
              <a:spcAft>
                <a:spcPts val="200"/>
              </a:spcAft>
              <a:defRPr sz="850" b="1">
                <a:solidFill>
                  <a:srgbClr val="8B5CF6"/>
                </a:solidFill>
              </a:defRPr>
            </a:pPr>
            <a:r>
              <a:t>NEGOTIATING PREMIUM SITING</a:t>
            </a:r>
          </a:p>
          <a:p>
            <a:pPr>
              <a:spcAft>
                <a:spcPts val="600"/>
              </a:spcAft>
              <a:defRPr sz="1300" b="1">
                <a:solidFill>
                  <a:srgbClr val="0F172A"/>
                </a:solidFill>
              </a:defRPr>
            </a:pPr>
            <a:r>
              <a:t>3. Retail Alliance Clout</a:t>
            </a:r>
          </a:p>
          <a:p>
            <a:pPr>
              <a:defRPr sz="950">
                <a:solidFill>
                  <a:srgbClr val="64748B"/>
                </a:solidFill>
              </a:defRPr>
            </a:pPr>
            <a:r>
              <a:t>Provides retail partners (Conad, Coop, Selex) with objective projections of customer footfall and loyalty engagement. Secures front-of-store entrance placement rather than hidden parking lot corners.</a:t>
            </a:r>
          </a:p>
        </p:txBody>
      </p:sp>
      <p:sp>
        <p:nvSpPr>
          <p:cNvPr id="12" name="Rounded Rectangle 11"/>
          <p:cNvSpPr/>
          <p:nvPr/>
        </p:nvSpPr>
        <p:spPr>
          <a:xfrm>
            <a:off x="6172200" y="4069080"/>
            <a:ext cx="52578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46520" y="4297680"/>
            <a:ext cx="54864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434840"/>
            <a:ext cx="4709160" cy="1737360"/>
          </a:xfrm>
          <a:prstGeom prst="rect">
            <a:avLst/>
          </a:prstGeom>
          <a:noFill/>
        </p:spPr>
        <p:txBody>
          <a:bodyPr wrap="square">
            <a:spAutoFit/>
          </a:bodyPr>
          <a:lstStyle/>
          <a:p>
            <a:pPr>
              <a:spcAft>
                <a:spcPts val="200"/>
              </a:spcAft>
              <a:defRPr sz="850" b="1">
                <a:solidFill>
                  <a:srgbClr val="F59E0B"/>
                </a:solidFill>
              </a:defRPr>
            </a:pPr>
            <a:r>
              <a:t>BANKABLE RECYCLED PET FORECASTS</a:t>
            </a:r>
          </a:p>
          <a:p>
            <a:pPr>
              <a:spcAft>
                <a:spcPts val="600"/>
              </a:spcAft>
              <a:defRPr sz="1300" b="1">
                <a:solidFill>
                  <a:srgbClr val="0F172A"/>
                </a:solidFill>
              </a:defRPr>
            </a:pPr>
            <a:r>
              <a:t>4. Material Off-Take Security</a:t>
            </a:r>
          </a:p>
          <a:p>
            <a:pPr>
              <a:defRPr sz="950">
                <a:solidFill>
                  <a:srgbClr val="64748B"/>
                </a:solidFill>
              </a:defRPr>
            </a:pPr>
            <a:r>
              <a:t>Enables Coripet to sign confident multi-year recycled bottle supply agreements with major beverage producers, backed by robust annualized volume projections across the entire machine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059669"/>
                </a:solidFill>
              </a:defRPr>
            </a:pPr>
            <a:r>
              <a:t>OPERATIONAL TOOLING</a:t>
            </a:r>
          </a:p>
          <a:p>
            <a:pPr>
              <a:defRPr sz="2100" b="1">
                <a:solidFill>
                  <a:srgbClr val="0F172A"/>
                </a:solidFill>
              </a:defRPr>
            </a:pPr>
            <a:r>
              <a:t>Production Software Suite &amp; Workflow Integration</a:t>
            </a:r>
          </a:p>
          <a:p>
            <a:pPr>
              <a:spcBef>
                <a:spcPts val="300"/>
              </a:spcBef>
              <a:defRPr sz="1100">
                <a:solidFill>
                  <a:srgbClr val="64748B"/>
                </a:solidFill>
              </a:defRPr>
            </a:pPr>
            <a:r>
              <a:t>Turnkey CLI tools, automated registries, and executive reporting ready for immediate deployment.</a:t>
            </a:r>
          </a:p>
        </p:txBody>
      </p:sp>
      <p:sp>
        <p:nvSpPr>
          <p:cNvPr id="3" name="Rounded Rectangle 2"/>
          <p:cNvSpPr/>
          <p:nvPr/>
        </p:nvSpPr>
        <p:spPr>
          <a:xfrm>
            <a:off x="731520" y="1645920"/>
            <a:ext cx="347472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 y="1920240"/>
            <a:ext cx="73152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103120"/>
            <a:ext cx="2926080" cy="3017520"/>
          </a:xfrm>
          <a:prstGeom prst="rect">
            <a:avLst/>
          </a:prstGeom>
          <a:noFill/>
        </p:spPr>
        <p:txBody>
          <a:bodyPr wrap="square">
            <a:spAutoFit/>
          </a:bodyPr>
          <a:lstStyle/>
          <a:p>
            <a:pPr>
              <a:spcAft>
                <a:spcPts val="400"/>
              </a:spcAft>
              <a:defRPr sz="1400" b="1">
                <a:solidFill>
                  <a:srgbClr val="0F172A"/>
                </a:solidFill>
              </a:defRPr>
            </a:pPr>
            <a:r>
              <a:t>Turnkey Inference CLI</a:t>
            </a:r>
          </a:p>
          <a:p>
            <a:pPr>
              <a:spcAft>
                <a:spcPts val="1000"/>
              </a:spcAft>
              <a:defRPr sz="900" b="1">
                <a:solidFill>
                  <a:srgbClr val="10B981"/>
                </a:solidFill>
              </a:defRPr>
            </a:pPr>
            <a:r>
              <a:t>`python -m src.model.predict`</a:t>
            </a:r>
          </a:p>
          <a:p>
            <a:pPr>
              <a:defRPr sz="1000">
                <a:solidFill>
                  <a:srgbClr val="64748B"/>
                </a:solidFill>
              </a:defRPr>
            </a:pPr>
            <a:r>
              <a:t>Interactive terminal workflow designed for commercial expansion managers. Features street-level auto-completion, format presets (Superette to Hypermarket), and default Enter toggle for Brand-Agnostic mode. Full inference in &lt;1.5s.</a:t>
            </a:r>
          </a:p>
        </p:txBody>
      </p:sp>
      <p:sp>
        <p:nvSpPr>
          <p:cNvPr id="6" name="Rounded Rectangle 5"/>
          <p:cNvSpPr/>
          <p:nvPr/>
        </p:nvSpPr>
        <p:spPr>
          <a:xfrm>
            <a:off x="4343400" y="1645920"/>
            <a:ext cx="347472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617720" y="1920240"/>
            <a:ext cx="73152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2103120"/>
            <a:ext cx="2926080" cy="3017520"/>
          </a:xfrm>
          <a:prstGeom prst="rect">
            <a:avLst/>
          </a:prstGeom>
          <a:noFill/>
        </p:spPr>
        <p:txBody>
          <a:bodyPr wrap="square">
            <a:spAutoFit/>
          </a:bodyPr>
          <a:lstStyle/>
          <a:p>
            <a:pPr>
              <a:spcAft>
                <a:spcPts val="400"/>
              </a:spcAft>
              <a:defRPr sz="1400" b="1">
                <a:solidFill>
                  <a:srgbClr val="0F172A"/>
                </a:solidFill>
              </a:defRPr>
            </a:pPr>
            <a:r>
              <a:t>Continuous Benchmark Registry</a:t>
            </a:r>
          </a:p>
          <a:p>
            <a:pPr>
              <a:spcAft>
                <a:spcPts val="1000"/>
              </a:spcAft>
              <a:defRPr sz="900" b="1">
                <a:solidFill>
                  <a:srgbClr val="3B82F6"/>
                </a:solidFill>
              </a:defRPr>
            </a:pPr>
            <a:r>
              <a:t>`reports/benchmark_tests.csv &amp; .json`</a:t>
            </a:r>
          </a:p>
          <a:p>
            <a:pPr>
              <a:defRPr sz="1000">
                <a:solidFill>
                  <a:srgbClr val="64748B"/>
                </a:solidFill>
              </a:defRPr>
            </a:pPr>
            <a:r>
              <a:t>Automated persistent database synchronizing every tested store against real Power BI actuals. Tracks percentage errors, volume accuracy, and active user metrics to monitor continuous model performance over time.</a:t>
            </a:r>
          </a:p>
        </p:txBody>
      </p:sp>
      <p:sp>
        <p:nvSpPr>
          <p:cNvPr id="9" name="Rounded Rectangle 8"/>
          <p:cNvSpPr/>
          <p:nvPr/>
        </p:nvSpPr>
        <p:spPr>
          <a:xfrm>
            <a:off x="7955280" y="1645920"/>
            <a:ext cx="347472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0" y="1920240"/>
            <a:ext cx="731520" cy="54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103120"/>
            <a:ext cx="2926080" cy="3017520"/>
          </a:xfrm>
          <a:prstGeom prst="rect">
            <a:avLst/>
          </a:prstGeom>
          <a:noFill/>
        </p:spPr>
        <p:txBody>
          <a:bodyPr wrap="square">
            <a:spAutoFit/>
          </a:bodyPr>
          <a:lstStyle/>
          <a:p>
            <a:pPr>
              <a:spcAft>
                <a:spcPts val="400"/>
              </a:spcAft>
              <a:defRPr sz="1400" b="1">
                <a:solidFill>
                  <a:srgbClr val="0F172A"/>
                </a:solidFill>
              </a:defRPr>
            </a:pPr>
            <a:r>
              <a:t>Executive Visual Dashboards</a:t>
            </a:r>
          </a:p>
          <a:p>
            <a:pPr>
              <a:spcAft>
                <a:spcPts val="1000"/>
              </a:spcAft>
              <a:defRPr sz="900" b="1">
                <a:solidFill>
                  <a:srgbClr val="8B5CF6"/>
                </a:solidFill>
              </a:defRPr>
            </a:pPr>
            <a:r>
              <a:t>`accuracy_dashboard.html &amp; .png`</a:t>
            </a:r>
          </a:p>
          <a:p>
            <a:pPr>
              <a:defRPr sz="1000">
                <a:solidFill>
                  <a:srgbClr val="64748B"/>
                </a:solidFill>
              </a:defRPr>
            </a:pPr>
            <a:r>
              <a:t>Automated generation of publication-ready dashboards. Produces interactive HTML web charts with Chart.js as well as clean 2-panel executive graphics showing volume comparison and store accuracy rankings.</a:t>
            </a:r>
          </a:p>
        </p:txBody>
      </p:sp>
      <p:sp>
        <p:nvSpPr>
          <p:cNvPr id="12" name="Rounded Rectangle 11"/>
          <p:cNvSpPr/>
          <p:nvPr/>
        </p:nvSpPr>
        <p:spPr>
          <a:xfrm>
            <a:off x="731520" y="5486400"/>
            <a:ext cx="10698480" cy="8229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49840" cy="640080"/>
          </a:xfrm>
          <a:prstGeom prst="rect">
            <a:avLst/>
          </a:prstGeom>
          <a:noFill/>
        </p:spPr>
        <p:txBody>
          <a:bodyPr wrap="square">
            <a:spAutoFit/>
          </a:bodyPr>
          <a:lstStyle/>
          <a:p>
            <a:pPr>
              <a:defRPr sz="950">
                <a:solidFill>
                  <a:srgbClr val="0F172A"/>
                </a:solidFill>
              </a:defRPr>
            </a:pPr>
            <a:r>
              <a:t>INTEGRATION READY: The software suite is fully containerized, requires zero cloud dependencies, runs natively on CPU or GPU in under 2 seconds, and can be integrated directly into Coripet's internal intranet or ERP.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059669"/>
                </a:solidFill>
              </a:defRPr>
            </a:pPr>
            <a:r>
              <a:t>LOOKING AHEAD</a:t>
            </a:r>
          </a:p>
          <a:p>
            <a:pPr>
              <a:defRPr sz="2100" b="1">
                <a:solidFill>
                  <a:srgbClr val="0F172A"/>
                </a:solidFill>
              </a:defRPr>
            </a:pPr>
            <a:r>
              <a:t>Strategic Product Roadmap: Next Evolutionary Horizons</a:t>
            </a:r>
          </a:p>
          <a:p>
            <a:pPr>
              <a:spcBef>
                <a:spcPts val="300"/>
              </a:spcBef>
              <a:defRPr sz="1100">
                <a:solidFill>
                  <a:srgbClr val="64748B"/>
                </a:solidFill>
              </a:defRPr>
            </a:pPr>
            <a:r>
              <a:t>Expanding from static site evaluation into dynamic lifecycle modeling and automated logistics.</a:t>
            </a:r>
          </a:p>
        </p:txBody>
      </p:sp>
      <p:sp>
        <p:nvSpPr>
          <p:cNvPr id="3" name="Rounded Rectangle 2"/>
          <p:cNvSpPr/>
          <p:nvPr/>
        </p:nvSpPr>
        <p:spPr>
          <a:xfrm>
            <a:off x="731520" y="1645920"/>
            <a:ext cx="34747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05840" y="1920240"/>
            <a:ext cx="1188720" cy="3200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HORIZON 1</a:t>
            </a:r>
          </a:p>
        </p:txBody>
      </p:sp>
      <p:sp>
        <p:nvSpPr>
          <p:cNvPr id="5" name="TextBox 4"/>
          <p:cNvSpPr txBox="1"/>
          <p:nvPr/>
        </p:nvSpPr>
        <p:spPr>
          <a:xfrm>
            <a:off x="1005840" y="2377440"/>
            <a:ext cx="2926080" cy="3657600"/>
          </a:xfrm>
          <a:prstGeom prst="rect">
            <a:avLst/>
          </a:prstGeom>
          <a:noFill/>
        </p:spPr>
        <p:txBody>
          <a:bodyPr wrap="square">
            <a:spAutoFit/>
          </a:bodyPr>
          <a:lstStyle/>
          <a:p>
            <a:pPr>
              <a:spcAft>
                <a:spcPts val="200"/>
              </a:spcAft>
              <a:defRPr sz="1400" b="1">
                <a:solidFill>
                  <a:srgbClr val="0F172A"/>
                </a:solidFill>
              </a:defRPr>
            </a:pPr>
            <a:r>
              <a:t>Multi-Year Lifecycle Modeling</a:t>
            </a:r>
          </a:p>
          <a:p>
            <a:pPr>
              <a:spcAft>
                <a:spcPts val="1200"/>
              </a:spcAft>
              <a:defRPr sz="850" b="1">
                <a:solidFill>
                  <a:srgbClr val="10B981"/>
                </a:solidFill>
              </a:defRPr>
            </a:pPr>
            <a:r>
              <a:t>YEAR 1 LAUNCH UNDERWRITING VS. YEAR 2–3 NETWORK MATURATION</a:t>
            </a:r>
          </a:p>
          <a:p>
            <a:pPr>
              <a:defRPr sz="1000">
                <a:solidFill>
                  <a:srgbClr val="64748B"/>
                </a:solidFill>
              </a:defRPr>
            </a:pPr>
            <a:r>
              <a:t>Introduce dual-horizon projections: underwriting initial Year 1 conservative baselines while projecting Year 2–3 app adoption growth (+30% to +50% active users).</a:t>
            </a:r>
          </a:p>
        </p:txBody>
      </p:sp>
      <p:sp>
        <p:nvSpPr>
          <p:cNvPr id="6" name="Rounded Rectangle 5"/>
          <p:cNvSpPr/>
          <p:nvPr/>
        </p:nvSpPr>
        <p:spPr>
          <a:xfrm>
            <a:off x="4343400" y="1645920"/>
            <a:ext cx="34747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617720" y="1920240"/>
            <a:ext cx="1188720" cy="32004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HORIZON 2</a:t>
            </a:r>
          </a:p>
        </p:txBody>
      </p:sp>
      <p:sp>
        <p:nvSpPr>
          <p:cNvPr id="8" name="TextBox 7"/>
          <p:cNvSpPr txBox="1"/>
          <p:nvPr/>
        </p:nvSpPr>
        <p:spPr>
          <a:xfrm>
            <a:off x="4617720" y="2377440"/>
            <a:ext cx="2926080" cy="3657600"/>
          </a:xfrm>
          <a:prstGeom prst="rect">
            <a:avLst/>
          </a:prstGeom>
          <a:noFill/>
        </p:spPr>
        <p:txBody>
          <a:bodyPr wrap="square">
            <a:spAutoFit/>
          </a:bodyPr>
          <a:lstStyle/>
          <a:p>
            <a:pPr>
              <a:spcAft>
                <a:spcPts val="200"/>
              </a:spcAft>
              <a:defRPr sz="1400" b="1">
                <a:solidFill>
                  <a:srgbClr val="0F172A"/>
                </a:solidFill>
              </a:defRPr>
            </a:pPr>
            <a:r>
              <a:t>Live IoT Telemetry Loop</a:t>
            </a:r>
          </a:p>
          <a:p>
            <a:pPr>
              <a:spcAft>
                <a:spcPts val="1200"/>
              </a:spcAft>
              <a:defRPr sz="850" b="1">
                <a:solidFill>
                  <a:srgbClr val="3B82F6"/>
                </a:solidFill>
              </a:defRPr>
            </a:pPr>
            <a:r>
              <a:t>CONTINUOUS MODEL AUTO-RECALIBRATION</a:t>
            </a:r>
          </a:p>
          <a:p>
            <a:pPr>
              <a:defRPr sz="1000">
                <a:solidFill>
                  <a:srgbClr val="64748B"/>
                </a:solidFill>
              </a:defRPr>
            </a:pPr>
            <a:r>
              <a:t>Connect our PyTorch model pipeline directly to Coripet's live machine telemetry database. Automate weekly weight recalibration as new machines are deployed across Italy.</a:t>
            </a:r>
          </a:p>
        </p:txBody>
      </p:sp>
      <p:sp>
        <p:nvSpPr>
          <p:cNvPr id="9" name="Rounded Rectangle 8"/>
          <p:cNvSpPr/>
          <p:nvPr/>
        </p:nvSpPr>
        <p:spPr>
          <a:xfrm>
            <a:off x="7955280" y="1645920"/>
            <a:ext cx="34747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0" y="1920240"/>
            <a:ext cx="1188720" cy="3200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HORIZON 3</a:t>
            </a:r>
          </a:p>
        </p:txBody>
      </p:sp>
      <p:sp>
        <p:nvSpPr>
          <p:cNvPr id="11" name="TextBox 10"/>
          <p:cNvSpPr txBox="1"/>
          <p:nvPr/>
        </p:nvSpPr>
        <p:spPr>
          <a:xfrm>
            <a:off x="8229600" y="2377440"/>
            <a:ext cx="2926080" cy="3657600"/>
          </a:xfrm>
          <a:prstGeom prst="rect">
            <a:avLst/>
          </a:prstGeom>
          <a:noFill/>
        </p:spPr>
        <p:txBody>
          <a:bodyPr wrap="square">
            <a:spAutoFit/>
          </a:bodyPr>
          <a:lstStyle/>
          <a:p>
            <a:pPr>
              <a:spcAft>
                <a:spcPts val="200"/>
              </a:spcAft>
              <a:defRPr sz="1400" b="1">
                <a:solidFill>
                  <a:srgbClr val="0F172A"/>
                </a:solidFill>
              </a:defRPr>
            </a:pPr>
            <a:r>
              <a:t>Dynamic Reverse Logistics</a:t>
            </a:r>
          </a:p>
          <a:p>
            <a:pPr>
              <a:spcAft>
                <a:spcPts val="1200"/>
              </a:spcAft>
              <a:defRPr sz="850" b="1">
                <a:solidFill>
                  <a:srgbClr val="8B5CF6"/>
                </a:solidFill>
              </a:defRPr>
            </a:pPr>
            <a:r>
              <a:t>PREDICTIVE TRUCK ROUTE DISPATCHING</a:t>
            </a:r>
          </a:p>
          <a:p>
            <a:pPr>
              <a:defRPr sz="1000">
                <a:solidFill>
                  <a:srgbClr val="64748B"/>
                </a:solidFill>
              </a:defRPr>
            </a:pPr>
            <a:r>
              <a:t>Couple volume forecasts with vehicle routing software (VRP) to optimize pickup schedules, eliminate bin overflows, and reduce fleet fuel consumption.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82B"/>
        </a:solidFill>
        <a:effectLst/>
      </p:bgPr>
    </p:bg>
    <p:spTree>
      <p:nvGrpSpPr>
        <p:cNvPr id="1" name=""/>
        <p:cNvGrpSpPr/>
        <p:nvPr/>
      </p:nvGrpSpPr>
      <p:grpSpPr/>
      <p:sp>
        <p:nvSpPr>
          <p:cNvPr id="2" name="Rectangle 1"/>
          <p:cNvSpPr/>
          <p:nvPr/>
        </p:nvSpPr>
        <p:spPr>
          <a:xfrm>
            <a:off x="731520" y="731520"/>
            <a:ext cx="182880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10B981"/>
                </a:solidFill>
              </a:defRPr>
            </a:pPr>
            <a:r>
              <a:t>EXECUTIVE RECOMMENDATION</a:t>
            </a:r>
          </a:p>
          <a:p>
            <a:pPr>
              <a:defRPr sz="2100" b="1">
                <a:solidFill>
                  <a:srgbClr val="FFFFFF"/>
                </a:solidFill>
              </a:defRPr>
            </a:pPr>
            <a:r>
              <a:t>Mandate Data-Driven Siting for Coripet's Rollout</a:t>
            </a:r>
          </a:p>
          <a:p>
            <a:pPr>
              <a:spcBef>
                <a:spcPts val="300"/>
              </a:spcBef>
              <a:defRPr sz="1100">
                <a:solidFill>
                  <a:srgbClr val="94A3B8"/>
                </a:solidFill>
              </a:defRPr>
            </a:pPr>
            <a:r>
              <a:t>Actionable next steps for executive leadership and capital allocation committees.</a:t>
            </a:r>
          </a:p>
        </p:txBody>
      </p:sp>
      <p:sp>
        <p:nvSpPr>
          <p:cNvPr id="4" name="Rounded Rectangle 3"/>
          <p:cNvSpPr/>
          <p:nvPr/>
        </p:nvSpPr>
        <p:spPr>
          <a:xfrm>
            <a:off x="731520" y="1828800"/>
            <a:ext cx="3474720" cy="2926080"/>
          </a:xfrm>
          <a:prstGeom prst="roundRect">
            <a:avLst/>
          </a:prstGeom>
          <a:solidFill>
            <a:srgbClr val="142742"/>
          </a:solidFill>
          <a:ln w="12700">
            <a:solidFill>
              <a:srgbClr val="233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05840" y="2103120"/>
            <a:ext cx="73152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286000"/>
            <a:ext cx="2926080" cy="2286000"/>
          </a:xfrm>
          <a:prstGeom prst="rect">
            <a:avLst/>
          </a:prstGeom>
          <a:noFill/>
        </p:spPr>
        <p:txBody>
          <a:bodyPr wrap="square">
            <a:spAutoFit/>
          </a:bodyPr>
          <a:lstStyle/>
          <a:p>
            <a:pPr>
              <a:spcAft>
                <a:spcPts val="200"/>
              </a:spcAft>
              <a:defRPr sz="850" b="1">
                <a:solidFill>
                  <a:srgbClr val="10B981"/>
                </a:solidFill>
              </a:defRPr>
            </a:pPr>
            <a:r>
              <a:t>FORMALIZE PREDICTOR IN COMMITTEE WORKFLOW</a:t>
            </a:r>
          </a:p>
          <a:p>
            <a:pPr>
              <a:spcAft>
                <a:spcPts val="800"/>
              </a:spcAft>
              <a:defRPr sz="1300" b="1">
                <a:solidFill>
                  <a:srgbClr val="FFFFFF"/>
                </a:solidFill>
              </a:defRPr>
            </a:pPr>
            <a:r>
              <a:t>1. CapEx Underwriting Mandate</a:t>
            </a:r>
          </a:p>
          <a:p>
            <a:pPr>
              <a:defRPr sz="950">
                <a:solidFill>
                  <a:srgbClr val="94A3B8"/>
                </a:solidFill>
              </a:defRPr>
            </a:pPr>
            <a:r>
              <a:t>Require every prospective retail site proposal to include a completed RVM Predictor Clearance Report before CapEx approval.</a:t>
            </a:r>
          </a:p>
        </p:txBody>
      </p:sp>
      <p:sp>
        <p:nvSpPr>
          <p:cNvPr id="7" name="Rounded Rectangle 6"/>
          <p:cNvSpPr/>
          <p:nvPr/>
        </p:nvSpPr>
        <p:spPr>
          <a:xfrm>
            <a:off x="4343400" y="1828800"/>
            <a:ext cx="3474720" cy="2926080"/>
          </a:xfrm>
          <a:prstGeom prst="roundRect">
            <a:avLst/>
          </a:prstGeom>
          <a:solidFill>
            <a:srgbClr val="142742"/>
          </a:solidFill>
          <a:ln w="12700">
            <a:solidFill>
              <a:srgbClr val="233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617720" y="2103120"/>
            <a:ext cx="73152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2286000"/>
            <a:ext cx="2926080" cy="2286000"/>
          </a:xfrm>
          <a:prstGeom prst="rect">
            <a:avLst/>
          </a:prstGeom>
          <a:noFill/>
        </p:spPr>
        <p:txBody>
          <a:bodyPr wrap="square">
            <a:spAutoFit/>
          </a:bodyPr>
          <a:lstStyle/>
          <a:p>
            <a:pPr>
              <a:spcAft>
                <a:spcPts val="200"/>
              </a:spcAft>
              <a:defRPr sz="850" b="1">
                <a:solidFill>
                  <a:srgbClr val="3B82F6"/>
                </a:solidFill>
              </a:defRPr>
            </a:pPr>
            <a:r>
              <a:t>80.3% MEDIAN ACCURACY ACROSS 17 STORES</a:t>
            </a:r>
          </a:p>
          <a:p>
            <a:pPr>
              <a:spcAft>
                <a:spcPts val="800"/>
              </a:spcAft>
              <a:defRPr sz="1300" b="1">
                <a:solidFill>
                  <a:srgbClr val="FFFFFF"/>
                </a:solidFill>
              </a:defRPr>
            </a:pPr>
            <a:r>
              <a:t>2. Proven Field Accuracy</a:t>
            </a:r>
          </a:p>
          <a:p>
            <a:pPr>
              <a:defRPr sz="950">
                <a:solidFill>
                  <a:srgbClr val="94A3B8"/>
                </a:solidFill>
              </a:defRPr>
            </a:pPr>
            <a:r>
              <a:t>Empirically validated on live production telemetry from Valle d'Aosta to Sicily, confirming robust risk mitigation.</a:t>
            </a:r>
          </a:p>
        </p:txBody>
      </p:sp>
      <p:sp>
        <p:nvSpPr>
          <p:cNvPr id="10" name="Rounded Rectangle 9"/>
          <p:cNvSpPr/>
          <p:nvPr/>
        </p:nvSpPr>
        <p:spPr>
          <a:xfrm>
            <a:off x="7955280" y="1828800"/>
            <a:ext cx="3474720" cy="2926080"/>
          </a:xfrm>
          <a:prstGeom prst="roundRect">
            <a:avLst/>
          </a:prstGeom>
          <a:solidFill>
            <a:srgbClr val="142742"/>
          </a:solidFill>
          <a:ln w="12700">
            <a:solidFill>
              <a:srgbClr val="233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0" y="2103120"/>
            <a:ext cx="731520" cy="54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2286000"/>
            <a:ext cx="2926080" cy="2286000"/>
          </a:xfrm>
          <a:prstGeom prst="rect">
            <a:avLst/>
          </a:prstGeom>
          <a:noFill/>
        </p:spPr>
        <p:txBody>
          <a:bodyPr wrap="square">
            <a:spAutoFit/>
          </a:bodyPr>
          <a:lstStyle/>
          <a:p>
            <a:pPr>
              <a:spcAft>
                <a:spcPts val="200"/>
              </a:spcAft>
              <a:defRPr sz="850" b="1">
                <a:solidFill>
                  <a:srgbClr val="8B5CF6"/>
                </a:solidFill>
              </a:defRPr>
            </a:pPr>
            <a:r>
              <a:t>FULLY BUILT SOFTWARE SUITE &amp; REGISTRIES</a:t>
            </a:r>
          </a:p>
          <a:p>
            <a:pPr>
              <a:spcAft>
                <a:spcPts val="800"/>
              </a:spcAft>
              <a:defRPr sz="1300" b="1">
                <a:solidFill>
                  <a:srgbClr val="FFFFFF"/>
                </a:solidFill>
              </a:defRPr>
            </a:pPr>
            <a:r>
              <a:t>3. Turnkey Operational Readiness</a:t>
            </a:r>
          </a:p>
          <a:p>
            <a:pPr>
              <a:defRPr sz="950">
                <a:solidFill>
                  <a:srgbClr val="94A3B8"/>
                </a:solidFill>
              </a:defRPr>
            </a:pPr>
            <a:r>
              <a:t>Immediate deployment with CLI, CSV/JSON registries, interactive dashboards, and complete technical documentation.</a:t>
            </a:r>
          </a:p>
        </p:txBody>
      </p:sp>
      <p:sp>
        <p:nvSpPr>
          <p:cNvPr id="13" name="Rounded Rectangle 12"/>
          <p:cNvSpPr/>
          <p:nvPr/>
        </p:nvSpPr>
        <p:spPr>
          <a:xfrm>
            <a:off x="731520" y="5029200"/>
            <a:ext cx="10698480" cy="1188720"/>
          </a:xfrm>
          <a:prstGeom prst="roundRect">
            <a:avLst/>
          </a:prstGeom>
          <a:solidFill>
            <a:srgbClr val="142742"/>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166360"/>
            <a:ext cx="10149840" cy="914400"/>
          </a:xfrm>
          <a:prstGeom prst="rect">
            <a:avLst/>
          </a:prstGeom>
          <a:noFill/>
        </p:spPr>
        <p:txBody>
          <a:bodyPr wrap="square">
            <a:spAutoFit/>
          </a:bodyPr>
          <a:lstStyle/>
          <a:p>
            <a:pPr>
              <a:spcAft>
                <a:spcPts val="200"/>
              </a:spcAft>
              <a:defRPr sz="1000" b="1">
                <a:solidFill>
                  <a:srgbClr val="10B981"/>
                </a:solidFill>
              </a:defRPr>
            </a:pPr>
            <a:r>
              <a:t>PROPOSED EXECUTIVE ACTION</a:t>
            </a:r>
          </a:p>
          <a:p>
            <a:pPr>
              <a:defRPr sz="1300" b="1">
                <a:solidFill>
                  <a:srgbClr val="FFFFFF"/>
                </a:solidFill>
              </a:defRPr>
            </a:pPr>
            <a:r>
              <a:t>Adopt the Coripet RVM Predictor as the official screening standard for all 2026–2027 network deployments.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